
<file path=[Content_Types].xml><?xml version="1.0" encoding="utf-8"?>
<Types xmlns="http://schemas.openxmlformats.org/package/2006/content-types">
  <Default Extension="fntdata" ContentType="application/x-fontdata"/>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20"/>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Lst>
  <p:sldSz cx="18288000" cy="10287000"/>
  <p:notesSz cx="6858000" cy="9144000"/>
  <p:embeddedFontLst>
    <p:embeddedFont>
      <p:font typeface="Arial Bold" charset="1" panose="020B0704020202020204"/>
      <p:regular r:id="rId23"/>
    </p:embeddedFont>
    <p:embeddedFont>
      <p:font typeface="Arial Italics" charset="1" panose="020B0604020202090204"/>
      <p:regular r:id="rId24"/>
    </p:embeddedFont>
    <p:embeddedFont>
      <p:font typeface="Arial" charset="1" panose="020B0604020202020204"/>
      <p:regular r:id="rId25"/>
    </p:embeddedFont>
    <p:embeddedFont>
      <p:font typeface="Aptos Bold" charset="1" panose="020B0004020202020204"/>
      <p:regular r:id="rId37"/>
    </p:embeddedFont>
    <p:embeddedFont>
      <p:font typeface="Aptos" charset="1" panose="020B0004020202020204"/>
      <p:regular r:id="rId3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esProps" Target="presProps.xml"/><Relationship Id="rId3" Type="http://schemas.openxmlformats.org/officeDocument/2006/relationships/viewProps" Target="viewProps.xml"/><Relationship Id="rId4" Type="http://schemas.openxmlformats.org/officeDocument/2006/relationships/theme" Target="theme/theme1.xml"/><Relationship Id="rId5" Type="http://schemas.openxmlformats.org/officeDocument/2006/relationships/tableStyles" Target="tableStyles.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notesMaster" Target="notesMasters/notesMaster1.xml"/><Relationship Id="rId21" Type="http://schemas.openxmlformats.org/officeDocument/2006/relationships/theme" Target="theme/theme2.xml"/><Relationship Id="rId22" Type="http://schemas.openxmlformats.org/officeDocument/2006/relationships/notesSlide" Target="notesSlides/notesSlide1.xml"/><Relationship Id="rId23" Type="http://schemas.openxmlformats.org/officeDocument/2006/relationships/font" Target="fonts/font23.fntdata"/><Relationship Id="rId24" Type="http://schemas.openxmlformats.org/officeDocument/2006/relationships/font" Target="fonts/font24.fntdata"/><Relationship Id="rId25" Type="http://schemas.openxmlformats.org/officeDocument/2006/relationships/font" Target="fonts/font25.fntdata"/><Relationship Id="rId26" Type="http://schemas.openxmlformats.org/officeDocument/2006/relationships/notesSlide" Target="notesSlides/notesSlide2.xml"/><Relationship Id="rId27" Type="http://schemas.openxmlformats.org/officeDocument/2006/relationships/notesSlide" Target="notesSlides/notesSlide3.xml"/><Relationship Id="rId28" Type="http://schemas.openxmlformats.org/officeDocument/2006/relationships/notesSlide" Target="notesSlides/notesSlide4.xml"/><Relationship Id="rId29" Type="http://schemas.openxmlformats.org/officeDocument/2006/relationships/notesSlide" Target="notesSlides/notesSlide5.xml"/><Relationship Id="rId30" Type="http://schemas.openxmlformats.org/officeDocument/2006/relationships/notesSlide" Target="notesSlides/notesSlide6.xml"/><Relationship Id="rId31" Type="http://schemas.openxmlformats.org/officeDocument/2006/relationships/notesSlide" Target="notesSlides/notesSlide7.xml"/><Relationship Id="rId32" Type="http://schemas.openxmlformats.org/officeDocument/2006/relationships/notesSlide" Target="notesSlides/notesSlide8.xml"/><Relationship Id="rId33" Type="http://schemas.openxmlformats.org/officeDocument/2006/relationships/notesSlide" Target="notesSlides/notesSlide9.xml"/><Relationship Id="rId34" Type="http://schemas.openxmlformats.org/officeDocument/2006/relationships/notesSlide" Target="notesSlides/notesSlide10.xml"/><Relationship Id="rId35" Type="http://schemas.openxmlformats.org/officeDocument/2006/relationships/notesSlide" Target="notesSlides/notesSlide11.xml"/><Relationship Id="rId36" Type="http://schemas.openxmlformats.org/officeDocument/2006/relationships/notesSlide" Target="notesSlides/notesSlide12.xml"/><Relationship Id="rId37" Type="http://schemas.openxmlformats.org/officeDocument/2006/relationships/font" Target="fonts/font37.fntdata"/><Relationship Id="rId38" Type="http://schemas.openxmlformats.org/officeDocument/2006/relationships/font" Target="fonts/font38.fntdata"/><Relationship Id="rId39" Type="http://schemas.openxmlformats.org/officeDocument/2006/relationships/notesSlide" Target="notesSlides/notesSlide13.xml"/><Relationship Id="rId40" Type="http://schemas.openxmlformats.org/officeDocument/2006/relationships/notesSlide" Target="notesSlides/not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SLIDE 1: Giới thiệu bài báo  •  20 giây</a:t>
            </a:r>
          </a:p>
          <a:p>
            <a:r>
              <a:rPr lang="en-US"/>
              <a:t/>
            </a:r>
          </a:p>
          <a:p>
            <a:r>
              <a:rPr lang="en-US"/>
              <a:t>LỜI NÓI GỢI Ý:</a:t>
            </a:r>
          </a:p>
          <a:p>
            <a:r>
              <a:rPr lang="en-US"/>
              <a:t>Dạ, em báo cáo phần dịch và phân tích bài báo của Marina Liu và cộng sự, công bố năm 2025. Bài báo nói về xây dựng mô hình quy trình quản trị an ninh mạng phân cấp và cách đánh giá hiệu suất quản trị. Phần cuối em sẽ chạy chương trình kiểm chứng bảng kết quả chính thức trong phụ lục A.</a:t>
            </a:r>
          </a:p>
          <a:p>
            <a:r>
              <a:rPr lang="en-US"/>
              <a:t/>
            </a:r>
          </a:p>
          <a:p>
            <a:r>
              <a:rPr lang="en-US"/>
              <a:t>KHI MỞ TÀI LIỆU / TRÌNH CHIẾU:</a:t>
            </a:r>
          </a:p>
          <a:p>
            <a:r>
              <a:rPr lang="en-US"/>
              <a:t>Mở trang bài báo chính thức, chỉ tên bài, nhóm tác giả, tên tạp chí và DOI.</a:t>
            </a:r>
          </a:p>
          <a:p>
            <a:r>
              <a:rPr lang="en-US"/>
              <a:t/>
            </a:r>
          </a:p>
          <a:p>
            <a:r>
              <a:rPr lang="en-US"/>
              <a:t>[Sources]</a:t>
            </a:r>
          </a:p>
          <a:p>
            <a:r>
              <a:rPr lang="en-US"/>
              <a:t>https://doi.org/10.1093/cybsec/tyaf020</a:t>
            </a:r>
          </a:p>
          <a:p>
            <a:r>
              <a:rPr lang="en-US"/>
              <a:t>[/Sources]</a:t>
            </a:r>
          </a:p>
          <a:p>
            <a:r>
              <a:rPr lang="en-US"/>
              <a:t>1</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SLIDE 2: Abstract  •  30–35 giây</a:t>
            </a:r>
          </a:p>
          <a:p>
            <a:r>
              <a:rPr lang="en-US"/>
              <a:t/>
            </a:r>
          </a:p>
          <a:p>
            <a:r>
              <a:rPr lang="en-US"/>
              <a:t>LỜI NÓI GỢI Ý:</a:t>
            </a:r>
          </a:p>
          <a:p>
            <a:r>
              <a:rPr lang="en-US"/>
              <a:t>Dạ, ở phần Tóm tắt, tác giả cho biết cách quản trị bảo mật bằng một hoặc vài tiêu chuẩn chưa đáp ứng toàn diện nhu cầu hiện đại. Nhóm nghiên cứu thực hiện Delphi ba vòng, xác định 36 quy trình ở ba cấp. Tác giả còn xây dựng công cụ CSMPA để đánh giá mức trưởng thành của quy trình và hiệu quả các biện pháp kiểm soát. Đây là kết quả chính mà em sẽ giải thích ở những phần sau.</a:t>
            </a:r>
          </a:p>
          <a:p>
            <a:r>
              <a:rPr lang="en-US"/>
              <a:t/>
            </a:r>
          </a:p>
          <a:p>
            <a:r>
              <a:rPr lang="en-US"/>
              <a:t>KHI MỞ TÀI LIỆU / TRÌNH CHIẾU:</a:t>
            </a:r>
          </a:p>
          <a:p>
            <a:r>
              <a:rPr lang="en-US"/>
              <a:t>Ở bài báo mở Abstract và chỉ câu nhắc tới three-round Delphi, 6 strategic/11 tactical/19 operational và CSMPA.</a:t>
            </a:r>
          </a:p>
          <a:p>
            <a:r>
              <a:rPr lang="en-US"/>
              <a:t/>
            </a:r>
          </a:p>
          <a:p>
            <a:r>
              <a:rPr lang="en-US"/>
              <a:t>[Sources]</a:t>
            </a:r>
          </a:p>
          <a:p>
            <a:r>
              <a:rPr lang="en-US"/>
              <a:t>https://doi.org/10.1093/cybsec/tyaf020</a:t>
            </a:r>
          </a:p>
          <a:p>
            <a:r>
              <a:rPr lang="en-US"/>
              <a:t>Bai_bao_goc.html, Abstract</a:t>
            </a:r>
          </a:p>
          <a:p>
            <a:r>
              <a:rPr lang="en-US"/>
              <a:t>[/Sources]</a:t>
            </a:r>
          </a:p>
          <a:p>
            <a:r>
              <a:rPr lang="en-US"/>
              <a:t>2</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SLIDE 3: Introduction &amp; Research background  •  35 giây</a:t>
            </a:r>
          </a:p>
          <a:p>
            <a:r>
              <a:rPr lang="en-US"/>
              <a:t/>
            </a:r>
          </a:p>
          <a:p>
            <a:r>
              <a:rPr lang="en-US"/>
              <a:t>LỜI NÓI GỢI Ý:</a:t>
            </a:r>
          </a:p>
          <a:p>
            <a:r>
              <a:rPr lang="en-US"/>
              <a:t>Dạ, phần Giới thiệu và Bối cảnh nghiên cứu cho biết các tổ chức dùng ISO 27001 để quản lý an toàn thông tin, NIST CSF để quản lý rủi ro mạng và COBIT để quản trị CNTT. Các khuôn khổ có giá trị nhưng khác cấu trúc và thuật ngữ, nên kết hợp để quản lý và đo lường toàn diện còn khó. Nghiên cứu đặt mục tiêu đưa ra mô hình phân cấp chung và đánh giá đồng thời hai mặt: mức trưởng thành quy trình và hiệu quả kiểm soát.</a:t>
            </a:r>
          </a:p>
          <a:p>
            <a:r>
              <a:rPr lang="en-US"/>
              <a:t/>
            </a:r>
          </a:p>
          <a:p>
            <a:r>
              <a:rPr lang="en-US"/>
              <a:t>KHI MỞ TÀI LIỆU / TRÌNH CHIẾU:</a:t>
            </a:r>
          </a:p>
          <a:p>
            <a:r>
              <a:rPr lang="en-US"/>
              <a:t>Mở Introduction và Research background; nếu cần chỉ Table 1 so sánh năng lực đánh giá của các tài liệu trước.</a:t>
            </a:r>
          </a:p>
          <a:p>
            <a:r>
              <a:rPr lang="en-US"/>
              <a:t/>
            </a:r>
          </a:p>
          <a:p>
            <a:r>
              <a:rPr lang="en-US"/>
              <a:t>[Sources]</a:t>
            </a:r>
          </a:p>
          <a:p>
            <a:r>
              <a:rPr lang="en-US"/>
              <a:t>https://doi.org/10.1093/cybsec/tyaf020</a:t>
            </a:r>
          </a:p>
          <a:p>
            <a:r>
              <a:rPr lang="en-US"/>
              <a:t>Bai_bao_goc.html, Introduction; Research background; Table 1</a:t>
            </a:r>
          </a:p>
          <a:p>
            <a:r>
              <a:rPr lang="en-US"/>
              <a:t>[/Sources]</a:t>
            </a:r>
          </a:p>
          <a:p>
            <a:r>
              <a:rPr lang="en-US"/>
              <a:t>3</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SLIDE 4: Phương pháp Delphi  •  45–50 giây</a:t>
            </a:r>
          </a:p>
          <a:p>
            <a:r>
              <a:rPr lang="en-US"/>
              <a:t/>
            </a:r>
          </a:p>
          <a:p>
            <a:r>
              <a:rPr lang="en-US"/>
              <a:t>LỜI NÓI GỢI Ý:</a:t>
            </a:r>
          </a:p>
          <a:p>
            <a:r>
              <a:rPr lang="en-US"/>
              <a:t>Dạ, nghiên cứu sử dụng Delphi điều chỉnh qua ba vòng. Vòng đầu tổng hợp bốn tài liệu COBIT, NIST CSF, ISM3 và ISO 27022, phỏng vấn chuyên gia, cho ra 40 quy trình ứng viên. Nghiên cứu tuyển ban đầu 12 chuyên gia. Vòng hai chuyên gia đánh giá tầm quan trọng theo thang 1 đến 5; tác giả tổng hợp chỉ số và điều chỉnh danh sách. Vòng cuối nhận 10 phản hồi, chọn quy trình khi Median ít nhất 4 và IQR không vượt 1. Median là trung vị còn IQR là khoảng tứ phân vị, thể hiện độ phân tán. Kết quả cuối cùng là 36 quy trình.</a:t>
            </a:r>
          </a:p>
          <a:p>
            <a:r>
              <a:rPr lang="en-US"/>
              <a:t/>
            </a:r>
          </a:p>
          <a:p>
            <a:r>
              <a:rPr lang="en-US"/>
              <a:t>KHI MỞ TÀI LIỆU / TRÌNH CHIẾU:</a:t>
            </a:r>
          </a:p>
          <a:p>
            <a:r>
              <a:rPr lang="en-US"/>
              <a:t>Mở Research methodology; chỉ đoạn 40 candidate, 10 responses, criteria. Lưu ý 40 xuống 36 có chỉnh sửa/gộp/tách, không đơn giản loại bốn dòng.</a:t>
            </a:r>
          </a:p>
          <a:p>
            <a:r>
              <a:rPr lang="en-US"/>
              <a:t/>
            </a:r>
          </a:p>
          <a:p>
            <a:r>
              <a:rPr lang="en-US"/>
              <a:t>[Sources]</a:t>
            </a:r>
          </a:p>
          <a:p>
            <a:r>
              <a:rPr lang="en-US"/>
              <a:t>https://doi.org/10.1093/cybsec/tyaf020</a:t>
            </a:r>
          </a:p>
          <a:p>
            <a:r>
              <a:rPr lang="en-US"/>
              <a:t>Bai_bao_goc.html, Research methodology; Table 2</a:t>
            </a:r>
          </a:p>
          <a:p>
            <a:r>
              <a:rPr lang="en-US"/>
              <a:t>[/Sources]</a:t>
            </a:r>
          </a:p>
          <a:p>
            <a:r>
              <a:rPr lang="en-US"/>
              <a:t>4</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SLIDE 5: Tiêu chí lựa chọn  •  30–35 giây</a:t>
            </a:r>
          </a:p>
          <a:p>
            <a:r>
              <a:rPr lang="en-US"/>
              <a:t/>
            </a:r>
          </a:p>
          <a:p>
            <a:r>
              <a:rPr lang="en-US"/>
              <a:t>LỜI NÓI GỢI Ý:</a:t>
            </a:r>
          </a:p>
          <a:p>
            <a:r>
              <a:rPr lang="en-US"/>
              <a:t>Dạ, tác giả dùng đồng thời hai điều kiện: Median từ 4 trở lên và IQR không quá 1. Median là trung vị của các điểm 1 đến 5, IQR đo sự tập trung của các đánh giá ở phần giữa. Ví dụ thật ở Appendix A: quy trình SP.5 Information Sharing có Mean 3,8, Median 4 và IQR 1, nên vẫn được giữ. Như vậy Mean không phải ngưỡng loại. Đây là số liệu công bố, em không tự tạo điểm Delphi.</a:t>
            </a:r>
          </a:p>
          <a:p>
            <a:r>
              <a:rPr lang="en-US"/>
              <a:t/>
            </a:r>
          </a:p>
          <a:p>
            <a:r>
              <a:rPr lang="en-US"/>
              <a:t>KHI MỞ TÀI LIỆU / TRÌNH CHIẾU:</a:t>
            </a:r>
          </a:p>
          <a:p>
            <a:r>
              <a:rPr lang="en-US"/>
              <a:t>Mở Appendix A / Table A1 ở dòng SP.5; chỉ Mean 3.8, Median 4, IQR 1.</a:t>
            </a:r>
          </a:p>
          <a:p>
            <a:r>
              <a:rPr lang="en-US"/>
              <a:t/>
            </a:r>
          </a:p>
          <a:p>
            <a:r>
              <a:rPr lang="en-US"/>
              <a:t>[Sources]</a:t>
            </a:r>
          </a:p>
          <a:p>
            <a:r>
              <a:rPr lang="en-US"/>
              <a:t>https://doi.org/10.1093/cybsec/tyaf020</a:t>
            </a:r>
          </a:p>
          <a:p>
            <a:r>
              <a:rPr lang="en-US"/>
              <a:t>Appendix_A_D_original.docx, Appendix A / Table A1, SP.5</a:t>
            </a:r>
          </a:p>
          <a:p>
            <a:r>
              <a:rPr lang="en-US"/>
              <a:t>[/Sources]</a:t>
            </a:r>
          </a:p>
          <a:p>
            <a:r>
              <a:rPr lang="en-US"/>
              <a:t>5</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SLIDE 6: Mô hình theo Hình 1  •  30–35 giây</a:t>
            </a:r>
          </a:p>
          <a:p>
            <a:r>
              <a:rPr lang="en-US"/>
              <a:t/>
            </a:r>
          </a:p>
          <a:p>
            <a:r>
              <a:rPr lang="en-US"/>
              <a:t>LỜI NÓI GỢI Ý:</a:t>
            </a:r>
          </a:p>
          <a:p>
            <a:r>
              <a:rPr lang="en-US"/>
              <a:t>Dạ, đây là Figure 1 nguyên gốc, trình bày kết quả nghiên cứu gồm 36 quy trình ở ba tầng. Strategic là nhóm chiến lược định hướng cho tổ chức; Tactical là nhóm tổ chức quản lý; Operational là nhóm triển khai công việc bảo mật hằng ngày. Số lượng tương ứng 6, 11 và 19. Đây là danh mục các quy trình quản lý, không phải số phần mềm hay thuật toán.</a:t>
            </a:r>
          </a:p>
          <a:p>
            <a:r>
              <a:rPr lang="en-US"/>
              <a:t/>
            </a:r>
          </a:p>
          <a:p>
            <a:r>
              <a:rPr lang="en-US"/>
              <a:t>KHI MỞ TÀI LIỆU / TRÌNH CHIẾU:</a:t>
            </a:r>
          </a:p>
          <a:p>
            <a:r>
              <a:rPr lang="en-US"/>
              <a:t>Chỉ lần lượt ba nhóm trên Hình 1. Có thể phóng lớn trên web chính thức nếu giảng viên muốn đọc danh sách.</a:t>
            </a:r>
          </a:p>
          <a:p>
            <a:r>
              <a:rPr lang="en-US"/>
              <a:t/>
            </a:r>
          </a:p>
          <a:p>
            <a:r>
              <a:rPr lang="en-US"/>
              <a:t>[Sources]</a:t>
            </a:r>
          </a:p>
          <a:p>
            <a:r>
              <a:rPr lang="en-US"/>
              <a:t>https://doi.org/10.1093/cybsec/tyaf020</a:t>
            </a:r>
          </a:p>
          <a:p>
            <a:r>
              <a:rPr lang="en-US"/>
              <a:t>Bai_bao_goc.html, Cybersecurity management process model / Figure 1</a:t>
            </a:r>
          </a:p>
          <a:p>
            <a:r>
              <a:rPr lang="en-US"/>
              <a:t>Figure 1 chính thức: figure_1.jpeg</a:t>
            </a:r>
          </a:p>
          <a:p>
            <a:r>
              <a:rPr lang="en-US"/>
              <a:t>[/Sources]</a:t>
            </a:r>
          </a:p>
          <a:p>
            <a:r>
              <a:rPr lang="en-US"/>
              <a:t>6</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SLIDE 7: Bảng 3  •  30 giây</a:t>
            </a:r>
          </a:p>
          <a:p>
            <a:r>
              <a:rPr lang="en-US"/>
              <a:t/>
            </a:r>
          </a:p>
          <a:p>
            <a:r>
              <a:rPr lang="en-US"/>
              <a:t>LỜI NÓI GỢI Ý:</a:t>
            </a:r>
          </a:p>
          <a:p>
            <a:r>
              <a:rPr lang="en-US"/>
              <a:t>Dạ, Bảng 3 giải thích thêm ba nhóm ưu tiên, khác với ba tầng ở Hình 1. Baseline là các quy trình thiết yếu phải có; Risk-informed là nhóm được lựa chọn tùy theo rủi ro; Enhanced là nhóm nâng cao giúp phòng vệ tốt hơn trước đe dọa phức tạp. Nhờ vậy tổ chức có thể ưu tiên theo nguồn lực. Từ Baseline trong Bảng 3 chỉ nhóm quy trình cơ bản, không phải thuật toán Python mà em tự xây dựng.</a:t>
            </a:r>
          </a:p>
          <a:p>
            <a:r>
              <a:rPr lang="en-US"/>
              <a:t/>
            </a:r>
          </a:p>
          <a:p>
            <a:r>
              <a:rPr lang="en-US"/>
              <a:t>KHI MỞ TÀI LIỆU / TRÌNH CHIẾU:</a:t>
            </a:r>
          </a:p>
          <a:p>
            <a:r>
              <a:rPr lang="en-US"/>
              <a:t>Mở Table 3 ngay sau Figure 1, chỉ ba hàng Baseline, Risk-informed, Enhanced.</a:t>
            </a:r>
          </a:p>
          <a:p>
            <a:r>
              <a:rPr lang="en-US"/>
              <a:t/>
            </a:r>
          </a:p>
          <a:p>
            <a:r>
              <a:rPr lang="en-US"/>
              <a:t>[Sources]</a:t>
            </a:r>
          </a:p>
          <a:p>
            <a:r>
              <a:rPr lang="en-US"/>
              <a:t>https://doi.org/10.1093/cybsec/tyaf020</a:t>
            </a:r>
          </a:p>
          <a:p>
            <a:r>
              <a:rPr lang="en-US"/>
              <a:t>Bai_bao_goc.html, Table 3, process categories</a:t>
            </a:r>
          </a:p>
          <a:p>
            <a:r>
              <a:rPr lang="en-US"/>
              <a:t>[/Sources]</a:t>
            </a:r>
          </a:p>
          <a:p>
            <a:r>
              <a:rPr lang="en-US"/>
              <a:t>7</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SLIDE 8: Chiến thuật &amp; vận hành  •  35 giây</a:t>
            </a:r>
          </a:p>
          <a:p>
            <a:r>
              <a:rPr lang="en-US"/>
              <a:t/>
            </a:r>
          </a:p>
          <a:p>
            <a:r>
              <a:rPr lang="en-US"/>
              <a:t>LỜI NÓI GỢI Ý:</a:t>
            </a:r>
          </a:p>
          <a:p>
            <a:r>
              <a:rPr lang="en-US"/>
              <a:t>Dạ, tác giả mô tả chiến thuật là hoạt động tổ chức và quản lý chương trình bảo mật, chẳng hạn kiểm toán an ninh mạng, chính sách bảo mật và đào tạo. Vận hành là hoạt động thường xuyên như sao lưu, gia cố hệ thống và giám sát. Phụ lục B định nghĩa chi tiết 36 quy trình; em liên hệ đề tài DT015 của mình tới OP.5, tức quản trị cấp và thu hồi quyền truy cập và rà soát phân quyền. Tuy nhiên nghiên cứu gốc không cung cấp thuật toán quét ACL Windows hay Linux.</a:t>
            </a:r>
          </a:p>
          <a:p>
            <a:r>
              <a:rPr lang="en-US"/>
              <a:t/>
            </a:r>
          </a:p>
          <a:p>
            <a:r>
              <a:rPr lang="en-US"/>
              <a:t>KHI MỞ TÀI LIỆU / TRÌNH CHIẾU:</a:t>
            </a:r>
          </a:p>
          <a:p>
            <a:r>
              <a:rPr lang="en-US"/>
              <a:t>Mở hai mục Tactical processes và Operational processes trong bài báo; Appendix B mở hàng OP.5 khi cần liên hệ DT015.</a:t>
            </a:r>
          </a:p>
          <a:p>
            <a:r>
              <a:rPr lang="en-US"/>
              <a:t/>
            </a:r>
          </a:p>
          <a:p>
            <a:r>
              <a:rPr lang="en-US"/>
              <a:t>[Sources]</a:t>
            </a:r>
          </a:p>
          <a:p>
            <a:r>
              <a:rPr lang="en-US"/>
              <a:t>https://doi.org/10.1093/cybsec/tyaf020</a:t>
            </a:r>
          </a:p>
          <a:p>
            <a:r>
              <a:rPr lang="en-US"/>
              <a:t>Bai_bao_goc.html, Tactical processes; Operational processes</a:t>
            </a:r>
          </a:p>
          <a:p>
            <a:r>
              <a:rPr lang="en-US"/>
              <a:t>Appendix_A_D_original.docx, Appendix B / Table B1, OP.5</a:t>
            </a:r>
          </a:p>
          <a:p>
            <a:r>
              <a:rPr lang="en-US"/>
              <a:t>[/Sources]</a:t>
            </a:r>
          </a:p>
          <a:p>
            <a:r>
              <a:rPr lang="en-US"/>
              <a:t>8</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SLIDE 9: CSMPA: Maturity  •  35 giây</a:t>
            </a:r>
          </a:p>
          <a:p>
            <a:r>
              <a:rPr lang="en-US"/>
              <a:t/>
            </a:r>
          </a:p>
          <a:p>
            <a:r>
              <a:rPr lang="en-US"/>
              <a:t>LỜI NÓI GỢI Ý:</a:t>
            </a:r>
          </a:p>
          <a:p>
            <a:r>
              <a:rPr lang="en-US"/>
              <a:t>Dạ, từ 36 quy trình, nhóm tác giả phát triển CSMPA — Cybersecurity Management and Performance Assessment, công cụ đánh giá quản lý và hiệu suất an ninh mạng. Ở Hình 2 là Maturity, nghĩa là mức trưởng thành của quy trình: có quy trình hay chưa, được định nghĩa và quản lý bài bản đến mức nào. Mức trưởng thành theo thang 0 đến 5; tác giả sử dụng trọng số cho mức quan trọng của từng quy trình khi tổng hợp. Đây là ảnh giao diện công cụ của tác giả, không phải ảnh phần mềm em đã chạy.</a:t>
            </a:r>
          </a:p>
          <a:p>
            <a:r>
              <a:rPr lang="en-US"/>
              <a:t/>
            </a:r>
          </a:p>
          <a:p>
            <a:r>
              <a:rPr lang="en-US"/>
              <a:t>KHI MỞ TÀI LIỆU / TRÌNH CHIẾU:</a:t>
            </a:r>
          </a:p>
          <a:p>
            <a:r>
              <a:rPr lang="en-US"/>
              <a:t>Mở mục CSMPA tool, Figure 2, Appendix D Table D1 nếu thầy hỏi định nghĩa từng mức.</a:t>
            </a:r>
          </a:p>
          <a:p>
            <a:r>
              <a:rPr lang="en-US"/>
              <a:t/>
            </a:r>
          </a:p>
          <a:p>
            <a:r>
              <a:rPr lang="en-US"/>
              <a:t>[Sources]</a:t>
            </a:r>
          </a:p>
          <a:p>
            <a:r>
              <a:rPr lang="en-US"/>
              <a:t>https://doi.org/10.1093/cybsec/tyaf020</a:t>
            </a:r>
          </a:p>
          <a:p>
            <a:r>
              <a:rPr lang="en-US"/>
              <a:t>Bai_bao_goc.html, CSMPA tool / Figure 2</a:t>
            </a:r>
          </a:p>
          <a:p>
            <a:r>
              <a:rPr lang="en-US"/>
              <a:t>Appendix_A_D_original.docx, Appendix D / Table D1</a:t>
            </a:r>
          </a:p>
          <a:p>
            <a:r>
              <a:rPr lang="en-US"/>
              <a:t>Figure 2 chính thức: figure_2.jpeg</a:t>
            </a:r>
          </a:p>
          <a:p>
            <a:r>
              <a:rPr lang="en-US"/>
              <a:t>[/Sources]</a:t>
            </a:r>
          </a:p>
          <a:p>
            <a:r>
              <a:rPr lang="en-US"/>
              <a:t>9</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SLIDE 10: CSMPA: Effectiveness  •  35 giây</a:t>
            </a:r>
          </a:p>
          <a:p>
            <a:r>
              <a:rPr lang="en-US"/>
              <a:t/>
            </a:r>
          </a:p>
          <a:p>
            <a:r>
              <a:rPr lang="en-US"/>
              <a:t>LỜI NÓI GỢI Ý:</a:t>
            </a:r>
          </a:p>
          <a:p>
            <a:r>
              <a:rPr lang="en-US"/>
              <a:t>Dạ, Hình 3 trình bày mặt thứ hai của CSMPA là Effectiveness, nghĩa là hiệu quả kiểm soát. Mỗi quy trình có các biện pháp kiểm soát, và mỗi biện pháp liên hệ tới các thuộc tính bảo mật cần bảo vệ. Tác giả đánh giá các thuộc tính rồi tổng hợp lên biện pháp, lên quy trình và toàn bộ chương trình. Nói ngắn gọn: Maturity xem quy trình được tổ chức tốt đến đâu; Effectiveness xem các biện pháp kiểm soát có đạt hiệu quả bảo vệ hay không. Em chỉ diễn giải cơ chế, chưa vận hành phần mềm CSMPA nguyên bản.</a:t>
            </a:r>
          </a:p>
          <a:p>
            <a:r>
              <a:rPr lang="en-US"/>
              <a:t/>
            </a:r>
          </a:p>
          <a:p>
            <a:r>
              <a:rPr lang="en-US"/>
              <a:t>KHI MỞ TÀI LIỆU / TRÌNH CHIẾU:</a:t>
            </a:r>
          </a:p>
          <a:p>
            <a:r>
              <a:rPr lang="en-US"/>
              <a:t>Mở Figure 3 dưới mục CSMPA tool. Chỉ Process, Control, Attribute. Nếu hỏi công thức, xem Supplementary User Guide, trang in 14–17.</a:t>
            </a:r>
          </a:p>
          <a:p>
            <a:r>
              <a:rPr lang="en-US"/>
              <a:t/>
            </a:r>
          </a:p>
          <a:p>
            <a:r>
              <a:rPr lang="en-US"/>
              <a:t>[Sources]</a:t>
            </a:r>
          </a:p>
          <a:p>
            <a:r>
              <a:rPr lang="en-US"/>
              <a:t>https://doi.org/10.1093/cybsec/tyaf020</a:t>
            </a:r>
          </a:p>
          <a:p>
            <a:r>
              <a:rPr lang="en-US"/>
              <a:t>Bai_bao_goc.html, CSMPA tool / Figure 3</a:t>
            </a:r>
          </a:p>
          <a:p>
            <a:r>
              <a:rPr lang="en-US"/>
              <a:t>CSMPA_User_Guide_original.pdf, printed pp. 14–17</a:t>
            </a:r>
          </a:p>
          <a:p>
            <a:r>
              <a:rPr lang="en-US"/>
              <a:t>Figure 3 chính thức: figure_3.jpeg</a:t>
            </a:r>
          </a:p>
          <a:p>
            <a:r>
              <a:rPr lang="en-US"/>
              <a:t>[/Sources]</a:t>
            </a:r>
          </a:p>
          <a:p>
            <a:r>
              <a:rPr lang="en-US"/>
              <a:t>10</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SLIDE 11: Thảo luận và kết luận  •  35 giây</a:t>
            </a:r>
          </a:p>
          <a:p>
            <a:r>
              <a:rPr lang="en-US"/>
              <a:t/>
            </a:r>
          </a:p>
          <a:p>
            <a:r>
              <a:rPr lang="en-US"/>
              <a:t>LỜI NÓI GỢI Ý:</a:t>
            </a:r>
          </a:p>
          <a:p>
            <a:r>
              <a:rPr lang="en-US"/>
              <a:t>Dạ, trong phần Thảo luận, tác giả nhấn mạnh ba đóng góp: xây dựng mô hình quy trình phân cấp, tổng hợp nhiều tiêu chuẩn bảo mật, và đưa ra đánh giá hai chiều bằng CSMPA. Giới hạn là mô hình tương đối rộng, có thể khó dùng trong doanh nghiệp nhỏ ít nguồn lực, chưa phù hợp riêng cho từng ngành và cần thêm nghiên cứu tình huống. Kết luận tổng hợp lại mô hình 6, 11, 19 và công cụ đánh giá mức trưởng thành, hiệu quả kiểm soát.</a:t>
            </a:r>
          </a:p>
          <a:p>
            <a:r>
              <a:rPr lang="en-US"/>
              <a:t/>
            </a:r>
          </a:p>
          <a:p>
            <a:r>
              <a:rPr lang="en-US"/>
              <a:t>KHI MỞ TÀI LIỆU / TRÌNH CHIẾU:</a:t>
            </a:r>
          </a:p>
          <a:p>
            <a:r>
              <a:rPr lang="en-US"/>
              <a:t>Mở Discussions rồi Conclusion; chỉ đoạn nêu ứng dụng cho SME và nhu cầu case studies.</a:t>
            </a:r>
          </a:p>
          <a:p>
            <a:r>
              <a:rPr lang="en-US"/>
              <a:t/>
            </a:r>
          </a:p>
          <a:p>
            <a:r>
              <a:rPr lang="en-US"/>
              <a:t>[Sources]</a:t>
            </a:r>
          </a:p>
          <a:p>
            <a:r>
              <a:rPr lang="en-US"/>
              <a:t>https://doi.org/10.1093/cybsec/tyaf020</a:t>
            </a:r>
          </a:p>
          <a:p>
            <a:r>
              <a:rPr lang="en-US"/>
              <a:t>Bai_bao_goc.html, Discussions; Conclusion</a:t>
            </a:r>
          </a:p>
          <a:p>
            <a:r>
              <a:rPr lang="en-US"/>
              <a:t>[/Sources]</a:t>
            </a:r>
          </a:p>
          <a:p>
            <a:r>
              <a:rPr lang="en-US"/>
              <a:t>11</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SLIDE 12: Dữ liệu bổ sung và Appendix A  •  40 giây</a:t>
            </a:r>
          </a:p>
          <a:p>
            <a:r>
              <a:rPr lang="en-US"/>
              <a:t/>
            </a:r>
          </a:p>
          <a:p>
            <a:r>
              <a:rPr lang="en-US"/>
              <a:t>LỜI NÓI GỢI Ý:</a:t>
            </a:r>
          </a:p>
          <a:p>
            <a:r>
              <a:rPr lang="en-US"/>
              <a:t>Dạ, phần Supplementary data cung cấp các phụ lục chính thức. Em sử dụng Appendix A, Table A1 là bảng thống kê Delphi vòng ba. Bảng ghi mã quy trình, tên, Mean, Median, Mode, độ lệch chuẩn và IQR. Em trình bày vài hàng thật như SP.5, TP.10, OP.5. Em viết Python đọc trực tiếp Table A1 từ DOCX, kiểm tra phân nhóm 6–11–19 và hai ngưỡng Median, IQR. Chương trình xuất dữ liệu CSV và báo cáo JSON. Giới hạn là bảng A1 chỉ có thống kê đã công bố cho 36 quy trình được chọn, chưa có bảng điểm gốc theo từng chuyên gia.</a:t>
            </a:r>
          </a:p>
          <a:p>
            <a:r>
              <a:rPr lang="en-US"/>
              <a:t/>
            </a:r>
          </a:p>
          <a:p>
            <a:r>
              <a:rPr lang="en-US"/>
              <a:t>KHI MỞ TÀI LIỆU / TRÌNH CHIẾU:</a:t>
            </a:r>
          </a:p>
          <a:p>
            <a:r>
              <a:rPr lang="en-US"/>
              <a:t>Mở file sources/Appendix_A_D_original.docx → Appendix A Table A1, chỉ các cột và vài quy trình; sau đó chuyển slide demo.</a:t>
            </a:r>
          </a:p>
          <a:p>
            <a:r>
              <a:rPr lang="en-US"/>
              <a:t/>
            </a:r>
          </a:p>
          <a:p>
            <a:r>
              <a:rPr lang="en-US"/>
              <a:t>[Sources]</a:t>
            </a:r>
          </a:p>
          <a:p>
            <a:r>
              <a:rPr lang="en-US"/>
              <a:t>https://doi.org/10.1093/cybsec/tyaf020</a:t>
            </a:r>
          </a:p>
          <a:p>
            <a:r>
              <a:rPr lang="en-US"/>
              <a:t>Appendix_A_D_original.docx, Appendix A / Table A1</a:t>
            </a:r>
          </a:p>
          <a:p>
            <a:r>
              <a:rPr lang="en-US"/>
              <a:t>demo/check_published_table.py</a:t>
            </a:r>
          </a:p>
          <a:p>
            <a:r>
              <a:rPr lang="en-US"/>
              <a:t>[/Sources]</a:t>
            </a:r>
          </a:p>
          <a:p>
            <a:r>
              <a:rPr lang="en-US"/>
              <a:t>12</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t>SLIDE 13 — MINH HỌA CÁCH TÍNH DELPHI (45 giây)</a:t>
            </a:r>
          </a:p>
          <a:p/>
          <a:p>
            <a:r>
              <a:t>LỜI NÓI:</a:t>
            </a:r>
          </a:p>
          <a:p>
            <a:r>
              <a:t>Dạ, ở bước này em sử dụng một bộ CSV MÔ PHỎNG gồm 10 điểm giả định cho mỗi ví dụ theo thang Likert 1 đến 5. Chương trình Python tự đọc từng điểm và tính Mean, Median, Mode, độ lệch chuẩn mẫu SD và IQR. Ví dụ đầu gồm 3, 3, 3, 3, 4, 4, 4, 4, 5, 5, cho Mean 3,8; Median 4; IQR 1 nên đạt tiêu chí. Hai ví dụ tiếp theo minh họa trường hợp bị loại vì IQR quá lớn hoặc Median quá nhỏ. Đây KHÔNG phải phiếu điểm gốc của 10 chuyên gia trong bài báo.</a:t>
            </a:r>
          </a:p>
          <a:p/>
          <a:p>
            <a:r>
              <a:t>THAO TÁC:</a:t>
            </a:r>
          </a:p>
          <a:p>
            <a:r>
              <a:t>1. Mở data/delphi_ILLUSTRATIVE_ratings.csv, chỉ 10 điểm ví dụ đầu.</a:t>
            </a:r>
          </a:p>
          <a:p>
            <a:r>
              <a:t>2. Chạy python3 demo/simulate_delphi_method.py (bằng WSL) sau khi chép hai file mô phỏng mới vào thư mục gốc.</a:t>
            </a:r>
          </a:p>
          <a:p>
            <a:r>
              <a:t>3. Chỉ đầu ra PASS và hai kết quả NOT PASS. Có thể mở results/delphi_ILLUSTRATIVE_statistics.csv.</a:t>
            </a:r>
          </a:p>
          <a:p/>
          <a:p>
            <a:r>
              <a:t>LƯU Ý:</a:t>
            </a:r>
          </a:p>
          <a:p>
            <a:r>
              <a:t>Q1, Q3 đang được tính theo phương pháp nội suy tuyến tính để minh họa; chưa xác nhận tác giả dùng quy ước này. Mode trong ví dụ đầu có hai giá trị 3 và 4, còn SP.5 của tác giả công bố Mode 4. Không nhận đây là raw data của SP.5.</a:t>
            </a:r>
          </a:p>
          <a:p/>
          <a:p>
            <a:r>
              <a:t>[Sources]</a:t>
            </a:r>
          </a:p>
          <a:p>
            <a:r>
              <a:t>Liu et al. (2025), Appendix A Table A1, DOI 10.1093/cybsec/tyaf020 (để liên hệ tiêu chí).</a:t>
            </a:r>
          </a:p>
          <a:p>
            <a:r>
              <a:t>Dữ liệu mô phỏng và chương trình minh họa do người thực hiện tự tạo, không thuộc dữ liệu nghiên cứu gốc.</a:t>
            </a:r>
          </a:p>
          <a:p>
            <a:r>
              <a:t>[/Sources]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t>SLIDE 14 — KIỂM CHỨNG BẢNG APPENDIX A CỦA TÁC GIẢ (80–90 giây)</a:t>
            </a:r>
          </a:p>
          <a:p/>
          <a:p>
            <a:r>
              <a:t>LỜI NÓI:</a:t>
            </a:r>
          </a:p>
          <a:p>
            <a:r>
              <a:t>Dạ, bước này khác với dữ liệu mô phỏng: đầu vào là Table A1 trong Appendix A chính thức của tác giả. Em chạy check_published_table.py để đọc bảng DOCX, đếm số quy trình, nhóm Strategic/Tactical/Operational và kiểm tra điều kiện Median từ 4 trở lên, IQR không quá 1. Kết quả là 36 quy trình chia 6–11–19, và 36 trên 36 hàng đã công bố đáp ứng điều kiện. Em mở published_round3.csv, tìm SP.5 rồi đối chiếu Mean 3,8, Median 4, IQR 1 với Table A1 trong Word. Đây là kiểm chứng thống kê công bố, chưa tái lập khảo sát Delphi từ điểm gốc và chưa chạy CSMPA gốc.</a:t>
            </a:r>
          </a:p>
          <a:p/>
          <a:p>
            <a:r>
              <a:t>THAO TÁC:</a:t>
            </a:r>
          </a:p>
          <a:p>
            <a:r>
              <a:t>1. Mở sources/Appendix_A_D_original.docx tại Table A1.</a:t>
            </a:r>
          </a:p>
          <a:p>
            <a:r>
              <a:t>2. Mở PowerShell tại thư mục gốc (có demo, data, sources), lấy đường dẫn WSL:</a:t>
            </a:r>
          </a:p>
          <a:p>
            <a:r>
              <a:t>   $P = (Get-Location).Path</a:t>
            </a:r>
          </a:p>
          <a:p>
            <a:r>
              <a:t>   $L = (wsl wslpath -a "$P").Trim()</a:t>
            </a:r>
          </a:p>
          <a:p>
            <a:r>
              <a:t>3. Chạy:</a:t>
            </a:r>
          </a:p>
          <a:p>
            <a:r>
              <a:t>   wsl bash -c "cd '$L' &amp;&amp; python3 demo/check_published_table.py"</a:t>
            </a:r>
          </a:p>
          <a:p>
            <a:r>
              <a:t>4. So bảng CSV với Word:</a:t>
            </a:r>
          </a:p>
          <a:p>
            <a:r>
              <a:t>   Import-Csv .\data\published_round3.csv | Where-Object { $_.process_id -in 'SP.5','TP.10','OP.5' } | Format-Table process_id,name,mean,median,iqr,tier -AutoSize</a:t>
            </a:r>
          </a:p>
          <a:p/>
          <a:p>
            <a:r>
              <a:t>GIẢI THÍCH PHẢN BIỆN:</a:t>
            </a:r>
          </a:p>
          <a:p>
            <a:r>
              <a:t>Deterministic checks 3/3 là đọc lại bảng ba lần để kiểm tra tính nhất quán, không phải tái lập ba vòng Delphi.</a:t>
            </a:r>
          </a:p>
          <a:p/>
          <a:p>
            <a:r>
              <a:t>[Sources]</a:t>
            </a:r>
          </a:p>
          <a:p>
            <a:r>
              <a:t>Liu et al. (2025), Appendix A Table A1, DOI 10.1093/cybsec/tyaf020.</a:t>
            </a:r>
          </a:p>
          <a:p>
            <a:r>
              <a:t>Code demo/check_published_table.py và dữ liệu đầu ra trong gói DT015 người dùng cung cấp.</a:t>
            </a:r>
          </a:p>
          <a:p>
            <a:r>
              <a:t>[/Sources]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1.jpe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1.jpe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1.jpe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1.jpe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1.jpeg"/><Relationship Id="rId4" Type="http://schemas.openxmlformats.org/officeDocument/2006/relationships/image" Target="../media/image2.jpe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1.jpe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1.jpe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1.jpeg"/><Relationship Id="rId4" Type="http://schemas.openxmlformats.org/officeDocument/2006/relationships/image" Target="../media/image3.jpe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1.jpeg"/><Relationship Id="rId4" Type="http://schemas.openxmlformats.org/officeDocument/2006/relationships/image" Target="../media/image4.jpe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1.jpe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1.jpe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1.jpe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1.jpeg"/></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0D2339"/>
        </a:solidFill>
      </p:bgPr>
    </p:bg>
    <p:spTree>
      <p:nvGrpSpPr>
        <p:cNvPr id="1" name=""/>
        <p:cNvGrpSpPr/>
        <p:nvPr/>
      </p:nvGrpSpPr>
      <p:grpSpPr>
        <a:xfrm>
          <a:off x="0" y="0"/>
          <a:ext cx="0" cy="0"/>
          <a:chOff x="0" y="0"/>
          <a:chExt cx="0" cy="0"/>
        </a:xfrm>
      </p:grpSpPr>
      <p:grpSp>
        <p:nvGrpSpPr>
          <p:cNvPr name="Group 2" id="2"/>
          <p:cNvGrpSpPr/>
          <p:nvPr/>
        </p:nvGrpSpPr>
        <p:grpSpPr>
          <a:xfrm rot="0">
            <a:off x="-9525" y="-9525"/>
            <a:ext cx="238506" cy="10306050"/>
            <a:chOff x="0" y="0"/>
            <a:chExt cx="318008" cy="13741400"/>
          </a:xfrm>
        </p:grpSpPr>
        <p:sp>
          <p:nvSpPr>
            <p:cNvPr name="Freeform 3" id="3"/>
            <p:cNvSpPr/>
            <p:nvPr/>
          </p:nvSpPr>
          <p:spPr>
            <a:xfrm flipH="false" flipV="false" rot="0">
              <a:off x="0" y="0"/>
              <a:ext cx="318008" cy="13741400"/>
            </a:xfrm>
            <a:custGeom>
              <a:avLst/>
              <a:gdLst/>
              <a:ahLst/>
              <a:cxnLst/>
              <a:rect r="r" b="b" t="t" l="l"/>
              <a:pathLst>
                <a:path h="13741400" w="318008">
                  <a:moveTo>
                    <a:pt x="0" y="0"/>
                  </a:moveTo>
                  <a:lnTo>
                    <a:pt x="318008" y="0"/>
                  </a:lnTo>
                  <a:lnTo>
                    <a:pt x="318008" y="13741400"/>
                  </a:lnTo>
                  <a:lnTo>
                    <a:pt x="0" y="13741400"/>
                  </a:lnTo>
                  <a:close/>
                </a:path>
              </a:pathLst>
            </a:custGeom>
            <a:solidFill>
              <a:srgbClr val="5CC6B3"/>
            </a:solidFill>
          </p:spPr>
        </p:sp>
      </p:grpSp>
      <p:grpSp>
        <p:nvGrpSpPr>
          <p:cNvPr name="Group 4" id="4"/>
          <p:cNvGrpSpPr/>
          <p:nvPr/>
        </p:nvGrpSpPr>
        <p:grpSpPr>
          <a:xfrm rot="0">
            <a:off x="13130403" y="717423"/>
            <a:ext cx="4805934" cy="4805934"/>
            <a:chOff x="0" y="0"/>
            <a:chExt cx="6407912" cy="6407912"/>
          </a:xfrm>
        </p:grpSpPr>
        <p:sp>
          <p:nvSpPr>
            <p:cNvPr name="Freeform 5" id="5"/>
            <p:cNvSpPr/>
            <p:nvPr/>
          </p:nvSpPr>
          <p:spPr>
            <a:xfrm flipH="false" flipV="false" rot="0">
              <a:off x="0" y="0"/>
              <a:ext cx="6407912" cy="6407912"/>
            </a:xfrm>
            <a:custGeom>
              <a:avLst/>
              <a:gdLst/>
              <a:ahLst/>
              <a:cxnLst/>
              <a:rect r="r" b="b" t="t" l="l"/>
              <a:pathLst>
                <a:path h="6407912" w="6407912">
                  <a:moveTo>
                    <a:pt x="0" y="3203956"/>
                  </a:moveTo>
                  <a:cubicBezTo>
                    <a:pt x="0" y="1434465"/>
                    <a:pt x="1434465" y="0"/>
                    <a:pt x="3203956" y="0"/>
                  </a:cubicBezTo>
                  <a:cubicBezTo>
                    <a:pt x="4973447" y="0"/>
                    <a:pt x="6407912" y="1434465"/>
                    <a:pt x="6407912" y="3203956"/>
                  </a:cubicBezTo>
                  <a:cubicBezTo>
                    <a:pt x="6407912" y="4973447"/>
                    <a:pt x="4973447" y="6407912"/>
                    <a:pt x="3203956" y="6407912"/>
                  </a:cubicBezTo>
                  <a:cubicBezTo>
                    <a:pt x="1434465" y="6407912"/>
                    <a:pt x="0" y="4973447"/>
                    <a:pt x="0" y="3203956"/>
                  </a:cubicBezTo>
                  <a:close/>
                </a:path>
              </a:pathLst>
            </a:custGeom>
            <a:solidFill>
              <a:srgbClr val="246A78">
                <a:alpha val="20000"/>
              </a:srgbClr>
            </a:solidFill>
          </p:spPr>
        </p:sp>
      </p:grpSp>
      <p:grpSp>
        <p:nvGrpSpPr>
          <p:cNvPr name="Group 6" id="6"/>
          <p:cNvGrpSpPr/>
          <p:nvPr/>
        </p:nvGrpSpPr>
        <p:grpSpPr>
          <a:xfrm rot="0">
            <a:off x="14460855" y="6094095"/>
            <a:ext cx="3653790" cy="3653790"/>
            <a:chOff x="0" y="0"/>
            <a:chExt cx="4871720" cy="4871720"/>
          </a:xfrm>
        </p:grpSpPr>
        <p:sp>
          <p:nvSpPr>
            <p:cNvPr name="Freeform 7" id="7"/>
            <p:cNvSpPr/>
            <p:nvPr/>
          </p:nvSpPr>
          <p:spPr>
            <a:xfrm flipH="false" flipV="false" rot="0">
              <a:off x="0" y="0"/>
              <a:ext cx="4871720" cy="4871720"/>
            </a:xfrm>
            <a:custGeom>
              <a:avLst/>
              <a:gdLst/>
              <a:ahLst/>
              <a:cxnLst/>
              <a:rect r="r" b="b" t="t" l="l"/>
              <a:pathLst>
                <a:path h="4871720" w="4871720">
                  <a:moveTo>
                    <a:pt x="0" y="2435860"/>
                  </a:moveTo>
                  <a:cubicBezTo>
                    <a:pt x="0" y="1090549"/>
                    <a:pt x="1090549" y="0"/>
                    <a:pt x="2435860" y="0"/>
                  </a:cubicBezTo>
                  <a:cubicBezTo>
                    <a:pt x="3781171" y="0"/>
                    <a:pt x="4871720" y="1090549"/>
                    <a:pt x="4871720" y="2435860"/>
                  </a:cubicBezTo>
                  <a:cubicBezTo>
                    <a:pt x="4871720" y="3781171"/>
                    <a:pt x="3781171" y="4871720"/>
                    <a:pt x="2435860" y="4871720"/>
                  </a:cubicBezTo>
                  <a:cubicBezTo>
                    <a:pt x="1090549" y="4871720"/>
                    <a:pt x="0" y="3781171"/>
                    <a:pt x="0" y="2435860"/>
                  </a:cubicBezTo>
                  <a:close/>
                </a:path>
              </a:pathLst>
            </a:custGeom>
            <a:solidFill>
              <a:srgbClr val="297D8C">
                <a:alpha val="9412"/>
              </a:srgbClr>
            </a:solidFill>
          </p:spPr>
        </p:sp>
      </p:grpSp>
      <p:grpSp>
        <p:nvGrpSpPr>
          <p:cNvPr name="Group 8" id="8"/>
          <p:cNvGrpSpPr/>
          <p:nvPr/>
        </p:nvGrpSpPr>
        <p:grpSpPr>
          <a:xfrm rot="0">
            <a:off x="1103376" y="1021080"/>
            <a:ext cx="7311147" cy="633700"/>
            <a:chOff x="0" y="0"/>
            <a:chExt cx="9748197" cy="844933"/>
          </a:xfrm>
        </p:grpSpPr>
        <p:sp>
          <p:nvSpPr>
            <p:cNvPr name="Freeform 9" id="9"/>
            <p:cNvSpPr/>
            <p:nvPr/>
          </p:nvSpPr>
          <p:spPr>
            <a:xfrm flipH="false" flipV="false" rot="0">
              <a:off x="0" y="0"/>
              <a:ext cx="9748196" cy="844933"/>
            </a:xfrm>
            <a:custGeom>
              <a:avLst/>
              <a:gdLst/>
              <a:ahLst/>
              <a:cxnLst/>
              <a:rect r="r" b="b" t="t" l="l"/>
              <a:pathLst>
                <a:path h="844933" w="9748196">
                  <a:moveTo>
                    <a:pt x="0" y="298133"/>
                  </a:moveTo>
                  <a:cubicBezTo>
                    <a:pt x="0" y="133525"/>
                    <a:pt x="176697" y="0"/>
                    <a:pt x="394528" y="0"/>
                  </a:cubicBezTo>
                  <a:lnTo>
                    <a:pt x="9353669" y="0"/>
                  </a:lnTo>
                  <a:cubicBezTo>
                    <a:pt x="9571720" y="0"/>
                    <a:pt x="9748196" y="133525"/>
                    <a:pt x="9748196" y="298133"/>
                  </a:cubicBezTo>
                  <a:lnTo>
                    <a:pt x="9748196" y="546800"/>
                  </a:lnTo>
                  <a:cubicBezTo>
                    <a:pt x="9748196" y="711576"/>
                    <a:pt x="9571499" y="844933"/>
                    <a:pt x="9353669" y="844933"/>
                  </a:cubicBezTo>
                  <a:lnTo>
                    <a:pt x="394528" y="844933"/>
                  </a:lnTo>
                  <a:cubicBezTo>
                    <a:pt x="176697" y="844933"/>
                    <a:pt x="0" y="711408"/>
                    <a:pt x="0" y="546800"/>
                  </a:cubicBezTo>
                  <a:close/>
                </a:path>
              </a:pathLst>
            </a:custGeom>
            <a:solidFill>
              <a:srgbClr val="1D4859"/>
            </a:solidFill>
            <a:ln w="15240" cap="sq">
              <a:solidFill>
                <a:srgbClr val="1D4859"/>
              </a:solidFill>
              <a:prstDash val="solid"/>
              <a:miter/>
            </a:ln>
          </p:spPr>
        </p:sp>
      </p:grpSp>
      <p:grpSp>
        <p:nvGrpSpPr>
          <p:cNvPr name="Group 10" id="10"/>
          <p:cNvGrpSpPr/>
          <p:nvPr/>
        </p:nvGrpSpPr>
        <p:grpSpPr>
          <a:xfrm rot="0">
            <a:off x="1234440" y="1166025"/>
            <a:ext cx="8336155" cy="370332"/>
            <a:chOff x="0" y="0"/>
            <a:chExt cx="11114873" cy="493776"/>
          </a:xfrm>
        </p:grpSpPr>
        <p:sp>
          <p:nvSpPr>
            <p:cNvPr name="Freeform 11" id="11"/>
            <p:cNvSpPr/>
            <p:nvPr/>
          </p:nvSpPr>
          <p:spPr>
            <a:xfrm flipH="false" flipV="false" rot="0">
              <a:off x="0" y="0"/>
              <a:ext cx="11114873" cy="493776"/>
            </a:xfrm>
            <a:custGeom>
              <a:avLst/>
              <a:gdLst/>
              <a:ahLst/>
              <a:cxnLst/>
              <a:rect r="r" b="b" t="t" l="l"/>
              <a:pathLst>
                <a:path h="493776" w="11114873">
                  <a:moveTo>
                    <a:pt x="0" y="0"/>
                  </a:moveTo>
                  <a:lnTo>
                    <a:pt x="11114873" y="0"/>
                  </a:lnTo>
                  <a:lnTo>
                    <a:pt x="11114873" y="493776"/>
                  </a:lnTo>
                  <a:lnTo>
                    <a:pt x="0" y="493776"/>
                  </a:lnTo>
                  <a:close/>
                </a:path>
              </a:pathLst>
            </a:custGeom>
            <a:blipFill>
              <a:blip r:embed="rId3">
                <a:alphaModFix amt="0"/>
              </a:blip>
              <a:stretch>
                <a:fillRect l="0" t="-157118" r="52778" b="-157118"/>
              </a:stretch>
            </a:blipFill>
          </p:spPr>
        </p:sp>
        <p:sp>
          <p:nvSpPr>
            <p:cNvPr name="TextBox 12" id="12"/>
            <p:cNvSpPr txBox="true"/>
            <p:nvPr/>
          </p:nvSpPr>
          <p:spPr>
            <a:xfrm>
              <a:off x="0" y="-9525"/>
              <a:ext cx="11114873" cy="503301"/>
            </a:xfrm>
            <a:prstGeom prst="rect">
              <a:avLst/>
            </a:prstGeom>
          </p:spPr>
          <p:txBody>
            <a:bodyPr anchor="ctr" rtlCol="false" tIns="0" lIns="0" bIns="0" rIns="0"/>
            <a:lstStyle/>
            <a:p>
              <a:pPr algn="l">
                <a:lnSpc>
                  <a:spcPts val="1889"/>
                </a:lnSpc>
              </a:pPr>
              <a:r>
                <a:rPr lang="en-US" sz="1575" b="true">
                  <a:solidFill>
                    <a:srgbClr val="C8F3EB"/>
                  </a:solidFill>
                  <a:latin typeface="Arial Bold"/>
                  <a:ea typeface="Arial Bold"/>
                  <a:cs typeface="Arial Bold"/>
                  <a:sym typeface="Arial Bold"/>
                </a:rPr>
                <a:t>BÁO CÁO GIỮA KỲ | AN TOÀN &amp; BẢO MẬT HỆ THỐNG THÔNG TIN MẠNG</a:t>
              </a:r>
            </a:p>
          </p:txBody>
        </p:sp>
      </p:grpSp>
      <p:grpSp>
        <p:nvGrpSpPr>
          <p:cNvPr name="Group 13" id="13"/>
          <p:cNvGrpSpPr/>
          <p:nvPr/>
        </p:nvGrpSpPr>
        <p:grpSpPr>
          <a:xfrm rot="0">
            <a:off x="1138428" y="2071116"/>
            <a:ext cx="15704820" cy="987326"/>
            <a:chOff x="0" y="0"/>
            <a:chExt cx="20939760" cy="1316434"/>
          </a:xfrm>
        </p:grpSpPr>
        <p:sp>
          <p:nvSpPr>
            <p:cNvPr name="Freeform 14" id="14"/>
            <p:cNvSpPr/>
            <p:nvPr/>
          </p:nvSpPr>
          <p:spPr>
            <a:xfrm flipH="false" flipV="false" rot="0">
              <a:off x="0" y="0"/>
              <a:ext cx="20939761" cy="1316434"/>
            </a:xfrm>
            <a:custGeom>
              <a:avLst/>
              <a:gdLst/>
              <a:ahLst/>
              <a:cxnLst/>
              <a:rect r="r" b="b" t="t" l="l"/>
              <a:pathLst>
                <a:path h="1316434" w="20939761">
                  <a:moveTo>
                    <a:pt x="0" y="0"/>
                  </a:moveTo>
                  <a:lnTo>
                    <a:pt x="20939761" y="0"/>
                  </a:lnTo>
                  <a:lnTo>
                    <a:pt x="20939761" y="1316434"/>
                  </a:lnTo>
                  <a:lnTo>
                    <a:pt x="0" y="1316434"/>
                  </a:lnTo>
                  <a:close/>
                </a:path>
              </a:pathLst>
            </a:custGeom>
            <a:blipFill>
              <a:blip r:embed="rId3">
                <a:alphaModFix amt="0"/>
              </a:blip>
              <a:stretch>
                <a:fillRect l="0" t="-261314" r="0" b="-258559"/>
              </a:stretch>
            </a:blipFill>
          </p:spPr>
        </p:sp>
        <p:sp>
          <p:nvSpPr>
            <p:cNvPr name="TextBox 15" id="15"/>
            <p:cNvSpPr txBox="true"/>
            <p:nvPr/>
          </p:nvSpPr>
          <p:spPr>
            <a:xfrm>
              <a:off x="0" y="-19050"/>
              <a:ext cx="20939760" cy="1335484"/>
            </a:xfrm>
            <a:prstGeom prst="rect">
              <a:avLst/>
            </a:prstGeom>
          </p:spPr>
          <p:txBody>
            <a:bodyPr anchor="ctr" rtlCol="false" tIns="0" lIns="0" bIns="0" rIns="0"/>
            <a:lstStyle/>
            <a:p>
              <a:pPr algn="l">
                <a:lnSpc>
                  <a:spcPts val="5759"/>
                </a:lnSpc>
              </a:pPr>
              <a:r>
                <a:rPr lang="en-US" sz="4800" b="true">
                  <a:solidFill>
                    <a:srgbClr val="FFFFFF"/>
                  </a:solidFill>
                  <a:latin typeface="Arial Bold"/>
                  <a:ea typeface="Arial Bold"/>
                  <a:cs typeface="Arial Bold"/>
                  <a:sym typeface="Arial Bold"/>
                </a:rPr>
                <a:t>DỊCH - PHÂN TÍCH &amp; KHỞI CHẠY</a:t>
              </a:r>
            </a:p>
          </p:txBody>
        </p:sp>
      </p:grpSp>
      <p:grpSp>
        <p:nvGrpSpPr>
          <p:cNvPr name="Group 16" id="16"/>
          <p:cNvGrpSpPr/>
          <p:nvPr/>
        </p:nvGrpSpPr>
        <p:grpSpPr>
          <a:xfrm rot="0">
            <a:off x="1138428" y="3003804"/>
            <a:ext cx="15704820" cy="960120"/>
            <a:chOff x="0" y="0"/>
            <a:chExt cx="20939760" cy="1280160"/>
          </a:xfrm>
        </p:grpSpPr>
        <p:sp>
          <p:nvSpPr>
            <p:cNvPr name="Freeform 17" id="17"/>
            <p:cNvSpPr/>
            <p:nvPr/>
          </p:nvSpPr>
          <p:spPr>
            <a:xfrm flipH="false" flipV="false" rot="0">
              <a:off x="0" y="0"/>
              <a:ext cx="20939761" cy="1280160"/>
            </a:xfrm>
            <a:custGeom>
              <a:avLst/>
              <a:gdLst/>
              <a:ahLst/>
              <a:cxnLst/>
              <a:rect r="r" b="b" t="t" l="l"/>
              <a:pathLst>
                <a:path h="1280160" w="20939761">
                  <a:moveTo>
                    <a:pt x="0" y="0"/>
                  </a:moveTo>
                  <a:lnTo>
                    <a:pt x="20939761" y="0"/>
                  </a:lnTo>
                  <a:lnTo>
                    <a:pt x="20939761" y="1280160"/>
                  </a:lnTo>
                  <a:lnTo>
                    <a:pt x="0" y="1280160"/>
                  </a:lnTo>
                  <a:close/>
                </a:path>
              </a:pathLst>
            </a:custGeom>
            <a:blipFill>
              <a:blip r:embed="rId3">
                <a:alphaModFix amt="0"/>
              </a:blip>
              <a:stretch>
                <a:fillRect l="0" t="-268719" r="0" b="-268719"/>
              </a:stretch>
            </a:blipFill>
          </p:spPr>
        </p:sp>
        <p:sp>
          <p:nvSpPr>
            <p:cNvPr name="TextBox 18" id="18"/>
            <p:cNvSpPr txBox="true"/>
            <p:nvPr/>
          </p:nvSpPr>
          <p:spPr>
            <a:xfrm>
              <a:off x="0" y="-19050"/>
              <a:ext cx="20939760" cy="1299210"/>
            </a:xfrm>
            <a:prstGeom prst="rect">
              <a:avLst/>
            </a:prstGeom>
          </p:spPr>
          <p:txBody>
            <a:bodyPr anchor="ctr" rtlCol="false" tIns="0" lIns="0" bIns="0" rIns="0"/>
            <a:lstStyle/>
            <a:p>
              <a:pPr algn="l">
                <a:lnSpc>
                  <a:spcPts val="5759"/>
                </a:lnSpc>
              </a:pPr>
              <a:r>
                <a:rPr lang="en-US" sz="4800" b="true">
                  <a:solidFill>
                    <a:srgbClr val="79D7CC"/>
                  </a:solidFill>
                  <a:latin typeface="Arial Bold"/>
                  <a:ea typeface="Arial Bold"/>
                  <a:cs typeface="Arial Bold"/>
                  <a:sym typeface="Arial Bold"/>
                </a:rPr>
                <a:t>BÀI BÁO KHOA HỌC</a:t>
              </a:r>
            </a:p>
          </p:txBody>
        </p:sp>
      </p:grpSp>
      <p:grpSp>
        <p:nvGrpSpPr>
          <p:cNvPr name="Group 19" id="19"/>
          <p:cNvGrpSpPr/>
          <p:nvPr/>
        </p:nvGrpSpPr>
        <p:grpSpPr>
          <a:xfrm rot="0">
            <a:off x="1165860" y="4526280"/>
            <a:ext cx="15773400" cy="557752"/>
            <a:chOff x="0" y="0"/>
            <a:chExt cx="21031200" cy="743669"/>
          </a:xfrm>
        </p:grpSpPr>
        <p:sp>
          <p:nvSpPr>
            <p:cNvPr name="Freeform 20" id="20"/>
            <p:cNvSpPr/>
            <p:nvPr/>
          </p:nvSpPr>
          <p:spPr>
            <a:xfrm flipH="false" flipV="false" rot="0">
              <a:off x="0" y="0"/>
              <a:ext cx="21031200" cy="743669"/>
            </a:xfrm>
            <a:custGeom>
              <a:avLst/>
              <a:gdLst/>
              <a:ahLst/>
              <a:cxnLst/>
              <a:rect r="r" b="b" t="t" l="l"/>
              <a:pathLst>
                <a:path h="743669" w="21031200">
                  <a:moveTo>
                    <a:pt x="0" y="0"/>
                  </a:moveTo>
                  <a:lnTo>
                    <a:pt x="21031200" y="0"/>
                  </a:lnTo>
                  <a:lnTo>
                    <a:pt x="21031200" y="743669"/>
                  </a:lnTo>
                  <a:lnTo>
                    <a:pt x="0" y="743669"/>
                  </a:lnTo>
                  <a:close/>
                </a:path>
              </a:pathLst>
            </a:custGeom>
            <a:blipFill>
              <a:blip r:embed="rId3">
                <a:alphaModFix amt="0"/>
              </a:blip>
              <a:stretch>
                <a:fillRect l="0" t="-501859" r="0" b="-500226"/>
              </a:stretch>
            </a:blipFill>
          </p:spPr>
        </p:sp>
        <p:sp>
          <p:nvSpPr>
            <p:cNvPr name="TextBox 21" id="21"/>
            <p:cNvSpPr txBox="true"/>
            <p:nvPr/>
          </p:nvSpPr>
          <p:spPr>
            <a:xfrm>
              <a:off x="0" y="-19050"/>
              <a:ext cx="21031200" cy="762719"/>
            </a:xfrm>
            <a:prstGeom prst="rect">
              <a:avLst/>
            </a:prstGeom>
          </p:spPr>
          <p:txBody>
            <a:bodyPr anchor="ctr" rtlCol="false" tIns="0" lIns="0" bIns="0" rIns="0"/>
            <a:lstStyle/>
            <a:p>
              <a:pPr algn="l">
                <a:lnSpc>
                  <a:spcPts val="3240"/>
                </a:lnSpc>
              </a:pPr>
              <a:r>
                <a:rPr lang="en-US" sz="2700" i="true">
                  <a:solidFill>
                    <a:srgbClr val="FFFFFF"/>
                  </a:solidFill>
                  <a:latin typeface="Arial Italics"/>
                  <a:ea typeface="Arial Italics"/>
                  <a:cs typeface="Arial Italics"/>
                  <a:sym typeface="Arial Italics"/>
                </a:rPr>
                <a:t>ĐỀ TÀI: DT015</a:t>
              </a:r>
            </a:p>
          </p:txBody>
        </p:sp>
      </p:grpSp>
      <p:grpSp>
        <p:nvGrpSpPr>
          <p:cNvPr name="Group 22" id="22"/>
          <p:cNvGrpSpPr/>
          <p:nvPr/>
        </p:nvGrpSpPr>
        <p:grpSpPr>
          <a:xfrm rot="0">
            <a:off x="1165860" y="5129784"/>
            <a:ext cx="15773400" cy="617220"/>
            <a:chOff x="0" y="0"/>
            <a:chExt cx="21031200" cy="822960"/>
          </a:xfrm>
        </p:grpSpPr>
        <p:sp>
          <p:nvSpPr>
            <p:cNvPr name="Freeform 23" id="23"/>
            <p:cNvSpPr/>
            <p:nvPr/>
          </p:nvSpPr>
          <p:spPr>
            <a:xfrm flipH="false" flipV="false" rot="0">
              <a:off x="0" y="0"/>
              <a:ext cx="21031200" cy="822960"/>
            </a:xfrm>
            <a:custGeom>
              <a:avLst/>
              <a:gdLst/>
              <a:ahLst/>
              <a:cxnLst/>
              <a:rect r="r" b="b" t="t" l="l"/>
              <a:pathLst>
                <a:path h="822960" w="21031200">
                  <a:moveTo>
                    <a:pt x="0" y="0"/>
                  </a:moveTo>
                  <a:lnTo>
                    <a:pt x="21031200" y="0"/>
                  </a:lnTo>
                  <a:lnTo>
                    <a:pt x="21031200" y="822960"/>
                  </a:lnTo>
                  <a:lnTo>
                    <a:pt x="0" y="822960"/>
                  </a:lnTo>
                  <a:close/>
                </a:path>
              </a:pathLst>
            </a:custGeom>
            <a:blipFill>
              <a:blip r:embed="rId3">
                <a:alphaModFix amt="0"/>
              </a:blip>
              <a:stretch>
                <a:fillRect l="0" t="-447950" r="0" b="-447950"/>
              </a:stretch>
            </a:blipFill>
          </p:spPr>
        </p:sp>
        <p:sp>
          <p:nvSpPr>
            <p:cNvPr name="TextBox 24" id="24"/>
            <p:cNvSpPr txBox="true"/>
            <p:nvPr/>
          </p:nvSpPr>
          <p:spPr>
            <a:xfrm>
              <a:off x="0" y="-19050"/>
              <a:ext cx="21031200" cy="842010"/>
            </a:xfrm>
            <a:prstGeom prst="rect">
              <a:avLst/>
            </a:prstGeom>
          </p:spPr>
          <p:txBody>
            <a:bodyPr anchor="ctr" rtlCol="false" tIns="0" lIns="0" bIns="0" rIns="0"/>
            <a:lstStyle/>
            <a:p>
              <a:pPr algn="l">
                <a:lnSpc>
                  <a:spcPts val="3240"/>
                </a:lnSpc>
              </a:pPr>
              <a:r>
                <a:rPr lang="en-US" sz="2700" i="true">
                  <a:solidFill>
                    <a:srgbClr val="FFFFFF"/>
                  </a:solidFill>
                  <a:latin typeface="Arial Italics"/>
                  <a:ea typeface="Arial Italics"/>
                  <a:cs typeface="Arial Italics"/>
                  <a:sym typeface="Arial Italics"/>
                </a:rPr>
                <a:t>K</a:t>
              </a:r>
              <a:r>
                <a:rPr lang="en-US" sz="2700" i="true">
                  <a:solidFill>
                    <a:srgbClr val="FFFFFF"/>
                  </a:solidFill>
                  <a:latin typeface="Arial Italics"/>
                  <a:ea typeface="Arial Italics"/>
                  <a:cs typeface="Arial Italics"/>
                  <a:sym typeface="Arial Italics"/>
                </a:rPr>
                <a:t>iểm toán quyền dư thừa trong Linux và Windows</a:t>
              </a:r>
            </a:p>
          </p:txBody>
        </p:sp>
      </p:grpSp>
      <p:grpSp>
        <p:nvGrpSpPr>
          <p:cNvPr name="Group 25" id="25"/>
          <p:cNvGrpSpPr/>
          <p:nvPr/>
        </p:nvGrpSpPr>
        <p:grpSpPr>
          <a:xfrm rot="0">
            <a:off x="1183767" y="6066663"/>
            <a:ext cx="11951970" cy="42367"/>
            <a:chOff x="0" y="0"/>
            <a:chExt cx="15935960" cy="56490"/>
          </a:xfrm>
        </p:grpSpPr>
        <p:sp>
          <p:nvSpPr>
            <p:cNvPr name="Freeform 26" id="26"/>
            <p:cNvSpPr/>
            <p:nvPr/>
          </p:nvSpPr>
          <p:spPr>
            <a:xfrm flipH="false" flipV="false" rot="0">
              <a:off x="0" y="0"/>
              <a:ext cx="15935961" cy="56515"/>
            </a:xfrm>
            <a:custGeom>
              <a:avLst/>
              <a:gdLst/>
              <a:ahLst/>
              <a:cxnLst/>
              <a:rect r="r" b="b" t="t" l="l"/>
              <a:pathLst>
                <a:path h="56515" w="15935961">
                  <a:moveTo>
                    <a:pt x="0" y="0"/>
                  </a:moveTo>
                  <a:lnTo>
                    <a:pt x="15935961" y="0"/>
                  </a:lnTo>
                  <a:lnTo>
                    <a:pt x="15935961" y="56515"/>
                  </a:lnTo>
                  <a:lnTo>
                    <a:pt x="0" y="56515"/>
                  </a:lnTo>
                  <a:close/>
                </a:path>
              </a:pathLst>
            </a:custGeom>
            <a:solidFill>
              <a:srgbClr val="5B8394"/>
            </a:solidFill>
          </p:spPr>
        </p:sp>
      </p:grpSp>
      <p:grpSp>
        <p:nvGrpSpPr>
          <p:cNvPr name="Group 27" id="27"/>
          <p:cNvGrpSpPr/>
          <p:nvPr/>
        </p:nvGrpSpPr>
        <p:grpSpPr>
          <a:xfrm rot="0">
            <a:off x="1179576" y="6377940"/>
            <a:ext cx="15636240" cy="918972"/>
            <a:chOff x="0" y="0"/>
            <a:chExt cx="20848320" cy="1225296"/>
          </a:xfrm>
        </p:grpSpPr>
        <p:sp>
          <p:nvSpPr>
            <p:cNvPr name="Freeform 28" id="28"/>
            <p:cNvSpPr/>
            <p:nvPr/>
          </p:nvSpPr>
          <p:spPr>
            <a:xfrm flipH="false" flipV="false" rot="0">
              <a:off x="0" y="0"/>
              <a:ext cx="20848320" cy="1225296"/>
            </a:xfrm>
            <a:custGeom>
              <a:avLst/>
              <a:gdLst/>
              <a:ahLst/>
              <a:cxnLst/>
              <a:rect r="r" b="b" t="t" l="l"/>
              <a:pathLst>
                <a:path h="1225296" w="20848320">
                  <a:moveTo>
                    <a:pt x="0" y="0"/>
                  </a:moveTo>
                  <a:lnTo>
                    <a:pt x="20848320" y="0"/>
                  </a:lnTo>
                  <a:lnTo>
                    <a:pt x="20848320" y="1225296"/>
                  </a:lnTo>
                  <a:lnTo>
                    <a:pt x="0" y="1225296"/>
                  </a:lnTo>
                  <a:close/>
                </a:path>
              </a:pathLst>
            </a:custGeom>
            <a:blipFill>
              <a:blip r:embed="rId3">
                <a:alphaModFix amt="0"/>
              </a:blip>
              <a:stretch>
                <a:fillRect l="0" t="-281536" r="0" b="-281536"/>
              </a:stretch>
            </a:blipFill>
          </p:spPr>
        </p:sp>
        <p:sp>
          <p:nvSpPr>
            <p:cNvPr name="TextBox 29" id="29"/>
            <p:cNvSpPr txBox="true"/>
            <p:nvPr/>
          </p:nvSpPr>
          <p:spPr>
            <a:xfrm>
              <a:off x="0" y="-9525"/>
              <a:ext cx="20848320" cy="1234821"/>
            </a:xfrm>
            <a:prstGeom prst="rect">
              <a:avLst/>
            </a:prstGeom>
          </p:spPr>
          <p:txBody>
            <a:bodyPr anchor="ctr" rtlCol="false" tIns="0" lIns="0" bIns="0" rIns="0"/>
            <a:lstStyle/>
            <a:p>
              <a:pPr algn="l">
                <a:lnSpc>
                  <a:spcPts val="3060"/>
                </a:lnSpc>
              </a:pPr>
              <a:r>
                <a:rPr lang="en-US" sz="2550">
                  <a:solidFill>
                    <a:srgbClr val="BFD9E0"/>
                  </a:solidFill>
                  <a:latin typeface="Arial"/>
                  <a:ea typeface="Arial"/>
                  <a:cs typeface="Arial"/>
                  <a:sym typeface="Arial"/>
                </a:rPr>
                <a:t>Quản trị an ninh mạng hiệu quả bằng mô hình quy trình phân cấp và đánh giá hiệu suất</a:t>
              </a:r>
            </a:p>
          </p:txBody>
        </p:sp>
      </p:grpSp>
      <p:grpSp>
        <p:nvGrpSpPr>
          <p:cNvPr name="Group 30" id="30"/>
          <p:cNvGrpSpPr/>
          <p:nvPr/>
        </p:nvGrpSpPr>
        <p:grpSpPr>
          <a:xfrm rot="0">
            <a:off x="1179576" y="7818120"/>
            <a:ext cx="15910560" cy="452628"/>
            <a:chOff x="0" y="0"/>
            <a:chExt cx="21214080" cy="603504"/>
          </a:xfrm>
        </p:grpSpPr>
        <p:sp>
          <p:nvSpPr>
            <p:cNvPr name="Freeform 31" id="31"/>
            <p:cNvSpPr/>
            <p:nvPr/>
          </p:nvSpPr>
          <p:spPr>
            <a:xfrm flipH="false" flipV="false" rot="0">
              <a:off x="0" y="0"/>
              <a:ext cx="21214080" cy="603504"/>
            </a:xfrm>
            <a:custGeom>
              <a:avLst/>
              <a:gdLst/>
              <a:ahLst/>
              <a:cxnLst/>
              <a:rect r="r" b="b" t="t" l="l"/>
              <a:pathLst>
                <a:path h="603504" w="21214080">
                  <a:moveTo>
                    <a:pt x="0" y="0"/>
                  </a:moveTo>
                  <a:lnTo>
                    <a:pt x="21214080" y="0"/>
                  </a:lnTo>
                  <a:lnTo>
                    <a:pt x="21214080" y="603504"/>
                  </a:lnTo>
                  <a:lnTo>
                    <a:pt x="0" y="603504"/>
                  </a:lnTo>
                  <a:close/>
                </a:path>
              </a:pathLst>
            </a:custGeom>
            <a:blipFill>
              <a:blip r:embed="rId3">
                <a:alphaModFix amt="0"/>
              </a:blip>
              <a:stretch>
                <a:fillRect l="0" t="-634928" r="0" b="-634928"/>
              </a:stretch>
            </a:blipFill>
          </p:spPr>
        </p:sp>
        <p:sp>
          <p:nvSpPr>
            <p:cNvPr name="TextBox 32" id="32"/>
            <p:cNvSpPr txBox="true"/>
            <p:nvPr/>
          </p:nvSpPr>
          <p:spPr>
            <a:xfrm>
              <a:off x="0" y="-19050"/>
              <a:ext cx="21214080" cy="622554"/>
            </a:xfrm>
            <a:prstGeom prst="rect">
              <a:avLst/>
            </a:prstGeom>
          </p:spPr>
          <p:txBody>
            <a:bodyPr anchor="ctr" rtlCol="false" tIns="0" lIns="0" bIns="0" rIns="0"/>
            <a:lstStyle/>
            <a:p>
              <a:pPr algn="l">
                <a:lnSpc>
                  <a:spcPts val="2160"/>
                </a:lnSpc>
              </a:pPr>
              <a:r>
                <a:rPr lang="en-US" sz="1800">
                  <a:solidFill>
                    <a:srgbClr val="CCE3EB"/>
                  </a:solidFill>
                  <a:latin typeface="Arial"/>
                  <a:ea typeface="Arial"/>
                  <a:cs typeface="Arial"/>
                  <a:sym typeface="Arial"/>
                </a:rPr>
                <a:t>Marina Liu, Malcolm Shore, William Yeoh, Frank Jiang, Sherali Zeadally</a:t>
              </a:r>
            </a:p>
          </p:txBody>
        </p:sp>
      </p:grpSp>
      <p:grpSp>
        <p:nvGrpSpPr>
          <p:cNvPr name="Group 33" id="33"/>
          <p:cNvGrpSpPr/>
          <p:nvPr/>
        </p:nvGrpSpPr>
        <p:grpSpPr>
          <a:xfrm rot="0">
            <a:off x="1179576" y="8380476"/>
            <a:ext cx="16184880" cy="521208"/>
            <a:chOff x="0" y="0"/>
            <a:chExt cx="21579840" cy="694944"/>
          </a:xfrm>
        </p:grpSpPr>
        <p:sp>
          <p:nvSpPr>
            <p:cNvPr name="Freeform 34" id="34"/>
            <p:cNvSpPr/>
            <p:nvPr/>
          </p:nvSpPr>
          <p:spPr>
            <a:xfrm flipH="false" flipV="false" rot="0">
              <a:off x="0" y="0"/>
              <a:ext cx="21579839" cy="694944"/>
            </a:xfrm>
            <a:custGeom>
              <a:avLst/>
              <a:gdLst/>
              <a:ahLst/>
              <a:cxnLst/>
              <a:rect r="r" b="b" t="t" l="l"/>
              <a:pathLst>
                <a:path h="694944" w="21579839">
                  <a:moveTo>
                    <a:pt x="0" y="0"/>
                  </a:moveTo>
                  <a:lnTo>
                    <a:pt x="21579839" y="0"/>
                  </a:lnTo>
                  <a:lnTo>
                    <a:pt x="21579839" y="694944"/>
                  </a:lnTo>
                  <a:lnTo>
                    <a:pt x="0" y="694944"/>
                  </a:lnTo>
                  <a:close/>
                </a:path>
              </a:pathLst>
            </a:custGeom>
            <a:blipFill>
              <a:blip r:embed="rId3">
                <a:alphaModFix amt="0"/>
              </a:blip>
              <a:stretch>
                <a:fillRect l="0" t="-555061" r="0" b="-555061"/>
              </a:stretch>
            </a:blipFill>
          </p:spPr>
        </p:sp>
        <p:sp>
          <p:nvSpPr>
            <p:cNvPr name="TextBox 35" id="35"/>
            <p:cNvSpPr txBox="true"/>
            <p:nvPr/>
          </p:nvSpPr>
          <p:spPr>
            <a:xfrm>
              <a:off x="0" y="-19050"/>
              <a:ext cx="21579840" cy="713994"/>
            </a:xfrm>
            <a:prstGeom prst="rect">
              <a:avLst/>
            </a:prstGeom>
          </p:spPr>
          <p:txBody>
            <a:bodyPr anchor="ctr" rtlCol="false" tIns="0" lIns="0" bIns="0" rIns="0"/>
            <a:lstStyle/>
            <a:p>
              <a:pPr algn="l">
                <a:lnSpc>
                  <a:spcPts val="2070"/>
                </a:lnSpc>
              </a:pPr>
              <a:r>
                <a:rPr lang="en-US" sz="1725">
                  <a:solidFill>
                    <a:srgbClr val="98C4CF"/>
                  </a:solidFill>
                  <a:latin typeface="Arial"/>
                  <a:ea typeface="Arial"/>
                  <a:cs typeface="Arial"/>
                  <a:sym typeface="Arial"/>
                </a:rPr>
                <a:t>Journal of Cybersecurity 11(1), tyaf020 (2025)  •  DOI: 10.1093/cybsec/tyaf020</a:t>
              </a:r>
            </a:p>
          </p:txBody>
        </p:sp>
      </p:grpSp>
      <p:grpSp>
        <p:nvGrpSpPr>
          <p:cNvPr name="Group 36" id="36"/>
          <p:cNvGrpSpPr/>
          <p:nvPr/>
        </p:nvGrpSpPr>
        <p:grpSpPr>
          <a:xfrm rot="0">
            <a:off x="1179576" y="9134856"/>
            <a:ext cx="15773400" cy="480060"/>
            <a:chOff x="0" y="0"/>
            <a:chExt cx="21031200" cy="640080"/>
          </a:xfrm>
        </p:grpSpPr>
        <p:sp>
          <p:nvSpPr>
            <p:cNvPr name="Freeform 37" id="37"/>
            <p:cNvSpPr/>
            <p:nvPr/>
          </p:nvSpPr>
          <p:spPr>
            <a:xfrm flipH="false" flipV="false" rot="0">
              <a:off x="0" y="0"/>
              <a:ext cx="21031200" cy="640080"/>
            </a:xfrm>
            <a:custGeom>
              <a:avLst/>
              <a:gdLst/>
              <a:ahLst/>
              <a:cxnLst/>
              <a:rect r="r" b="b" t="t" l="l"/>
              <a:pathLst>
                <a:path h="640080" w="21031200">
                  <a:moveTo>
                    <a:pt x="0" y="0"/>
                  </a:moveTo>
                  <a:lnTo>
                    <a:pt x="21031200" y="0"/>
                  </a:lnTo>
                  <a:lnTo>
                    <a:pt x="21031200" y="640080"/>
                  </a:lnTo>
                  <a:lnTo>
                    <a:pt x="0" y="640080"/>
                  </a:lnTo>
                  <a:close/>
                </a:path>
              </a:pathLst>
            </a:custGeom>
            <a:blipFill>
              <a:blip r:embed="rId3">
                <a:alphaModFix amt="0"/>
              </a:blip>
              <a:stretch>
                <a:fillRect l="0" t="-590222" r="0" b="-590222"/>
              </a:stretch>
            </a:blipFill>
          </p:spPr>
        </p:sp>
        <p:sp>
          <p:nvSpPr>
            <p:cNvPr name="TextBox 38" id="38"/>
            <p:cNvSpPr txBox="true"/>
            <p:nvPr/>
          </p:nvSpPr>
          <p:spPr>
            <a:xfrm>
              <a:off x="0" y="-19050"/>
              <a:ext cx="21031200" cy="659130"/>
            </a:xfrm>
            <a:prstGeom prst="rect">
              <a:avLst/>
            </a:prstGeom>
          </p:spPr>
          <p:txBody>
            <a:bodyPr anchor="ctr" rtlCol="false" tIns="0" lIns="0" bIns="0" rIns="0"/>
            <a:lstStyle/>
            <a:p>
              <a:pPr algn="l">
                <a:lnSpc>
                  <a:spcPts val="2088"/>
                </a:lnSpc>
              </a:pPr>
              <a:r>
                <a:rPr lang="en-US" sz="1739" b="true">
                  <a:solidFill>
                    <a:srgbClr val="B9EFE4"/>
                  </a:solidFill>
                  <a:latin typeface="Arial Bold"/>
                  <a:ea typeface="Arial Bold"/>
                  <a:cs typeface="Arial Bold"/>
                  <a:sym typeface="Arial Bold"/>
                </a:rPr>
                <a:t>Trọng tâm: Nghiên cứu gốc → kết quả công bố → demo Appendix A</a:t>
              </a:r>
            </a:p>
          </p:txBody>
        </p:sp>
      </p:gr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5F8FB"/>
        </a:solidFill>
      </p:bgPr>
    </p:bg>
    <p:spTree>
      <p:nvGrpSpPr>
        <p:cNvPr id="1" name=""/>
        <p:cNvGrpSpPr/>
        <p:nvPr/>
      </p:nvGrpSpPr>
      <p:grpSpPr>
        <a:xfrm>
          <a:off x="0" y="0"/>
          <a:ext cx="0" cy="0"/>
          <a:chOff x="0" y="0"/>
          <a:chExt cx="0" cy="0"/>
        </a:xfrm>
      </p:grpSpPr>
      <p:grpSp>
        <p:nvGrpSpPr>
          <p:cNvPr name="Group 2" id="2"/>
          <p:cNvGrpSpPr/>
          <p:nvPr/>
        </p:nvGrpSpPr>
        <p:grpSpPr>
          <a:xfrm rot="0">
            <a:off x="-9525" y="-9525"/>
            <a:ext cx="163068" cy="10306050"/>
            <a:chOff x="0" y="0"/>
            <a:chExt cx="217424" cy="13741400"/>
          </a:xfrm>
        </p:grpSpPr>
        <p:sp>
          <p:nvSpPr>
            <p:cNvPr name="Freeform 3" id="3"/>
            <p:cNvSpPr/>
            <p:nvPr/>
          </p:nvSpPr>
          <p:spPr>
            <a:xfrm flipH="false" flipV="false" rot="0">
              <a:off x="0" y="0"/>
              <a:ext cx="217424" cy="13741400"/>
            </a:xfrm>
            <a:custGeom>
              <a:avLst/>
              <a:gdLst/>
              <a:ahLst/>
              <a:cxnLst/>
              <a:rect r="r" b="b" t="t" l="l"/>
              <a:pathLst>
                <a:path h="13741400" w="217424">
                  <a:moveTo>
                    <a:pt x="0" y="0"/>
                  </a:moveTo>
                  <a:lnTo>
                    <a:pt x="217424" y="0"/>
                  </a:lnTo>
                  <a:lnTo>
                    <a:pt x="217424" y="13741400"/>
                  </a:lnTo>
                  <a:lnTo>
                    <a:pt x="0" y="13741400"/>
                  </a:lnTo>
                  <a:close/>
                </a:path>
              </a:pathLst>
            </a:custGeom>
            <a:solidFill>
              <a:srgbClr val="137E82"/>
            </a:solidFill>
          </p:spPr>
        </p:sp>
      </p:grpSp>
      <p:grpSp>
        <p:nvGrpSpPr>
          <p:cNvPr name="Group 4" id="4"/>
          <p:cNvGrpSpPr/>
          <p:nvPr/>
        </p:nvGrpSpPr>
        <p:grpSpPr>
          <a:xfrm rot="0">
            <a:off x="987552" y="329184"/>
            <a:ext cx="15087600" cy="342900"/>
            <a:chOff x="0" y="0"/>
            <a:chExt cx="20116800" cy="457200"/>
          </a:xfrm>
        </p:grpSpPr>
        <p:sp>
          <p:nvSpPr>
            <p:cNvPr name="Freeform 5" id="5"/>
            <p:cNvSpPr/>
            <p:nvPr/>
          </p:nvSpPr>
          <p:spPr>
            <a:xfrm flipH="false" flipV="false" rot="0">
              <a:off x="0" y="0"/>
              <a:ext cx="20116800" cy="457200"/>
            </a:xfrm>
            <a:custGeom>
              <a:avLst/>
              <a:gdLst/>
              <a:ahLst/>
              <a:cxnLst/>
              <a:rect r="r" b="b" t="t" l="l"/>
              <a:pathLst>
                <a:path h="457200" w="20116800">
                  <a:moveTo>
                    <a:pt x="0" y="0"/>
                  </a:moveTo>
                  <a:lnTo>
                    <a:pt x="20116800" y="0"/>
                  </a:lnTo>
                  <a:lnTo>
                    <a:pt x="20116800" y="457200"/>
                  </a:lnTo>
                  <a:lnTo>
                    <a:pt x="0" y="457200"/>
                  </a:lnTo>
                  <a:close/>
                </a:path>
              </a:pathLst>
            </a:custGeom>
            <a:blipFill>
              <a:blip r:embed="rId3">
                <a:alphaModFix amt="0"/>
              </a:blip>
              <a:stretch>
                <a:fillRect l="0" t="-807341" r="0" b="-807341"/>
              </a:stretch>
            </a:blipFill>
          </p:spPr>
        </p:sp>
        <p:sp>
          <p:nvSpPr>
            <p:cNvPr name="TextBox 6" id="6"/>
            <p:cNvSpPr txBox="true"/>
            <p:nvPr/>
          </p:nvSpPr>
          <p:spPr>
            <a:xfrm>
              <a:off x="0" y="-9525"/>
              <a:ext cx="20116800" cy="466725"/>
            </a:xfrm>
            <a:prstGeom prst="rect">
              <a:avLst/>
            </a:prstGeom>
          </p:spPr>
          <p:txBody>
            <a:bodyPr anchor="ctr" rtlCol="false" tIns="0" lIns="0" bIns="0" rIns="0"/>
            <a:lstStyle/>
            <a:p>
              <a:pPr algn="l">
                <a:lnSpc>
                  <a:spcPts val="1745"/>
                </a:lnSpc>
              </a:pPr>
              <a:r>
                <a:rPr lang="en-US" b="true" sz="1455" spc="239">
                  <a:solidFill>
                    <a:srgbClr val="137E82"/>
                  </a:solidFill>
                  <a:latin typeface="Arial Bold"/>
                  <a:ea typeface="Arial Bold"/>
                  <a:cs typeface="Arial Bold"/>
                  <a:sym typeface="Arial Bold"/>
                </a:rPr>
                <a:t>ABSTRACT — DỊCH Ý CHÍNH</a:t>
              </a:r>
            </a:p>
          </p:txBody>
        </p:sp>
      </p:grpSp>
      <p:grpSp>
        <p:nvGrpSpPr>
          <p:cNvPr name="Group 7" id="7"/>
          <p:cNvGrpSpPr/>
          <p:nvPr/>
        </p:nvGrpSpPr>
        <p:grpSpPr>
          <a:xfrm rot="0">
            <a:off x="987552" y="946404"/>
            <a:ext cx="16459200" cy="781812"/>
            <a:chOff x="0" y="0"/>
            <a:chExt cx="21945600" cy="1042416"/>
          </a:xfrm>
        </p:grpSpPr>
        <p:sp>
          <p:nvSpPr>
            <p:cNvPr name="Freeform 8" id="8"/>
            <p:cNvSpPr/>
            <p:nvPr/>
          </p:nvSpPr>
          <p:spPr>
            <a:xfrm flipH="false" flipV="false" rot="0">
              <a:off x="0" y="0"/>
              <a:ext cx="21945600" cy="1042416"/>
            </a:xfrm>
            <a:custGeom>
              <a:avLst/>
              <a:gdLst/>
              <a:ahLst/>
              <a:cxnLst/>
              <a:rect r="r" b="b" t="t" l="l"/>
              <a:pathLst>
                <a:path h="1042416" w="21945600">
                  <a:moveTo>
                    <a:pt x="0" y="0"/>
                  </a:moveTo>
                  <a:lnTo>
                    <a:pt x="21945600" y="0"/>
                  </a:lnTo>
                  <a:lnTo>
                    <a:pt x="21945600" y="1042416"/>
                  </a:lnTo>
                  <a:lnTo>
                    <a:pt x="0" y="1042416"/>
                  </a:lnTo>
                  <a:close/>
                </a:path>
              </a:pathLst>
            </a:custGeom>
            <a:blipFill>
              <a:blip r:embed="rId3">
                <a:alphaModFix amt="0"/>
              </a:blip>
              <a:stretch>
                <a:fillRect l="0" t="-360211" r="0" b="-360211"/>
              </a:stretch>
            </a:blipFill>
          </p:spPr>
        </p:sp>
        <p:sp>
          <p:nvSpPr>
            <p:cNvPr name="TextBox 9" id="9"/>
            <p:cNvSpPr txBox="true"/>
            <p:nvPr/>
          </p:nvSpPr>
          <p:spPr>
            <a:xfrm>
              <a:off x="0" y="-28575"/>
              <a:ext cx="21945600" cy="1070991"/>
            </a:xfrm>
            <a:prstGeom prst="rect">
              <a:avLst/>
            </a:prstGeom>
          </p:spPr>
          <p:txBody>
            <a:bodyPr anchor="ctr" rtlCol="false" tIns="0" lIns="0" bIns="0" rIns="0"/>
            <a:lstStyle/>
            <a:p>
              <a:pPr algn="l">
                <a:lnSpc>
                  <a:spcPts val="4410"/>
                </a:lnSpc>
              </a:pPr>
              <a:r>
                <a:rPr lang="en-US" sz="3675" b="true">
                  <a:solidFill>
                    <a:srgbClr val="12304C"/>
                  </a:solidFill>
                  <a:latin typeface="Arial Bold"/>
                  <a:ea typeface="Arial Bold"/>
                  <a:cs typeface="Arial Bold"/>
                  <a:sym typeface="Arial Bold"/>
                </a:rPr>
                <a:t>Abstract | Tóm tắt nghiên cứu</a:t>
              </a:r>
            </a:p>
          </p:txBody>
        </p:sp>
      </p:grpSp>
      <p:grpSp>
        <p:nvGrpSpPr>
          <p:cNvPr name="Group 10" id="10"/>
          <p:cNvGrpSpPr/>
          <p:nvPr/>
        </p:nvGrpSpPr>
        <p:grpSpPr>
          <a:xfrm rot="0">
            <a:off x="1014984" y="1796796"/>
            <a:ext cx="16322040" cy="480060"/>
            <a:chOff x="0" y="0"/>
            <a:chExt cx="21762720" cy="640080"/>
          </a:xfrm>
        </p:grpSpPr>
        <p:sp>
          <p:nvSpPr>
            <p:cNvPr name="Freeform 11" id="11"/>
            <p:cNvSpPr/>
            <p:nvPr/>
          </p:nvSpPr>
          <p:spPr>
            <a:xfrm flipH="false" flipV="false" rot="0">
              <a:off x="0" y="0"/>
              <a:ext cx="21762720" cy="640080"/>
            </a:xfrm>
            <a:custGeom>
              <a:avLst/>
              <a:gdLst/>
              <a:ahLst/>
              <a:cxnLst/>
              <a:rect r="r" b="b" t="t" l="l"/>
              <a:pathLst>
                <a:path h="640080" w="21762720">
                  <a:moveTo>
                    <a:pt x="0" y="0"/>
                  </a:moveTo>
                  <a:lnTo>
                    <a:pt x="21762720" y="0"/>
                  </a:lnTo>
                  <a:lnTo>
                    <a:pt x="21762720" y="640080"/>
                  </a:lnTo>
                  <a:lnTo>
                    <a:pt x="0" y="640080"/>
                  </a:lnTo>
                  <a:close/>
                </a:path>
              </a:pathLst>
            </a:custGeom>
            <a:blipFill>
              <a:blip r:embed="rId3">
                <a:alphaModFix amt="0"/>
              </a:blip>
              <a:stretch>
                <a:fillRect l="0" t="-612491" r="0" b="-612491"/>
              </a:stretch>
            </a:blipFill>
          </p:spPr>
        </p:sp>
        <p:sp>
          <p:nvSpPr>
            <p:cNvPr name="TextBox 12" id="12"/>
            <p:cNvSpPr txBox="true"/>
            <p:nvPr/>
          </p:nvSpPr>
          <p:spPr>
            <a:xfrm>
              <a:off x="0" y="-19050"/>
              <a:ext cx="21762720" cy="659130"/>
            </a:xfrm>
            <a:prstGeom prst="rect">
              <a:avLst/>
            </a:prstGeom>
          </p:spPr>
          <p:txBody>
            <a:bodyPr anchor="ctr" rtlCol="false" tIns="0" lIns="0" bIns="0" rIns="0"/>
            <a:lstStyle/>
            <a:p>
              <a:pPr algn="l">
                <a:lnSpc>
                  <a:spcPts val="2322"/>
                </a:lnSpc>
              </a:pPr>
              <a:r>
                <a:rPr lang="en-US" sz="1935">
                  <a:solidFill>
                    <a:srgbClr val="50677D"/>
                  </a:solidFill>
                  <a:latin typeface="Arial"/>
                  <a:ea typeface="Arial"/>
                  <a:cs typeface="Arial"/>
                  <a:sym typeface="Arial"/>
                </a:rPr>
                <a:t>Bài báo nghiên cứu điều gì, sử dụng cách nào, kết quả ra sao?</a:t>
              </a:r>
            </a:p>
          </p:txBody>
        </p:sp>
      </p:grpSp>
      <p:sp>
        <p:nvSpPr>
          <p:cNvPr name="AutoShape 13" id="13"/>
          <p:cNvSpPr/>
          <p:nvPr/>
        </p:nvSpPr>
        <p:spPr>
          <a:xfrm rot="4020">
            <a:off x="991733" y="9692450"/>
            <a:ext cx="16272520" cy="0"/>
          </a:xfrm>
          <a:prstGeom prst="line">
            <a:avLst/>
          </a:prstGeom>
          <a:ln cap="rnd" w="9525">
            <a:solidFill>
              <a:srgbClr val="DEE7EE"/>
            </a:solidFill>
            <a:prstDash val="solid"/>
            <a:headEnd type="none" len="sm" w="sm"/>
            <a:tailEnd type="none" len="sm" w="sm"/>
          </a:ln>
        </p:spPr>
      </p:sp>
      <p:grpSp>
        <p:nvGrpSpPr>
          <p:cNvPr name="Group 14" id="14"/>
          <p:cNvGrpSpPr/>
          <p:nvPr/>
        </p:nvGrpSpPr>
        <p:grpSpPr>
          <a:xfrm rot="0">
            <a:off x="1014984" y="9779508"/>
            <a:ext cx="14703552" cy="274320"/>
            <a:chOff x="0" y="0"/>
            <a:chExt cx="19604736" cy="365760"/>
          </a:xfrm>
        </p:grpSpPr>
        <p:sp>
          <p:nvSpPr>
            <p:cNvPr name="Freeform 15" id="15"/>
            <p:cNvSpPr/>
            <p:nvPr/>
          </p:nvSpPr>
          <p:spPr>
            <a:xfrm flipH="false" flipV="false" rot="0">
              <a:off x="0" y="0"/>
              <a:ext cx="19604737" cy="365760"/>
            </a:xfrm>
            <a:custGeom>
              <a:avLst/>
              <a:gdLst/>
              <a:ahLst/>
              <a:cxnLst/>
              <a:rect r="r" b="b" t="t" l="l"/>
              <a:pathLst>
                <a:path h="365760" w="19604737">
                  <a:moveTo>
                    <a:pt x="0" y="0"/>
                  </a:moveTo>
                  <a:lnTo>
                    <a:pt x="19604737" y="0"/>
                  </a:lnTo>
                  <a:lnTo>
                    <a:pt x="19604737" y="365760"/>
                  </a:lnTo>
                  <a:lnTo>
                    <a:pt x="0" y="365760"/>
                  </a:lnTo>
                  <a:close/>
                </a:path>
              </a:pathLst>
            </a:custGeom>
            <a:blipFill>
              <a:blip r:embed="rId3">
                <a:alphaModFix amt="0"/>
              </a:blip>
              <a:stretch>
                <a:fillRect l="0" t="-994398" r="0" b="-994398"/>
              </a:stretch>
            </a:blipFill>
          </p:spPr>
        </p:sp>
        <p:sp>
          <p:nvSpPr>
            <p:cNvPr name="TextBox 16" id="16"/>
            <p:cNvSpPr txBox="true"/>
            <p:nvPr/>
          </p:nvSpPr>
          <p:spPr>
            <a:xfrm>
              <a:off x="0" y="-9525"/>
              <a:ext cx="19604736" cy="375285"/>
            </a:xfrm>
            <a:prstGeom prst="rect">
              <a:avLst/>
            </a:prstGeom>
          </p:spPr>
          <p:txBody>
            <a:bodyPr anchor="ctr" rtlCol="false" tIns="0" lIns="0" bIns="0" rIns="0"/>
            <a:lstStyle/>
            <a:p>
              <a:pPr algn="l">
                <a:lnSpc>
                  <a:spcPts val="1494"/>
                </a:lnSpc>
              </a:pPr>
              <a:r>
                <a:rPr lang="en-US" sz="1245">
                  <a:solidFill>
                    <a:srgbClr val="50677D"/>
                  </a:solidFill>
                  <a:latin typeface="Arial"/>
                  <a:ea typeface="Arial"/>
                  <a:cs typeface="Arial"/>
                  <a:sym typeface="Arial"/>
                </a:rPr>
                <a:t>Liu và cộng sự (2025)  |  doi.org/10.1093/cybsec/tyaf020</a:t>
              </a:r>
            </a:p>
          </p:txBody>
        </p:sp>
      </p:grpSp>
      <p:grpSp>
        <p:nvGrpSpPr>
          <p:cNvPr name="Group 17" id="17"/>
          <p:cNvGrpSpPr/>
          <p:nvPr/>
        </p:nvGrpSpPr>
        <p:grpSpPr>
          <a:xfrm rot="0">
            <a:off x="16184880" y="9779508"/>
            <a:ext cx="1001268" cy="274320"/>
            <a:chOff x="0" y="0"/>
            <a:chExt cx="1335024" cy="365760"/>
          </a:xfrm>
        </p:grpSpPr>
        <p:sp>
          <p:nvSpPr>
            <p:cNvPr name="Freeform 18" id="18"/>
            <p:cNvSpPr/>
            <p:nvPr/>
          </p:nvSpPr>
          <p:spPr>
            <a:xfrm flipH="false" flipV="false" rot="0">
              <a:off x="0" y="0"/>
              <a:ext cx="1335024" cy="365760"/>
            </a:xfrm>
            <a:custGeom>
              <a:avLst/>
              <a:gdLst/>
              <a:ahLst/>
              <a:cxnLst/>
              <a:rect r="r" b="b" t="t" l="l"/>
              <a:pathLst>
                <a:path h="365760" w="1335024">
                  <a:moveTo>
                    <a:pt x="0" y="0"/>
                  </a:moveTo>
                  <a:lnTo>
                    <a:pt x="1335024" y="0"/>
                  </a:lnTo>
                  <a:lnTo>
                    <a:pt x="1335024" y="365760"/>
                  </a:lnTo>
                  <a:lnTo>
                    <a:pt x="0" y="365760"/>
                  </a:lnTo>
                  <a:close/>
                </a:path>
              </a:pathLst>
            </a:custGeom>
            <a:blipFill>
              <a:blip r:embed="rId3">
                <a:alphaModFix amt="0"/>
              </a:blip>
              <a:stretch>
                <a:fillRect l="0" t="-21120" r="0" b="-21120"/>
              </a:stretch>
            </a:blipFill>
          </p:spPr>
        </p:sp>
        <p:sp>
          <p:nvSpPr>
            <p:cNvPr name="TextBox 19" id="19"/>
            <p:cNvSpPr txBox="true"/>
            <p:nvPr/>
          </p:nvSpPr>
          <p:spPr>
            <a:xfrm>
              <a:off x="0" y="-9525"/>
              <a:ext cx="1335024" cy="375285"/>
            </a:xfrm>
            <a:prstGeom prst="rect">
              <a:avLst/>
            </a:prstGeom>
          </p:spPr>
          <p:txBody>
            <a:bodyPr anchor="ctr" rtlCol="false" tIns="0" lIns="0" bIns="0" rIns="0"/>
            <a:lstStyle/>
            <a:p>
              <a:pPr algn="r">
                <a:lnSpc>
                  <a:spcPts val="1494"/>
                </a:lnSpc>
              </a:pPr>
              <a:r>
                <a:rPr lang="en-US" sz="1245">
                  <a:solidFill>
                    <a:srgbClr val="50677D"/>
                  </a:solidFill>
                  <a:latin typeface="Arial"/>
                  <a:ea typeface="Arial"/>
                  <a:cs typeface="Arial"/>
                  <a:sym typeface="Arial"/>
                </a:rPr>
                <a:t>02 / 14</a:t>
              </a:r>
            </a:p>
          </p:txBody>
        </p:sp>
      </p:grpSp>
      <p:grpSp>
        <p:nvGrpSpPr>
          <p:cNvPr name="Group 20" id="20"/>
          <p:cNvGrpSpPr/>
          <p:nvPr/>
        </p:nvGrpSpPr>
        <p:grpSpPr>
          <a:xfrm rot="0">
            <a:off x="1103376" y="2639568"/>
            <a:ext cx="5186172" cy="4774692"/>
            <a:chOff x="0" y="0"/>
            <a:chExt cx="6914896" cy="6366256"/>
          </a:xfrm>
        </p:grpSpPr>
        <p:sp>
          <p:nvSpPr>
            <p:cNvPr name="Freeform 21" id="21"/>
            <p:cNvSpPr/>
            <p:nvPr/>
          </p:nvSpPr>
          <p:spPr>
            <a:xfrm flipH="false" flipV="false" rot="0">
              <a:off x="0" y="0"/>
              <a:ext cx="6914897" cy="6366256"/>
            </a:xfrm>
            <a:custGeom>
              <a:avLst/>
              <a:gdLst/>
              <a:ahLst/>
              <a:cxnLst/>
              <a:rect r="r" b="b" t="t" l="l"/>
              <a:pathLst>
                <a:path h="6366256" w="6914897">
                  <a:moveTo>
                    <a:pt x="0" y="220091"/>
                  </a:moveTo>
                  <a:cubicBezTo>
                    <a:pt x="0" y="98552"/>
                    <a:pt x="98552" y="0"/>
                    <a:pt x="220091" y="0"/>
                  </a:cubicBezTo>
                  <a:lnTo>
                    <a:pt x="6694805" y="0"/>
                  </a:lnTo>
                  <a:cubicBezTo>
                    <a:pt x="6816344" y="0"/>
                    <a:pt x="6914897" y="98552"/>
                    <a:pt x="6914897" y="220091"/>
                  </a:cubicBezTo>
                  <a:lnTo>
                    <a:pt x="6914897" y="6146165"/>
                  </a:lnTo>
                  <a:cubicBezTo>
                    <a:pt x="6914897" y="6267704"/>
                    <a:pt x="6816344" y="6366256"/>
                    <a:pt x="6694805" y="6366256"/>
                  </a:cubicBezTo>
                  <a:lnTo>
                    <a:pt x="220091" y="6366256"/>
                  </a:lnTo>
                  <a:cubicBezTo>
                    <a:pt x="98552" y="6366256"/>
                    <a:pt x="0" y="6267704"/>
                    <a:pt x="0" y="6146165"/>
                  </a:cubicBezTo>
                  <a:close/>
                </a:path>
              </a:pathLst>
            </a:custGeom>
            <a:solidFill>
              <a:srgbClr val="FFFFFF"/>
            </a:solidFill>
            <a:ln w="15240" cap="sq">
              <a:solidFill>
                <a:srgbClr val="DEE7EE"/>
              </a:solidFill>
              <a:prstDash val="solid"/>
              <a:miter/>
            </a:ln>
          </p:spPr>
        </p:sp>
      </p:grpSp>
      <p:grpSp>
        <p:nvGrpSpPr>
          <p:cNvPr name="Group 22" id="22"/>
          <p:cNvGrpSpPr/>
          <p:nvPr/>
        </p:nvGrpSpPr>
        <p:grpSpPr>
          <a:xfrm rot="0">
            <a:off x="1348359" y="2966847"/>
            <a:ext cx="115062" cy="4120134"/>
            <a:chOff x="0" y="0"/>
            <a:chExt cx="153416" cy="5493512"/>
          </a:xfrm>
        </p:grpSpPr>
        <p:sp>
          <p:nvSpPr>
            <p:cNvPr name="Freeform 23" id="23"/>
            <p:cNvSpPr/>
            <p:nvPr/>
          </p:nvSpPr>
          <p:spPr>
            <a:xfrm flipH="false" flipV="false" rot="0">
              <a:off x="0" y="0"/>
              <a:ext cx="153416" cy="5493512"/>
            </a:xfrm>
            <a:custGeom>
              <a:avLst/>
              <a:gdLst/>
              <a:ahLst/>
              <a:cxnLst/>
              <a:rect r="r" b="b" t="t" l="l"/>
              <a:pathLst>
                <a:path h="5493512" w="153416">
                  <a:moveTo>
                    <a:pt x="0" y="0"/>
                  </a:moveTo>
                  <a:lnTo>
                    <a:pt x="153416" y="0"/>
                  </a:lnTo>
                  <a:lnTo>
                    <a:pt x="153416" y="5493512"/>
                  </a:lnTo>
                  <a:lnTo>
                    <a:pt x="0" y="5493512"/>
                  </a:lnTo>
                  <a:close/>
                </a:path>
              </a:pathLst>
            </a:custGeom>
            <a:solidFill>
              <a:srgbClr val="137E82"/>
            </a:solidFill>
          </p:spPr>
        </p:sp>
      </p:grpSp>
      <p:grpSp>
        <p:nvGrpSpPr>
          <p:cNvPr name="Group 24" id="24"/>
          <p:cNvGrpSpPr/>
          <p:nvPr/>
        </p:nvGrpSpPr>
        <p:grpSpPr>
          <a:xfrm rot="0">
            <a:off x="1700784" y="2894076"/>
            <a:ext cx="4210812" cy="342900"/>
            <a:chOff x="0" y="0"/>
            <a:chExt cx="5614416" cy="457200"/>
          </a:xfrm>
        </p:grpSpPr>
        <p:sp>
          <p:nvSpPr>
            <p:cNvPr name="Freeform 25" id="25"/>
            <p:cNvSpPr/>
            <p:nvPr/>
          </p:nvSpPr>
          <p:spPr>
            <a:xfrm flipH="false" flipV="false" rot="0">
              <a:off x="0" y="0"/>
              <a:ext cx="5614416" cy="457200"/>
            </a:xfrm>
            <a:custGeom>
              <a:avLst/>
              <a:gdLst/>
              <a:ahLst/>
              <a:cxnLst/>
              <a:rect r="r" b="b" t="t" l="l"/>
              <a:pathLst>
                <a:path h="457200" w="5614416">
                  <a:moveTo>
                    <a:pt x="0" y="0"/>
                  </a:moveTo>
                  <a:lnTo>
                    <a:pt x="5614416" y="0"/>
                  </a:lnTo>
                  <a:lnTo>
                    <a:pt x="5614416" y="457200"/>
                  </a:lnTo>
                  <a:lnTo>
                    <a:pt x="0" y="457200"/>
                  </a:lnTo>
                  <a:close/>
                </a:path>
              </a:pathLst>
            </a:custGeom>
            <a:blipFill>
              <a:blip r:embed="rId3">
                <a:alphaModFix amt="0"/>
              </a:blip>
              <a:stretch>
                <a:fillRect l="0" t="-189276" r="0" b="-189276"/>
              </a:stretch>
            </a:blipFill>
          </p:spPr>
        </p:sp>
        <p:sp>
          <p:nvSpPr>
            <p:cNvPr name="TextBox 26" id="26"/>
            <p:cNvSpPr txBox="true"/>
            <p:nvPr/>
          </p:nvSpPr>
          <p:spPr>
            <a:xfrm>
              <a:off x="0" y="-19050"/>
              <a:ext cx="5614416" cy="476250"/>
            </a:xfrm>
            <a:prstGeom prst="rect">
              <a:avLst/>
            </a:prstGeom>
          </p:spPr>
          <p:txBody>
            <a:bodyPr anchor="ctr" rtlCol="false" tIns="0" lIns="0" bIns="0" rIns="0"/>
            <a:lstStyle/>
            <a:p>
              <a:pPr algn="l">
                <a:lnSpc>
                  <a:spcPts val="1817"/>
                </a:lnSpc>
              </a:pPr>
              <a:r>
                <a:rPr lang="en-US" sz="1514" b="true">
                  <a:solidFill>
                    <a:srgbClr val="137E82"/>
                  </a:solidFill>
                  <a:latin typeface="Arial Bold"/>
                  <a:ea typeface="Arial Bold"/>
                  <a:cs typeface="Arial Bold"/>
                  <a:sym typeface="Arial Bold"/>
                </a:rPr>
                <a:t>01  VẤN ĐỀ</a:t>
              </a:r>
            </a:p>
          </p:txBody>
        </p:sp>
      </p:grpSp>
      <p:grpSp>
        <p:nvGrpSpPr>
          <p:cNvPr name="Group 27" id="27"/>
          <p:cNvGrpSpPr/>
          <p:nvPr/>
        </p:nvGrpSpPr>
        <p:grpSpPr>
          <a:xfrm rot="0">
            <a:off x="1700784" y="3360420"/>
            <a:ext cx="4169664" cy="507492"/>
            <a:chOff x="0" y="0"/>
            <a:chExt cx="5559552" cy="676656"/>
          </a:xfrm>
        </p:grpSpPr>
        <p:sp>
          <p:nvSpPr>
            <p:cNvPr name="Freeform 28" id="28"/>
            <p:cNvSpPr/>
            <p:nvPr/>
          </p:nvSpPr>
          <p:spPr>
            <a:xfrm flipH="false" flipV="false" rot="0">
              <a:off x="0" y="0"/>
              <a:ext cx="5559552" cy="676656"/>
            </a:xfrm>
            <a:custGeom>
              <a:avLst/>
              <a:gdLst/>
              <a:ahLst/>
              <a:cxnLst/>
              <a:rect r="r" b="b" t="t" l="l"/>
              <a:pathLst>
                <a:path h="676656" w="5559552">
                  <a:moveTo>
                    <a:pt x="0" y="0"/>
                  </a:moveTo>
                  <a:lnTo>
                    <a:pt x="5559552" y="0"/>
                  </a:lnTo>
                  <a:lnTo>
                    <a:pt x="5559552" y="676656"/>
                  </a:lnTo>
                  <a:lnTo>
                    <a:pt x="0" y="676656"/>
                  </a:lnTo>
                  <a:close/>
                </a:path>
              </a:pathLst>
            </a:custGeom>
            <a:blipFill>
              <a:blip r:embed="rId3">
                <a:alphaModFix amt="0"/>
              </a:blip>
              <a:stretch>
                <a:fillRect l="0" t="-110093" r="0" b="-110093"/>
              </a:stretch>
            </a:blipFill>
          </p:spPr>
        </p:sp>
        <p:sp>
          <p:nvSpPr>
            <p:cNvPr name="TextBox 29" id="29"/>
            <p:cNvSpPr txBox="true"/>
            <p:nvPr/>
          </p:nvSpPr>
          <p:spPr>
            <a:xfrm>
              <a:off x="0" y="-9525"/>
              <a:ext cx="5559552" cy="686181"/>
            </a:xfrm>
            <a:prstGeom prst="rect">
              <a:avLst/>
            </a:prstGeom>
          </p:spPr>
          <p:txBody>
            <a:bodyPr anchor="ctr" rtlCol="false" tIns="0" lIns="0" bIns="0" rIns="0"/>
            <a:lstStyle/>
            <a:p>
              <a:pPr algn="l">
                <a:lnSpc>
                  <a:spcPts val="2970"/>
                </a:lnSpc>
              </a:pPr>
              <a:r>
                <a:rPr lang="en-US" sz="2475" b="true">
                  <a:solidFill>
                    <a:srgbClr val="12304C"/>
                  </a:solidFill>
                  <a:latin typeface="Arial Bold"/>
                  <a:ea typeface="Arial Bold"/>
                  <a:cs typeface="Arial Bold"/>
                  <a:sym typeface="Arial Bold"/>
                </a:rPr>
                <a:t>Management gap</a:t>
              </a:r>
            </a:p>
          </p:txBody>
        </p:sp>
      </p:grpSp>
      <p:grpSp>
        <p:nvGrpSpPr>
          <p:cNvPr name="Group 30" id="30"/>
          <p:cNvGrpSpPr/>
          <p:nvPr/>
        </p:nvGrpSpPr>
        <p:grpSpPr>
          <a:xfrm rot="0">
            <a:off x="1700784" y="3922776"/>
            <a:ext cx="4210812" cy="726948"/>
            <a:chOff x="0" y="0"/>
            <a:chExt cx="5614416" cy="969264"/>
          </a:xfrm>
        </p:grpSpPr>
        <p:sp>
          <p:nvSpPr>
            <p:cNvPr name="Freeform 31" id="31"/>
            <p:cNvSpPr/>
            <p:nvPr/>
          </p:nvSpPr>
          <p:spPr>
            <a:xfrm flipH="false" flipV="false" rot="0">
              <a:off x="0" y="0"/>
              <a:ext cx="5614416" cy="969264"/>
            </a:xfrm>
            <a:custGeom>
              <a:avLst/>
              <a:gdLst/>
              <a:ahLst/>
              <a:cxnLst/>
              <a:rect r="r" b="b" t="t" l="l"/>
              <a:pathLst>
                <a:path h="969264" w="5614416">
                  <a:moveTo>
                    <a:pt x="0" y="0"/>
                  </a:moveTo>
                  <a:lnTo>
                    <a:pt x="5614416" y="0"/>
                  </a:lnTo>
                  <a:lnTo>
                    <a:pt x="5614416" y="969264"/>
                  </a:lnTo>
                  <a:lnTo>
                    <a:pt x="0" y="969264"/>
                  </a:lnTo>
                  <a:close/>
                </a:path>
              </a:pathLst>
            </a:custGeom>
            <a:blipFill>
              <a:blip r:embed="rId3">
                <a:alphaModFix amt="0"/>
              </a:blip>
              <a:stretch>
                <a:fillRect l="0" t="-62866" r="0" b="-62866"/>
              </a:stretch>
            </a:blipFill>
          </p:spPr>
        </p:sp>
        <p:sp>
          <p:nvSpPr>
            <p:cNvPr name="TextBox 32" id="32"/>
            <p:cNvSpPr txBox="true"/>
            <p:nvPr/>
          </p:nvSpPr>
          <p:spPr>
            <a:xfrm>
              <a:off x="0" y="-19050"/>
              <a:ext cx="5614416" cy="988314"/>
            </a:xfrm>
            <a:prstGeom prst="rect">
              <a:avLst/>
            </a:prstGeom>
          </p:spPr>
          <p:txBody>
            <a:bodyPr anchor="ctr" rtlCol="false" tIns="0" lIns="0" bIns="0" rIns="0"/>
            <a:lstStyle/>
            <a:p>
              <a:pPr algn="l">
                <a:lnSpc>
                  <a:spcPts val="2700"/>
                </a:lnSpc>
              </a:pPr>
              <a:r>
                <a:rPr lang="en-US" sz="2250" b="true">
                  <a:solidFill>
                    <a:srgbClr val="182D42"/>
                  </a:solidFill>
                  <a:latin typeface="Arial Bold"/>
                  <a:ea typeface="Arial Bold"/>
                  <a:cs typeface="Arial Bold"/>
                  <a:sym typeface="Arial Bold"/>
                </a:rPr>
                <a:t>Thiếu mô hình quản lý thống nhất</a:t>
              </a:r>
            </a:p>
          </p:txBody>
        </p:sp>
      </p:grpSp>
      <p:sp>
        <p:nvSpPr>
          <p:cNvPr name="TextBox 33" id="33"/>
          <p:cNvSpPr txBox="true"/>
          <p:nvPr/>
        </p:nvSpPr>
        <p:spPr>
          <a:xfrm rot="0">
            <a:off x="1714500" y="4730877"/>
            <a:ext cx="4155948" cy="2456307"/>
          </a:xfrm>
          <a:prstGeom prst="rect">
            <a:avLst/>
          </a:prstGeom>
        </p:spPr>
        <p:txBody>
          <a:bodyPr anchor="t" rtlCol="false" tIns="0" lIns="0" bIns="0" rIns="0">
            <a:spAutoFit/>
          </a:bodyPr>
          <a:lstStyle/>
          <a:p>
            <a:pPr algn="l">
              <a:lnSpc>
                <a:spcPts val="2250"/>
              </a:lnSpc>
            </a:pPr>
            <a:r>
              <a:rPr lang="en-US" sz="1875">
                <a:solidFill>
                  <a:srgbClr val="50677D"/>
                </a:solidFill>
                <a:latin typeface="Arial"/>
                <a:ea typeface="Arial"/>
                <a:cs typeface="Arial"/>
                <a:sym typeface="Arial"/>
              </a:rPr>
              <a:t>Các tiêu chuẩn khác nhau khiến tổ chức khó quản trị và đánh giá toàn diện.</a:t>
            </a:r>
          </a:p>
        </p:txBody>
      </p:sp>
      <p:grpSp>
        <p:nvGrpSpPr>
          <p:cNvPr name="Group 34" id="34"/>
          <p:cNvGrpSpPr/>
          <p:nvPr/>
        </p:nvGrpSpPr>
        <p:grpSpPr>
          <a:xfrm rot="0">
            <a:off x="6548628" y="2639568"/>
            <a:ext cx="5186172" cy="4774692"/>
            <a:chOff x="0" y="0"/>
            <a:chExt cx="6914896" cy="6366256"/>
          </a:xfrm>
        </p:grpSpPr>
        <p:sp>
          <p:nvSpPr>
            <p:cNvPr name="Freeform 35" id="35"/>
            <p:cNvSpPr/>
            <p:nvPr/>
          </p:nvSpPr>
          <p:spPr>
            <a:xfrm flipH="false" flipV="false" rot="0">
              <a:off x="0" y="0"/>
              <a:ext cx="6914897" cy="6366256"/>
            </a:xfrm>
            <a:custGeom>
              <a:avLst/>
              <a:gdLst/>
              <a:ahLst/>
              <a:cxnLst/>
              <a:rect r="r" b="b" t="t" l="l"/>
              <a:pathLst>
                <a:path h="6366256" w="6914897">
                  <a:moveTo>
                    <a:pt x="0" y="220091"/>
                  </a:moveTo>
                  <a:cubicBezTo>
                    <a:pt x="0" y="98552"/>
                    <a:pt x="98552" y="0"/>
                    <a:pt x="220091" y="0"/>
                  </a:cubicBezTo>
                  <a:lnTo>
                    <a:pt x="6694805" y="0"/>
                  </a:lnTo>
                  <a:cubicBezTo>
                    <a:pt x="6816344" y="0"/>
                    <a:pt x="6914897" y="98552"/>
                    <a:pt x="6914897" y="220091"/>
                  </a:cubicBezTo>
                  <a:lnTo>
                    <a:pt x="6914897" y="6146165"/>
                  </a:lnTo>
                  <a:cubicBezTo>
                    <a:pt x="6914897" y="6267704"/>
                    <a:pt x="6816344" y="6366256"/>
                    <a:pt x="6694805" y="6366256"/>
                  </a:cubicBezTo>
                  <a:lnTo>
                    <a:pt x="220091" y="6366256"/>
                  </a:lnTo>
                  <a:cubicBezTo>
                    <a:pt x="98552" y="6366256"/>
                    <a:pt x="0" y="6267704"/>
                    <a:pt x="0" y="6146165"/>
                  </a:cubicBezTo>
                  <a:close/>
                </a:path>
              </a:pathLst>
            </a:custGeom>
            <a:solidFill>
              <a:srgbClr val="FFFFFF"/>
            </a:solidFill>
            <a:ln w="15240" cap="sq">
              <a:solidFill>
                <a:srgbClr val="DEE7EE"/>
              </a:solidFill>
              <a:prstDash val="solid"/>
              <a:miter/>
            </a:ln>
          </p:spPr>
        </p:sp>
      </p:grpSp>
      <p:grpSp>
        <p:nvGrpSpPr>
          <p:cNvPr name="Group 36" id="36"/>
          <p:cNvGrpSpPr/>
          <p:nvPr/>
        </p:nvGrpSpPr>
        <p:grpSpPr>
          <a:xfrm rot="0">
            <a:off x="6793611" y="2966847"/>
            <a:ext cx="115062" cy="4120134"/>
            <a:chOff x="0" y="0"/>
            <a:chExt cx="153416" cy="5493512"/>
          </a:xfrm>
        </p:grpSpPr>
        <p:sp>
          <p:nvSpPr>
            <p:cNvPr name="Freeform 37" id="37"/>
            <p:cNvSpPr/>
            <p:nvPr/>
          </p:nvSpPr>
          <p:spPr>
            <a:xfrm flipH="false" flipV="false" rot="0">
              <a:off x="0" y="0"/>
              <a:ext cx="153416" cy="5493512"/>
            </a:xfrm>
            <a:custGeom>
              <a:avLst/>
              <a:gdLst/>
              <a:ahLst/>
              <a:cxnLst/>
              <a:rect r="r" b="b" t="t" l="l"/>
              <a:pathLst>
                <a:path h="5493512" w="153416">
                  <a:moveTo>
                    <a:pt x="0" y="0"/>
                  </a:moveTo>
                  <a:lnTo>
                    <a:pt x="153416" y="0"/>
                  </a:lnTo>
                  <a:lnTo>
                    <a:pt x="153416" y="5493512"/>
                  </a:lnTo>
                  <a:lnTo>
                    <a:pt x="0" y="5493512"/>
                  </a:lnTo>
                  <a:close/>
                </a:path>
              </a:pathLst>
            </a:custGeom>
            <a:solidFill>
              <a:srgbClr val="1C6183"/>
            </a:solidFill>
          </p:spPr>
        </p:sp>
      </p:grpSp>
      <p:grpSp>
        <p:nvGrpSpPr>
          <p:cNvPr name="Group 38" id="38"/>
          <p:cNvGrpSpPr/>
          <p:nvPr/>
        </p:nvGrpSpPr>
        <p:grpSpPr>
          <a:xfrm rot="0">
            <a:off x="7146036" y="2894076"/>
            <a:ext cx="4210812" cy="342900"/>
            <a:chOff x="0" y="0"/>
            <a:chExt cx="5614416" cy="457200"/>
          </a:xfrm>
        </p:grpSpPr>
        <p:sp>
          <p:nvSpPr>
            <p:cNvPr name="Freeform 39" id="39"/>
            <p:cNvSpPr/>
            <p:nvPr/>
          </p:nvSpPr>
          <p:spPr>
            <a:xfrm flipH="false" flipV="false" rot="0">
              <a:off x="0" y="0"/>
              <a:ext cx="5614416" cy="457200"/>
            </a:xfrm>
            <a:custGeom>
              <a:avLst/>
              <a:gdLst/>
              <a:ahLst/>
              <a:cxnLst/>
              <a:rect r="r" b="b" t="t" l="l"/>
              <a:pathLst>
                <a:path h="457200" w="5614416">
                  <a:moveTo>
                    <a:pt x="0" y="0"/>
                  </a:moveTo>
                  <a:lnTo>
                    <a:pt x="5614416" y="0"/>
                  </a:lnTo>
                  <a:lnTo>
                    <a:pt x="5614416" y="457200"/>
                  </a:lnTo>
                  <a:lnTo>
                    <a:pt x="0" y="457200"/>
                  </a:lnTo>
                  <a:close/>
                </a:path>
              </a:pathLst>
            </a:custGeom>
            <a:blipFill>
              <a:blip r:embed="rId3">
                <a:alphaModFix amt="0"/>
              </a:blip>
              <a:stretch>
                <a:fillRect l="0" t="-189276" r="0" b="-189276"/>
              </a:stretch>
            </a:blipFill>
          </p:spPr>
        </p:sp>
        <p:sp>
          <p:nvSpPr>
            <p:cNvPr name="TextBox 40" id="40"/>
            <p:cNvSpPr txBox="true"/>
            <p:nvPr/>
          </p:nvSpPr>
          <p:spPr>
            <a:xfrm>
              <a:off x="0" y="-19050"/>
              <a:ext cx="5614416" cy="476250"/>
            </a:xfrm>
            <a:prstGeom prst="rect">
              <a:avLst/>
            </a:prstGeom>
          </p:spPr>
          <p:txBody>
            <a:bodyPr anchor="ctr" rtlCol="false" tIns="0" lIns="0" bIns="0" rIns="0"/>
            <a:lstStyle/>
            <a:p>
              <a:pPr algn="l">
                <a:lnSpc>
                  <a:spcPts val="1817"/>
                </a:lnSpc>
              </a:pPr>
              <a:r>
                <a:rPr lang="en-US" sz="1514" b="true">
                  <a:solidFill>
                    <a:srgbClr val="1C6183"/>
                  </a:solidFill>
                  <a:latin typeface="Arial Bold"/>
                  <a:ea typeface="Arial Bold"/>
                  <a:cs typeface="Arial Bold"/>
                  <a:sym typeface="Arial Bold"/>
                </a:rPr>
                <a:t>02  CÁCH LÀM</a:t>
              </a:r>
            </a:p>
          </p:txBody>
        </p:sp>
      </p:grpSp>
      <p:grpSp>
        <p:nvGrpSpPr>
          <p:cNvPr name="Group 41" id="41"/>
          <p:cNvGrpSpPr/>
          <p:nvPr/>
        </p:nvGrpSpPr>
        <p:grpSpPr>
          <a:xfrm rot="0">
            <a:off x="7146036" y="3360420"/>
            <a:ext cx="4169664" cy="507492"/>
            <a:chOff x="0" y="0"/>
            <a:chExt cx="5559552" cy="676656"/>
          </a:xfrm>
        </p:grpSpPr>
        <p:sp>
          <p:nvSpPr>
            <p:cNvPr name="Freeform 42" id="42"/>
            <p:cNvSpPr/>
            <p:nvPr/>
          </p:nvSpPr>
          <p:spPr>
            <a:xfrm flipH="false" flipV="false" rot="0">
              <a:off x="0" y="0"/>
              <a:ext cx="5559552" cy="676656"/>
            </a:xfrm>
            <a:custGeom>
              <a:avLst/>
              <a:gdLst/>
              <a:ahLst/>
              <a:cxnLst/>
              <a:rect r="r" b="b" t="t" l="l"/>
              <a:pathLst>
                <a:path h="676656" w="5559552">
                  <a:moveTo>
                    <a:pt x="0" y="0"/>
                  </a:moveTo>
                  <a:lnTo>
                    <a:pt x="5559552" y="0"/>
                  </a:lnTo>
                  <a:lnTo>
                    <a:pt x="5559552" y="676656"/>
                  </a:lnTo>
                  <a:lnTo>
                    <a:pt x="0" y="676656"/>
                  </a:lnTo>
                  <a:close/>
                </a:path>
              </a:pathLst>
            </a:custGeom>
            <a:blipFill>
              <a:blip r:embed="rId3">
                <a:alphaModFix amt="0"/>
              </a:blip>
              <a:stretch>
                <a:fillRect l="0" t="-110093" r="0" b="-110093"/>
              </a:stretch>
            </a:blipFill>
          </p:spPr>
        </p:sp>
        <p:sp>
          <p:nvSpPr>
            <p:cNvPr name="TextBox 43" id="43"/>
            <p:cNvSpPr txBox="true"/>
            <p:nvPr/>
          </p:nvSpPr>
          <p:spPr>
            <a:xfrm>
              <a:off x="0" y="-9525"/>
              <a:ext cx="5559552" cy="686181"/>
            </a:xfrm>
            <a:prstGeom prst="rect">
              <a:avLst/>
            </a:prstGeom>
          </p:spPr>
          <p:txBody>
            <a:bodyPr anchor="ctr" rtlCol="false" tIns="0" lIns="0" bIns="0" rIns="0"/>
            <a:lstStyle/>
            <a:p>
              <a:pPr algn="l">
                <a:lnSpc>
                  <a:spcPts val="2970"/>
                </a:lnSpc>
              </a:pPr>
              <a:r>
                <a:rPr lang="en-US" sz="2475" b="true">
                  <a:solidFill>
                    <a:srgbClr val="12304C"/>
                  </a:solidFill>
                  <a:latin typeface="Arial Bold"/>
                  <a:ea typeface="Arial Bold"/>
                  <a:cs typeface="Arial Bold"/>
                  <a:sym typeface="Arial Bold"/>
                </a:rPr>
                <a:t>Three-round Delphi</a:t>
              </a:r>
            </a:p>
          </p:txBody>
        </p:sp>
      </p:grpSp>
      <p:grpSp>
        <p:nvGrpSpPr>
          <p:cNvPr name="Group 44" id="44"/>
          <p:cNvGrpSpPr/>
          <p:nvPr/>
        </p:nvGrpSpPr>
        <p:grpSpPr>
          <a:xfrm rot="0">
            <a:off x="7146036" y="3922776"/>
            <a:ext cx="4210812" cy="726948"/>
            <a:chOff x="0" y="0"/>
            <a:chExt cx="5614416" cy="969264"/>
          </a:xfrm>
        </p:grpSpPr>
        <p:sp>
          <p:nvSpPr>
            <p:cNvPr name="Freeform 45" id="45"/>
            <p:cNvSpPr/>
            <p:nvPr/>
          </p:nvSpPr>
          <p:spPr>
            <a:xfrm flipH="false" flipV="false" rot="0">
              <a:off x="0" y="0"/>
              <a:ext cx="5614416" cy="969264"/>
            </a:xfrm>
            <a:custGeom>
              <a:avLst/>
              <a:gdLst/>
              <a:ahLst/>
              <a:cxnLst/>
              <a:rect r="r" b="b" t="t" l="l"/>
              <a:pathLst>
                <a:path h="969264" w="5614416">
                  <a:moveTo>
                    <a:pt x="0" y="0"/>
                  </a:moveTo>
                  <a:lnTo>
                    <a:pt x="5614416" y="0"/>
                  </a:lnTo>
                  <a:lnTo>
                    <a:pt x="5614416" y="969264"/>
                  </a:lnTo>
                  <a:lnTo>
                    <a:pt x="0" y="969264"/>
                  </a:lnTo>
                  <a:close/>
                </a:path>
              </a:pathLst>
            </a:custGeom>
            <a:blipFill>
              <a:blip r:embed="rId3">
                <a:alphaModFix amt="0"/>
              </a:blip>
              <a:stretch>
                <a:fillRect l="0" t="-62866" r="0" b="-62866"/>
              </a:stretch>
            </a:blipFill>
          </p:spPr>
        </p:sp>
        <p:sp>
          <p:nvSpPr>
            <p:cNvPr name="TextBox 46" id="46"/>
            <p:cNvSpPr txBox="true"/>
            <p:nvPr/>
          </p:nvSpPr>
          <p:spPr>
            <a:xfrm>
              <a:off x="0" y="-19050"/>
              <a:ext cx="5614416" cy="988314"/>
            </a:xfrm>
            <a:prstGeom prst="rect">
              <a:avLst/>
            </a:prstGeom>
          </p:spPr>
          <p:txBody>
            <a:bodyPr anchor="ctr" rtlCol="false" tIns="0" lIns="0" bIns="0" rIns="0"/>
            <a:lstStyle/>
            <a:p>
              <a:pPr algn="l">
                <a:lnSpc>
                  <a:spcPts val="2700"/>
                </a:lnSpc>
              </a:pPr>
              <a:r>
                <a:rPr lang="en-US" sz="2250" b="true">
                  <a:solidFill>
                    <a:srgbClr val="182D42"/>
                  </a:solidFill>
                  <a:latin typeface="Arial Bold"/>
                  <a:ea typeface="Arial Bold"/>
                  <a:cs typeface="Arial Bold"/>
                  <a:sym typeface="Arial Bold"/>
                </a:rPr>
                <a:t>Lấy ý kiến chuyên gia 3 vòng</a:t>
              </a:r>
            </a:p>
          </p:txBody>
        </p:sp>
      </p:grpSp>
      <p:sp>
        <p:nvSpPr>
          <p:cNvPr name="TextBox 47" id="47"/>
          <p:cNvSpPr txBox="true"/>
          <p:nvPr/>
        </p:nvSpPr>
        <p:spPr>
          <a:xfrm rot="0">
            <a:off x="7159752" y="4730877"/>
            <a:ext cx="4155948" cy="2456307"/>
          </a:xfrm>
          <a:prstGeom prst="rect">
            <a:avLst/>
          </a:prstGeom>
        </p:spPr>
        <p:txBody>
          <a:bodyPr anchor="t" rtlCol="false" tIns="0" lIns="0" bIns="0" rIns="0">
            <a:spAutoFit/>
          </a:bodyPr>
          <a:lstStyle/>
          <a:p>
            <a:pPr algn="l">
              <a:lnSpc>
                <a:spcPts val="2250"/>
              </a:lnSpc>
            </a:pPr>
            <a:r>
              <a:rPr lang="en-US" sz="1875">
                <a:solidFill>
                  <a:srgbClr val="50677D"/>
                </a:solidFill>
                <a:latin typeface="Arial"/>
                <a:ea typeface="Arial"/>
                <a:cs typeface="Arial"/>
                <a:sym typeface="Arial"/>
              </a:rPr>
              <a:t>Tổng hợp tiêu chuẩn, khảo sát và kiểm tra sự đồng thuận.</a:t>
            </a:r>
          </a:p>
        </p:txBody>
      </p:sp>
      <p:grpSp>
        <p:nvGrpSpPr>
          <p:cNvPr name="Group 48" id="48"/>
          <p:cNvGrpSpPr/>
          <p:nvPr/>
        </p:nvGrpSpPr>
        <p:grpSpPr>
          <a:xfrm rot="0">
            <a:off x="12007596" y="2639568"/>
            <a:ext cx="5186172" cy="4774692"/>
            <a:chOff x="0" y="0"/>
            <a:chExt cx="6914896" cy="6366256"/>
          </a:xfrm>
        </p:grpSpPr>
        <p:sp>
          <p:nvSpPr>
            <p:cNvPr name="Freeform 49" id="49"/>
            <p:cNvSpPr/>
            <p:nvPr/>
          </p:nvSpPr>
          <p:spPr>
            <a:xfrm flipH="false" flipV="false" rot="0">
              <a:off x="0" y="0"/>
              <a:ext cx="6914897" cy="6366256"/>
            </a:xfrm>
            <a:custGeom>
              <a:avLst/>
              <a:gdLst/>
              <a:ahLst/>
              <a:cxnLst/>
              <a:rect r="r" b="b" t="t" l="l"/>
              <a:pathLst>
                <a:path h="6366256" w="6914897">
                  <a:moveTo>
                    <a:pt x="0" y="220091"/>
                  </a:moveTo>
                  <a:cubicBezTo>
                    <a:pt x="0" y="98552"/>
                    <a:pt x="98552" y="0"/>
                    <a:pt x="220091" y="0"/>
                  </a:cubicBezTo>
                  <a:lnTo>
                    <a:pt x="6694805" y="0"/>
                  </a:lnTo>
                  <a:cubicBezTo>
                    <a:pt x="6816344" y="0"/>
                    <a:pt x="6914897" y="98552"/>
                    <a:pt x="6914897" y="220091"/>
                  </a:cubicBezTo>
                  <a:lnTo>
                    <a:pt x="6914897" y="6146165"/>
                  </a:lnTo>
                  <a:cubicBezTo>
                    <a:pt x="6914897" y="6267704"/>
                    <a:pt x="6816344" y="6366256"/>
                    <a:pt x="6694805" y="6366256"/>
                  </a:cubicBezTo>
                  <a:lnTo>
                    <a:pt x="220091" y="6366256"/>
                  </a:lnTo>
                  <a:cubicBezTo>
                    <a:pt x="98552" y="6366256"/>
                    <a:pt x="0" y="6267704"/>
                    <a:pt x="0" y="6146165"/>
                  </a:cubicBezTo>
                  <a:close/>
                </a:path>
              </a:pathLst>
            </a:custGeom>
            <a:solidFill>
              <a:srgbClr val="FFFFFF"/>
            </a:solidFill>
            <a:ln w="15240" cap="sq">
              <a:solidFill>
                <a:srgbClr val="DEE7EE"/>
              </a:solidFill>
              <a:prstDash val="solid"/>
              <a:miter/>
            </a:ln>
          </p:spPr>
        </p:sp>
      </p:grpSp>
      <p:grpSp>
        <p:nvGrpSpPr>
          <p:cNvPr name="Group 50" id="50"/>
          <p:cNvGrpSpPr/>
          <p:nvPr/>
        </p:nvGrpSpPr>
        <p:grpSpPr>
          <a:xfrm rot="0">
            <a:off x="12252579" y="2966847"/>
            <a:ext cx="115062" cy="4120134"/>
            <a:chOff x="0" y="0"/>
            <a:chExt cx="153416" cy="5493512"/>
          </a:xfrm>
        </p:grpSpPr>
        <p:sp>
          <p:nvSpPr>
            <p:cNvPr name="Freeform 51" id="51"/>
            <p:cNvSpPr/>
            <p:nvPr/>
          </p:nvSpPr>
          <p:spPr>
            <a:xfrm flipH="false" flipV="false" rot="0">
              <a:off x="0" y="0"/>
              <a:ext cx="153416" cy="5493512"/>
            </a:xfrm>
            <a:custGeom>
              <a:avLst/>
              <a:gdLst/>
              <a:ahLst/>
              <a:cxnLst/>
              <a:rect r="r" b="b" t="t" l="l"/>
              <a:pathLst>
                <a:path h="5493512" w="153416">
                  <a:moveTo>
                    <a:pt x="0" y="0"/>
                  </a:moveTo>
                  <a:lnTo>
                    <a:pt x="153416" y="0"/>
                  </a:lnTo>
                  <a:lnTo>
                    <a:pt x="153416" y="5493512"/>
                  </a:lnTo>
                  <a:lnTo>
                    <a:pt x="0" y="5493512"/>
                  </a:lnTo>
                  <a:close/>
                </a:path>
              </a:pathLst>
            </a:custGeom>
            <a:solidFill>
              <a:srgbClr val="BD7B3C"/>
            </a:solidFill>
          </p:spPr>
        </p:sp>
      </p:grpSp>
      <p:grpSp>
        <p:nvGrpSpPr>
          <p:cNvPr name="Group 52" id="52"/>
          <p:cNvGrpSpPr/>
          <p:nvPr/>
        </p:nvGrpSpPr>
        <p:grpSpPr>
          <a:xfrm rot="0">
            <a:off x="12605004" y="2894076"/>
            <a:ext cx="4210812" cy="342900"/>
            <a:chOff x="0" y="0"/>
            <a:chExt cx="5614416" cy="457200"/>
          </a:xfrm>
        </p:grpSpPr>
        <p:sp>
          <p:nvSpPr>
            <p:cNvPr name="Freeform 53" id="53"/>
            <p:cNvSpPr/>
            <p:nvPr/>
          </p:nvSpPr>
          <p:spPr>
            <a:xfrm flipH="false" flipV="false" rot="0">
              <a:off x="0" y="0"/>
              <a:ext cx="5614416" cy="457200"/>
            </a:xfrm>
            <a:custGeom>
              <a:avLst/>
              <a:gdLst/>
              <a:ahLst/>
              <a:cxnLst/>
              <a:rect r="r" b="b" t="t" l="l"/>
              <a:pathLst>
                <a:path h="457200" w="5614416">
                  <a:moveTo>
                    <a:pt x="0" y="0"/>
                  </a:moveTo>
                  <a:lnTo>
                    <a:pt x="5614416" y="0"/>
                  </a:lnTo>
                  <a:lnTo>
                    <a:pt x="5614416" y="457200"/>
                  </a:lnTo>
                  <a:lnTo>
                    <a:pt x="0" y="457200"/>
                  </a:lnTo>
                  <a:close/>
                </a:path>
              </a:pathLst>
            </a:custGeom>
            <a:blipFill>
              <a:blip r:embed="rId3">
                <a:alphaModFix amt="0"/>
              </a:blip>
              <a:stretch>
                <a:fillRect l="0" t="-189276" r="0" b="-189276"/>
              </a:stretch>
            </a:blipFill>
          </p:spPr>
        </p:sp>
        <p:sp>
          <p:nvSpPr>
            <p:cNvPr name="TextBox 54" id="54"/>
            <p:cNvSpPr txBox="true"/>
            <p:nvPr/>
          </p:nvSpPr>
          <p:spPr>
            <a:xfrm>
              <a:off x="0" y="-19050"/>
              <a:ext cx="5614416" cy="476250"/>
            </a:xfrm>
            <a:prstGeom prst="rect">
              <a:avLst/>
            </a:prstGeom>
          </p:spPr>
          <p:txBody>
            <a:bodyPr anchor="ctr" rtlCol="false" tIns="0" lIns="0" bIns="0" rIns="0"/>
            <a:lstStyle/>
            <a:p>
              <a:pPr algn="l">
                <a:lnSpc>
                  <a:spcPts val="1817"/>
                </a:lnSpc>
              </a:pPr>
              <a:r>
                <a:rPr lang="en-US" sz="1514" b="true">
                  <a:solidFill>
                    <a:srgbClr val="BD7B3C"/>
                  </a:solidFill>
                  <a:latin typeface="Arial Bold"/>
                  <a:ea typeface="Arial Bold"/>
                  <a:cs typeface="Arial Bold"/>
                  <a:sym typeface="Arial Bold"/>
                </a:rPr>
                <a:t>03  KẾT QUẢ</a:t>
              </a:r>
            </a:p>
          </p:txBody>
        </p:sp>
      </p:grpSp>
      <p:grpSp>
        <p:nvGrpSpPr>
          <p:cNvPr name="Group 55" id="55"/>
          <p:cNvGrpSpPr/>
          <p:nvPr/>
        </p:nvGrpSpPr>
        <p:grpSpPr>
          <a:xfrm rot="0">
            <a:off x="12605004" y="3360420"/>
            <a:ext cx="4169664" cy="507492"/>
            <a:chOff x="0" y="0"/>
            <a:chExt cx="5559552" cy="676656"/>
          </a:xfrm>
        </p:grpSpPr>
        <p:sp>
          <p:nvSpPr>
            <p:cNvPr name="Freeform 56" id="56"/>
            <p:cNvSpPr/>
            <p:nvPr/>
          </p:nvSpPr>
          <p:spPr>
            <a:xfrm flipH="false" flipV="false" rot="0">
              <a:off x="0" y="0"/>
              <a:ext cx="5559552" cy="676656"/>
            </a:xfrm>
            <a:custGeom>
              <a:avLst/>
              <a:gdLst/>
              <a:ahLst/>
              <a:cxnLst/>
              <a:rect r="r" b="b" t="t" l="l"/>
              <a:pathLst>
                <a:path h="676656" w="5559552">
                  <a:moveTo>
                    <a:pt x="0" y="0"/>
                  </a:moveTo>
                  <a:lnTo>
                    <a:pt x="5559552" y="0"/>
                  </a:lnTo>
                  <a:lnTo>
                    <a:pt x="5559552" y="676656"/>
                  </a:lnTo>
                  <a:lnTo>
                    <a:pt x="0" y="676656"/>
                  </a:lnTo>
                  <a:close/>
                </a:path>
              </a:pathLst>
            </a:custGeom>
            <a:blipFill>
              <a:blip r:embed="rId3">
                <a:alphaModFix amt="0"/>
              </a:blip>
              <a:stretch>
                <a:fillRect l="0" t="-110093" r="0" b="-110093"/>
              </a:stretch>
            </a:blipFill>
          </p:spPr>
        </p:sp>
        <p:sp>
          <p:nvSpPr>
            <p:cNvPr name="TextBox 57" id="57"/>
            <p:cNvSpPr txBox="true"/>
            <p:nvPr/>
          </p:nvSpPr>
          <p:spPr>
            <a:xfrm>
              <a:off x="0" y="-9525"/>
              <a:ext cx="5559552" cy="686181"/>
            </a:xfrm>
            <a:prstGeom prst="rect">
              <a:avLst/>
            </a:prstGeom>
          </p:spPr>
          <p:txBody>
            <a:bodyPr anchor="ctr" rtlCol="false" tIns="0" lIns="0" bIns="0" rIns="0"/>
            <a:lstStyle/>
            <a:p>
              <a:pPr algn="l">
                <a:lnSpc>
                  <a:spcPts val="2970"/>
                </a:lnSpc>
              </a:pPr>
              <a:r>
                <a:rPr lang="en-US" sz="2475" b="true">
                  <a:solidFill>
                    <a:srgbClr val="12304C"/>
                  </a:solidFill>
                  <a:latin typeface="Arial Bold"/>
                  <a:ea typeface="Arial Bold"/>
                  <a:cs typeface="Arial Bold"/>
                  <a:sym typeface="Arial Bold"/>
                </a:rPr>
                <a:t>36 processes + CSMPA</a:t>
              </a:r>
            </a:p>
          </p:txBody>
        </p:sp>
      </p:grpSp>
      <p:grpSp>
        <p:nvGrpSpPr>
          <p:cNvPr name="Group 58" id="58"/>
          <p:cNvGrpSpPr/>
          <p:nvPr/>
        </p:nvGrpSpPr>
        <p:grpSpPr>
          <a:xfrm rot="0">
            <a:off x="12605004" y="3922776"/>
            <a:ext cx="4210812" cy="726948"/>
            <a:chOff x="0" y="0"/>
            <a:chExt cx="5614416" cy="969264"/>
          </a:xfrm>
        </p:grpSpPr>
        <p:sp>
          <p:nvSpPr>
            <p:cNvPr name="Freeform 59" id="59"/>
            <p:cNvSpPr/>
            <p:nvPr/>
          </p:nvSpPr>
          <p:spPr>
            <a:xfrm flipH="false" flipV="false" rot="0">
              <a:off x="0" y="0"/>
              <a:ext cx="5614416" cy="969264"/>
            </a:xfrm>
            <a:custGeom>
              <a:avLst/>
              <a:gdLst/>
              <a:ahLst/>
              <a:cxnLst/>
              <a:rect r="r" b="b" t="t" l="l"/>
              <a:pathLst>
                <a:path h="969264" w="5614416">
                  <a:moveTo>
                    <a:pt x="0" y="0"/>
                  </a:moveTo>
                  <a:lnTo>
                    <a:pt x="5614416" y="0"/>
                  </a:lnTo>
                  <a:lnTo>
                    <a:pt x="5614416" y="969264"/>
                  </a:lnTo>
                  <a:lnTo>
                    <a:pt x="0" y="969264"/>
                  </a:lnTo>
                  <a:close/>
                </a:path>
              </a:pathLst>
            </a:custGeom>
            <a:blipFill>
              <a:blip r:embed="rId3">
                <a:alphaModFix amt="0"/>
              </a:blip>
              <a:stretch>
                <a:fillRect l="0" t="-62866" r="0" b="-62866"/>
              </a:stretch>
            </a:blipFill>
          </p:spPr>
        </p:sp>
        <p:sp>
          <p:nvSpPr>
            <p:cNvPr name="TextBox 60" id="60"/>
            <p:cNvSpPr txBox="true"/>
            <p:nvPr/>
          </p:nvSpPr>
          <p:spPr>
            <a:xfrm>
              <a:off x="0" y="-19050"/>
              <a:ext cx="5614416" cy="988314"/>
            </a:xfrm>
            <a:prstGeom prst="rect">
              <a:avLst/>
            </a:prstGeom>
          </p:spPr>
          <p:txBody>
            <a:bodyPr anchor="ctr" rtlCol="false" tIns="0" lIns="0" bIns="0" rIns="0"/>
            <a:lstStyle/>
            <a:p>
              <a:pPr algn="l">
                <a:lnSpc>
                  <a:spcPts val="2700"/>
                </a:lnSpc>
              </a:pPr>
              <a:r>
                <a:rPr lang="en-US" sz="2250" b="true">
                  <a:solidFill>
                    <a:srgbClr val="182D42"/>
                  </a:solidFill>
                  <a:latin typeface="Arial Bold"/>
                  <a:ea typeface="Arial Bold"/>
                  <a:cs typeface="Arial Bold"/>
                  <a:sym typeface="Arial Bold"/>
                </a:rPr>
                <a:t>36 quy trình và công cụ đánh giá</a:t>
              </a:r>
            </a:p>
          </p:txBody>
        </p:sp>
      </p:grpSp>
      <p:sp>
        <p:nvSpPr>
          <p:cNvPr name="TextBox 61" id="61"/>
          <p:cNvSpPr txBox="true"/>
          <p:nvPr/>
        </p:nvSpPr>
        <p:spPr>
          <a:xfrm rot="0">
            <a:off x="12618720" y="4730877"/>
            <a:ext cx="4155948" cy="2456307"/>
          </a:xfrm>
          <a:prstGeom prst="rect">
            <a:avLst/>
          </a:prstGeom>
        </p:spPr>
        <p:txBody>
          <a:bodyPr anchor="t" rtlCol="false" tIns="0" lIns="0" bIns="0" rIns="0">
            <a:spAutoFit/>
          </a:bodyPr>
          <a:lstStyle/>
          <a:p>
            <a:pPr algn="l">
              <a:lnSpc>
                <a:spcPts val="2250"/>
              </a:lnSpc>
            </a:pPr>
            <a:r>
              <a:rPr lang="en-US" sz="1875">
                <a:solidFill>
                  <a:srgbClr val="50677D"/>
                </a:solidFill>
                <a:latin typeface="Arial"/>
                <a:ea typeface="Arial"/>
                <a:cs typeface="Arial"/>
                <a:sym typeface="Arial"/>
              </a:rPr>
              <a:t>6 chiến lược, 11 chiến thuật, 19 vận hành; đo mức trưởng thành và hiệu quả.</a:t>
            </a:r>
          </a:p>
        </p:txBody>
      </p:sp>
      <p:grpSp>
        <p:nvGrpSpPr>
          <p:cNvPr name="Group 62" id="62"/>
          <p:cNvGrpSpPr/>
          <p:nvPr/>
        </p:nvGrpSpPr>
        <p:grpSpPr>
          <a:xfrm rot="0">
            <a:off x="1432560" y="7920228"/>
            <a:ext cx="15349728" cy="742188"/>
            <a:chOff x="0" y="0"/>
            <a:chExt cx="20466304" cy="989584"/>
          </a:xfrm>
        </p:grpSpPr>
        <p:sp>
          <p:nvSpPr>
            <p:cNvPr name="Freeform 63" id="63"/>
            <p:cNvSpPr/>
            <p:nvPr/>
          </p:nvSpPr>
          <p:spPr>
            <a:xfrm flipH="false" flipV="false" rot="0">
              <a:off x="0" y="0"/>
              <a:ext cx="20466304" cy="989584"/>
            </a:xfrm>
            <a:custGeom>
              <a:avLst/>
              <a:gdLst/>
              <a:ahLst/>
              <a:cxnLst/>
              <a:rect r="r" b="b" t="t" l="l"/>
              <a:pathLst>
                <a:path h="989584" w="20466304">
                  <a:moveTo>
                    <a:pt x="0" y="224028"/>
                  </a:moveTo>
                  <a:cubicBezTo>
                    <a:pt x="0" y="100330"/>
                    <a:pt x="100330" y="0"/>
                    <a:pt x="224028" y="0"/>
                  </a:cubicBezTo>
                  <a:lnTo>
                    <a:pt x="20242276" y="0"/>
                  </a:lnTo>
                  <a:cubicBezTo>
                    <a:pt x="20365974" y="0"/>
                    <a:pt x="20466304" y="100330"/>
                    <a:pt x="20466304" y="224028"/>
                  </a:cubicBezTo>
                  <a:lnTo>
                    <a:pt x="20466304" y="765556"/>
                  </a:lnTo>
                  <a:cubicBezTo>
                    <a:pt x="20466304" y="889254"/>
                    <a:pt x="20365974" y="989584"/>
                    <a:pt x="20242276" y="989584"/>
                  </a:cubicBezTo>
                  <a:lnTo>
                    <a:pt x="224028" y="989584"/>
                  </a:lnTo>
                  <a:cubicBezTo>
                    <a:pt x="100330" y="989584"/>
                    <a:pt x="0" y="889254"/>
                    <a:pt x="0" y="765556"/>
                  </a:cubicBezTo>
                  <a:close/>
                </a:path>
              </a:pathLst>
            </a:custGeom>
            <a:solidFill>
              <a:srgbClr val="EAF5F5"/>
            </a:solidFill>
            <a:ln w="15240" cap="sq">
              <a:solidFill>
                <a:srgbClr val="EAF5F5"/>
              </a:solidFill>
              <a:prstDash val="solid"/>
              <a:miter/>
            </a:ln>
          </p:spPr>
        </p:sp>
      </p:grpSp>
      <p:grpSp>
        <p:nvGrpSpPr>
          <p:cNvPr name="Group 64" id="64"/>
          <p:cNvGrpSpPr/>
          <p:nvPr/>
        </p:nvGrpSpPr>
        <p:grpSpPr>
          <a:xfrm rot="0">
            <a:off x="1769364" y="8078724"/>
            <a:ext cx="14744700" cy="397764"/>
            <a:chOff x="0" y="0"/>
            <a:chExt cx="19659600" cy="530352"/>
          </a:xfrm>
        </p:grpSpPr>
        <p:sp>
          <p:nvSpPr>
            <p:cNvPr name="Freeform 65" id="65"/>
            <p:cNvSpPr/>
            <p:nvPr/>
          </p:nvSpPr>
          <p:spPr>
            <a:xfrm flipH="false" flipV="false" rot="0">
              <a:off x="0" y="0"/>
              <a:ext cx="19659600" cy="530352"/>
            </a:xfrm>
            <a:custGeom>
              <a:avLst/>
              <a:gdLst/>
              <a:ahLst/>
              <a:cxnLst/>
              <a:rect r="r" b="b" t="t" l="l"/>
              <a:pathLst>
                <a:path h="530352" w="19659600">
                  <a:moveTo>
                    <a:pt x="0" y="0"/>
                  </a:moveTo>
                  <a:lnTo>
                    <a:pt x="19659600" y="0"/>
                  </a:lnTo>
                  <a:lnTo>
                    <a:pt x="19659600" y="530352"/>
                  </a:lnTo>
                  <a:lnTo>
                    <a:pt x="0" y="530352"/>
                  </a:lnTo>
                  <a:close/>
                </a:path>
              </a:pathLst>
            </a:custGeom>
            <a:blipFill>
              <a:blip r:embed="rId3">
                <a:alphaModFix amt="0"/>
              </a:blip>
              <a:stretch>
                <a:fillRect l="0" t="-672290" r="0" b="-672290"/>
              </a:stretch>
            </a:blipFill>
          </p:spPr>
        </p:sp>
        <p:sp>
          <p:nvSpPr>
            <p:cNvPr name="TextBox 66" id="66"/>
            <p:cNvSpPr txBox="true"/>
            <p:nvPr/>
          </p:nvSpPr>
          <p:spPr>
            <a:xfrm>
              <a:off x="0" y="-9525"/>
              <a:ext cx="19659600" cy="539877"/>
            </a:xfrm>
            <a:prstGeom prst="rect">
              <a:avLst/>
            </a:prstGeom>
          </p:spPr>
          <p:txBody>
            <a:bodyPr anchor="ctr" rtlCol="false" tIns="0" lIns="0" bIns="0" rIns="0"/>
            <a:lstStyle/>
            <a:p>
              <a:pPr algn="ctr">
                <a:lnSpc>
                  <a:spcPts val="2520"/>
                </a:lnSpc>
              </a:pPr>
              <a:r>
                <a:rPr lang="en-US" sz="2100" b="true">
                  <a:solidFill>
                    <a:srgbClr val="12304C"/>
                  </a:solidFill>
                  <a:latin typeface="Arial Bold"/>
                  <a:ea typeface="Arial Bold"/>
                  <a:cs typeface="Arial Bold"/>
                  <a:sym typeface="Arial Bold"/>
                </a:rPr>
                <a:t>Thông điệp: tổ chức không chỉ cần quy trình bảo mật — còn cần đo được mức vận hành và hiệu quả.</a:t>
              </a:r>
            </a:p>
          </p:txBody>
        </p:sp>
      </p:grpSp>
      <p:grpSp>
        <p:nvGrpSpPr>
          <p:cNvPr name="Group 67" id="67"/>
          <p:cNvGrpSpPr/>
          <p:nvPr/>
        </p:nvGrpSpPr>
        <p:grpSpPr>
          <a:xfrm rot="0">
            <a:off x="1048512" y="8976360"/>
            <a:ext cx="16172688" cy="481584"/>
            <a:chOff x="0" y="0"/>
            <a:chExt cx="21563584" cy="642112"/>
          </a:xfrm>
        </p:grpSpPr>
        <p:sp>
          <p:nvSpPr>
            <p:cNvPr name="Freeform 68" id="68"/>
            <p:cNvSpPr/>
            <p:nvPr/>
          </p:nvSpPr>
          <p:spPr>
            <a:xfrm flipH="false" flipV="false" rot="0">
              <a:off x="0" y="0"/>
              <a:ext cx="21563583" cy="642112"/>
            </a:xfrm>
            <a:custGeom>
              <a:avLst/>
              <a:gdLst/>
              <a:ahLst/>
              <a:cxnLst/>
              <a:rect r="r" b="b" t="t" l="l"/>
              <a:pathLst>
                <a:path h="642112" w="21563583">
                  <a:moveTo>
                    <a:pt x="0" y="226568"/>
                  </a:moveTo>
                  <a:cubicBezTo>
                    <a:pt x="0" y="101473"/>
                    <a:pt x="101473" y="0"/>
                    <a:pt x="226568" y="0"/>
                  </a:cubicBezTo>
                  <a:lnTo>
                    <a:pt x="21337015" y="0"/>
                  </a:lnTo>
                  <a:cubicBezTo>
                    <a:pt x="21462237" y="0"/>
                    <a:pt x="21563583" y="101473"/>
                    <a:pt x="21563583" y="226568"/>
                  </a:cubicBezTo>
                  <a:lnTo>
                    <a:pt x="21563583" y="415544"/>
                  </a:lnTo>
                  <a:cubicBezTo>
                    <a:pt x="21563583" y="540766"/>
                    <a:pt x="21462110" y="642112"/>
                    <a:pt x="21337015" y="642112"/>
                  </a:cubicBezTo>
                  <a:lnTo>
                    <a:pt x="226568" y="642112"/>
                  </a:lnTo>
                  <a:cubicBezTo>
                    <a:pt x="101473" y="642112"/>
                    <a:pt x="0" y="540639"/>
                    <a:pt x="0" y="415544"/>
                  </a:cubicBezTo>
                  <a:close/>
                </a:path>
              </a:pathLst>
            </a:custGeom>
            <a:solidFill>
              <a:srgbClr val="EDF2F8"/>
            </a:solidFill>
            <a:ln w="15240" cap="sq">
              <a:solidFill>
                <a:srgbClr val="EDF2F8"/>
              </a:solidFill>
              <a:prstDash val="solid"/>
              <a:miter/>
            </a:ln>
          </p:spPr>
        </p:sp>
      </p:grpSp>
      <p:grpSp>
        <p:nvGrpSpPr>
          <p:cNvPr name="Group 69" id="69"/>
          <p:cNvGrpSpPr/>
          <p:nvPr/>
        </p:nvGrpSpPr>
        <p:grpSpPr>
          <a:xfrm rot="0">
            <a:off x="1261872" y="9079992"/>
            <a:ext cx="15663672" cy="219456"/>
            <a:chOff x="0" y="0"/>
            <a:chExt cx="20884896" cy="292608"/>
          </a:xfrm>
        </p:grpSpPr>
        <p:sp>
          <p:nvSpPr>
            <p:cNvPr name="Freeform 70" id="70"/>
            <p:cNvSpPr/>
            <p:nvPr/>
          </p:nvSpPr>
          <p:spPr>
            <a:xfrm flipH="false" flipV="false" rot="0">
              <a:off x="0" y="0"/>
              <a:ext cx="20884896" cy="292608"/>
            </a:xfrm>
            <a:custGeom>
              <a:avLst/>
              <a:gdLst/>
              <a:ahLst/>
              <a:cxnLst/>
              <a:rect r="r" b="b" t="t" l="l"/>
              <a:pathLst>
                <a:path h="292608" w="20884896">
                  <a:moveTo>
                    <a:pt x="0" y="0"/>
                  </a:moveTo>
                  <a:lnTo>
                    <a:pt x="20884896" y="0"/>
                  </a:lnTo>
                  <a:lnTo>
                    <a:pt x="20884896" y="292608"/>
                  </a:lnTo>
                  <a:lnTo>
                    <a:pt x="0" y="292608"/>
                  </a:lnTo>
                  <a:close/>
                </a:path>
              </a:pathLst>
            </a:custGeom>
            <a:blipFill>
              <a:blip r:embed="rId3">
                <a:alphaModFix amt="0"/>
              </a:blip>
              <a:stretch>
                <a:fillRect l="0" t="-1340744" r="0" b="-1340744"/>
              </a:stretch>
            </a:blipFill>
          </p:spPr>
        </p:sp>
        <p:sp>
          <p:nvSpPr>
            <p:cNvPr name="TextBox 71" id="71"/>
            <p:cNvSpPr txBox="true"/>
            <p:nvPr/>
          </p:nvSpPr>
          <p:spPr>
            <a:xfrm>
              <a:off x="0" y="-19050"/>
              <a:ext cx="20884896" cy="311658"/>
            </a:xfrm>
            <a:prstGeom prst="rect">
              <a:avLst/>
            </a:prstGeom>
          </p:spPr>
          <p:txBody>
            <a:bodyPr anchor="ctr" rtlCol="false" tIns="0" lIns="0" bIns="0" rIns="0"/>
            <a:lstStyle/>
            <a:p>
              <a:pPr algn="l">
                <a:lnSpc>
                  <a:spcPts val="1638"/>
                </a:lnSpc>
              </a:pPr>
              <a:r>
                <a:rPr lang="en-US" sz="1364">
                  <a:solidFill>
                    <a:srgbClr val="50677D"/>
                  </a:solidFill>
                  <a:latin typeface="Arial"/>
                  <a:ea typeface="Arial"/>
                  <a:cs typeface="Arial"/>
                  <a:sym typeface="Arial"/>
                </a:rPr>
                <a:t>Nguồn: Abstract — bài báo gốc (dịch ý, không phải trích nguyên văn từng câu).</a:t>
              </a:r>
            </a:p>
          </p:txBody>
        </p:sp>
      </p:gr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5F8FB"/>
        </a:solidFill>
      </p:bgPr>
    </p:bg>
    <p:spTree>
      <p:nvGrpSpPr>
        <p:cNvPr id="1" name=""/>
        <p:cNvGrpSpPr/>
        <p:nvPr/>
      </p:nvGrpSpPr>
      <p:grpSpPr>
        <a:xfrm>
          <a:off x="0" y="0"/>
          <a:ext cx="0" cy="0"/>
          <a:chOff x="0" y="0"/>
          <a:chExt cx="0" cy="0"/>
        </a:xfrm>
      </p:grpSpPr>
      <p:grpSp>
        <p:nvGrpSpPr>
          <p:cNvPr name="Group 2" id="2"/>
          <p:cNvGrpSpPr/>
          <p:nvPr/>
        </p:nvGrpSpPr>
        <p:grpSpPr>
          <a:xfrm rot="0">
            <a:off x="-9525" y="-9525"/>
            <a:ext cx="163068" cy="10306050"/>
            <a:chOff x="0" y="0"/>
            <a:chExt cx="217424" cy="13741400"/>
          </a:xfrm>
        </p:grpSpPr>
        <p:sp>
          <p:nvSpPr>
            <p:cNvPr name="Freeform 3" id="3"/>
            <p:cNvSpPr/>
            <p:nvPr/>
          </p:nvSpPr>
          <p:spPr>
            <a:xfrm flipH="false" flipV="false" rot="0">
              <a:off x="0" y="0"/>
              <a:ext cx="217424" cy="13741400"/>
            </a:xfrm>
            <a:custGeom>
              <a:avLst/>
              <a:gdLst/>
              <a:ahLst/>
              <a:cxnLst/>
              <a:rect r="r" b="b" t="t" l="l"/>
              <a:pathLst>
                <a:path h="13741400" w="217424">
                  <a:moveTo>
                    <a:pt x="0" y="0"/>
                  </a:moveTo>
                  <a:lnTo>
                    <a:pt x="217424" y="0"/>
                  </a:lnTo>
                  <a:lnTo>
                    <a:pt x="217424" y="13741400"/>
                  </a:lnTo>
                  <a:lnTo>
                    <a:pt x="0" y="13741400"/>
                  </a:lnTo>
                  <a:close/>
                </a:path>
              </a:pathLst>
            </a:custGeom>
            <a:solidFill>
              <a:srgbClr val="137E82"/>
            </a:solidFill>
          </p:spPr>
        </p:sp>
      </p:grpSp>
      <p:grpSp>
        <p:nvGrpSpPr>
          <p:cNvPr name="Group 4" id="4"/>
          <p:cNvGrpSpPr/>
          <p:nvPr/>
        </p:nvGrpSpPr>
        <p:grpSpPr>
          <a:xfrm rot="0">
            <a:off x="987552" y="329184"/>
            <a:ext cx="15087600" cy="342900"/>
            <a:chOff x="0" y="0"/>
            <a:chExt cx="20116800" cy="457200"/>
          </a:xfrm>
        </p:grpSpPr>
        <p:sp>
          <p:nvSpPr>
            <p:cNvPr name="Freeform 5" id="5"/>
            <p:cNvSpPr/>
            <p:nvPr/>
          </p:nvSpPr>
          <p:spPr>
            <a:xfrm flipH="false" flipV="false" rot="0">
              <a:off x="0" y="0"/>
              <a:ext cx="20116800" cy="457200"/>
            </a:xfrm>
            <a:custGeom>
              <a:avLst/>
              <a:gdLst/>
              <a:ahLst/>
              <a:cxnLst/>
              <a:rect r="r" b="b" t="t" l="l"/>
              <a:pathLst>
                <a:path h="457200" w="20116800">
                  <a:moveTo>
                    <a:pt x="0" y="0"/>
                  </a:moveTo>
                  <a:lnTo>
                    <a:pt x="20116800" y="0"/>
                  </a:lnTo>
                  <a:lnTo>
                    <a:pt x="20116800" y="457200"/>
                  </a:lnTo>
                  <a:lnTo>
                    <a:pt x="0" y="457200"/>
                  </a:lnTo>
                  <a:close/>
                </a:path>
              </a:pathLst>
            </a:custGeom>
            <a:blipFill>
              <a:blip r:embed="rId3">
                <a:alphaModFix amt="0"/>
              </a:blip>
              <a:stretch>
                <a:fillRect l="0" t="-807341" r="0" b="-807341"/>
              </a:stretch>
            </a:blipFill>
          </p:spPr>
        </p:sp>
        <p:sp>
          <p:nvSpPr>
            <p:cNvPr name="TextBox 6" id="6"/>
            <p:cNvSpPr txBox="true"/>
            <p:nvPr/>
          </p:nvSpPr>
          <p:spPr>
            <a:xfrm>
              <a:off x="0" y="-9525"/>
              <a:ext cx="20116800" cy="466725"/>
            </a:xfrm>
            <a:prstGeom prst="rect">
              <a:avLst/>
            </a:prstGeom>
          </p:spPr>
          <p:txBody>
            <a:bodyPr anchor="ctr" rtlCol="false" tIns="0" lIns="0" bIns="0" rIns="0"/>
            <a:lstStyle/>
            <a:p>
              <a:pPr algn="l">
                <a:lnSpc>
                  <a:spcPts val="1745"/>
                </a:lnSpc>
              </a:pPr>
              <a:r>
                <a:rPr lang="en-US" b="true" sz="1455" spc="239">
                  <a:solidFill>
                    <a:srgbClr val="137E82"/>
                  </a:solidFill>
                  <a:latin typeface="Arial Bold"/>
                  <a:ea typeface="Arial Bold"/>
                  <a:cs typeface="Arial Bold"/>
                  <a:sym typeface="Arial Bold"/>
                </a:rPr>
                <a:t>DỊCH Ý CÁC ĐIỂM MẤU CHỐT</a:t>
              </a:r>
            </a:p>
          </p:txBody>
        </p:sp>
      </p:grpSp>
      <p:grpSp>
        <p:nvGrpSpPr>
          <p:cNvPr name="Group 7" id="7"/>
          <p:cNvGrpSpPr/>
          <p:nvPr/>
        </p:nvGrpSpPr>
        <p:grpSpPr>
          <a:xfrm rot="0">
            <a:off x="987552" y="946404"/>
            <a:ext cx="16459200" cy="781812"/>
            <a:chOff x="0" y="0"/>
            <a:chExt cx="21945600" cy="1042416"/>
          </a:xfrm>
        </p:grpSpPr>
        <p:sp>
          <p:nvSpPr>
            <p:cNvPr name="Freeform 8" id="8"/>
            <p:cNvSpPr/>
            <p:nvPr/>
          </p:nvSpPr>
          <p:spPr>
            <a:xfrm flipH="false" flipV="false" rot="0">
              <a:off x="0" y="0"/>
              <a:ext cx="21945600" cy="1042416"/>
            </a:xfrm>
            <a:custGeom>
              <a:avLst/>
              <a:gdLst/>
              <a:ahLst/>
              <a:cxnLst/>
              <a:rect r="r" b="b" t="t" l="l"/>
              <a:pathLst>
                <a:path h="1042416" w="21945600">
                  <a:moveTo>
                    <a:pt x="0" y="0"/>
                  </a:moveTo>
                  <a:lnTo>
                    <a:pt x="21945600" y="0"/>
                  </a:lnTo>
                  <a:lnTo>
                    <a:pt x="21945600" y="1042416"/>
                  </a:lnTo>
                  <a:lnTo>
                    <a:pt x="0" y="1042416"/>
                  </a:lnTo>
                  <a:close/>
                </a:path>
              </a:pathLst>
            </a:custGeom>
            <a:blipFill>
              <a:blip r:embed="rId3">
                <a:alphaModFix amt="0"/>
              </a:blip>
              <a:stretch>
                <a:fillRect l="0" t="-360211" r="0" b="-360211"/>
              </a:stretch>
            </a:blipFill>
          </p:spPr>
        </p:sp>
        <p:sp>
          <p:nvSpPr>
            <p:cNvPr name="TextBox 9" id="9"/>
            <p:cNvSpPr txBox="true"/>
            <p:nvPr/>
          </p:nvSpPr>
          <p:spPr>
            <a:xfrm>
              <a:off x="0" y="-28575"/>
              <a:ext cx="21945600" cy="1070991"/>
            </a:xfrm>
            <a:prstGeom prst="rect">
              <a:avLst/>
            </a:prstGeom>
          </p:spPr>
          <p:txBody>
            <a:bodyPr anchor="ctr" rtlCol="false" tIns="0" lIns="0" bIns="0" rIns="0"/>
            <a:lstStyle/>
            <a:p>
              <a:pPr algn="l">
                <a:lnSpc>
                  <a:spcPts val="4410"/>
                </a:lnSpc>
              </a:pPr>
              <a:r>
                <a:rPr lang="en-US" sz="3675" b="true">
                  <a:solidFill>
                    <a:srgbClr val="12304C"/>
                  </a:solidFill>
                  <a:latin typeface="Arial Bold"/>
                  <a:ea typeface="Arial Bold"/>
                  <a:cs typeface="Arial Bold"/>
                  <a:sym typeface="Arial Bold"/>
                </a:rPr>
                <a:t>Introduction &amp; Research background</a:t>
              </a:r>
            </a:p>
          </p:txBody>
        </p:sp>
      </p:grpSp>
      <p:grpSp>
        <p:nvGrpSpPr>
          <p:cNvPr name="Group 10" id="10"/>
          <p:cNvGrpSpPr/>
          <p:nvPr/>
        </p:nvGrpSpPr>
        <p:grpSpPr>
          <a:xfrm rot="0">
            <a:off x="1014984" y="1796796"/>
            <a:ext cx="16322040" cy="480060"/>
            <a:chOff x="0" y="0"/>
            <a:chExt cx="21762720" cy="640080"/>
          </a:xfrm>
        </p:grpSpPr>
        <p:sp>
          <p:nvSpPr>
            <p:cNvPr name="Freeform 11" id="11"/>
            <p:cNvSpPr/>
            <p:nvPr/>
          </p:nvSpPr>
          <p:spPr>
            <a:xfrm flipH="false" flipV="false" rot="0">
              <a:off x="0" y="0"/>
              <a:ext cx="21762720" cy="640080"/>
            </a:xfrm>
            <a:custGeom>
              <a:avLst/>
              <a:gdLst/>
              <a:ahLst/>
              <a:cxnLst/>
              <a:rect r="r" b="b" t="t" l="l"/>
              <a:pathLst>
                <a:path h="640080" w="21762720">
                  <a:moveTo>
                    <a:pt x="0" y="0"/>
                  </a:moveTo>
                  <a:lnTo>
                    <a:pt x="21762720" y="0"/>
                  </a:lnTo>
                  <a:lnTo>
                    <a:pt x="21762720" y="640080"/>
                  </a:lnTo>
                  <a:lnTo>
                    <a:pt x="0" y="640080"/>
                  </a:lnTo>
                  <a:close/>
                </a:path>
              </a:pathLst>
            </a:custGeom>
            <a:blipFill>
              <a:blip r:embed="rId3">
                <a:alphaModFix amt="0"/>
              </a:blip>
              <a:stretch>
                <a:fillRect l="0" t="-612491" r="0" b="-612491"/>
              </a:stretch>
            </a:blipFill>
          </p:spPr>
        </p:sp>
        <p:sp>
          <p:nvSpPr>
            <p:cNvPr name="TextBox 12" id="12"/>
            <p:cNvSpPr txBox="true"/>
            <p:nvPr/>
          </p:nvSpPr>
          <p:spPr>
            <a:xfrm>
              <a:off x="0" y="-19050"/>
              <a:ext cx="21762720" cy="659130"/>
            </a:xfrm>
            <a:prstGeom prst="rect">
              <a:avLst/>
            </a:prstGeom>
          </p:spPr>
          <p:txBody>
            <a:bodyPr anchor="ctr" rtlCol="false" tIns="0" lIns="0" bIns="0" rIns="0"/>
            <a:lstStyle/>
            <a:p>
              <a:pPr algn="l">
                <a:lnSpc>
                  <a:spcPts val="2322"/>
                </a:lnSpc>
              </a:pPr>
              <a:r>
                <a:rPr lang="en-US" sz="1935">
                  <a:solidFill>
                    <a:srgbClr val="50677D"/>
                  </a:solidFill>
                  <a:latin typeface="Arial"/>
                  <a:ea typeface="Arial"/>
                  <a:cs typeface="Arial"/>
                  <a:sym typeface="Arial"/>
                </a:rPr>
                <a:t>Giới thiệu + Bối cảnh: lý do cần một mô hình quy trình chung</a:t>
              </a:r>
            </a:p>
          </p:txBody>
        </p:sp>
      </p:grpSp>
      <p:sp>
        <p:nvSpPr>
          <p:cNvPr name="AutoShape 13" id="13"/>
          <p:cNvSpPr/>
          <p:nvPr/>
        </p:nvSpPr>
        <p:spPr>
          <a:xfrm rot="4020">
            <a:off x="991733" y="9692450"/>
            <a:ext cx="16272520" cy="0"/>
          </a:xfrm>
          <a:prstGeom prst="line">
            <a:avLst/>
          </a:prstGeom>
          <a:ln cap="rnd" w="9525">
            <a:solidFill>
              <a:srgbClr val="DEE7EE"/>
            </a:solidFill>
            <a:prstDash val="solid"/>
            <a:headEnd type="none" len="sm" w="sm"/>
            <a:tailEnd type="none" len="sm" w="sm"/>
          </a:ln>
        </p:spPr>
      </p:sp>
      <p:grpSp>
        <p:nvGrpSpPr>
          <p:cNvPr name="Group 14" id="14"/>
          <p:cNvGrpSpPr/>
          <p:nvPr/>
        </p:nvGrpSpPr>
        <p:grpSpPr>
          <a:xfrm rot="0">
            <a:off x="1014984" y="9779508"/>
            <a:ext cx="14703552" cy="274320"/>
            <a:chOff x="0" y="0"/>
            <a:chExt cx="19604736" cy="365760"/>
          </a:xfrm>
        </p:grpSpPr>
        <p:sp>
          <p:nvSpPr>
            <p:cNvPr name="Freeform 15" id="15"/>
            <p:cNvSpPr/>
            <p:nvPr/>
          </p:nvSpPr>
          <p:spPr>
            <a:xfrm flipH="false" flipV="false" rot="0">
              <a:off x="0" y="0"/>
              <a:ext cx="19604737" cy="365760"/>
            </a:xfrm>
            <a:custGeom>
              <a:avLst/>
              <a:gdLst/>
              <a:ahLst/>
              <a:cxnLst/>
              <a:rect r="r" b="b" t="t" l="l"/>
              <a:pathLst>
                <a:path h="365760" w="19604737">
                  <a:moveTo>
                    <a:pt x="0" y="0"/>
                  </a:moveTo>
                  <a:lnTo>
                    <a:pt x="19604737" y="0"/>
                  </a:lnTo>
                  <a:lnTo>
                    <a:pt x="19604737" y="365760"/>
                  </a:lnTo>
                  <a:lnTo>
                    <a:pt x="0" y="365760"/>
                  </a:lnTo>
                  <a:close/>
                </a:path>
              </a:pathLst>
            </a:custGeom>
            <a:blipFill>
              <a:blip r:embed="rId3">
                <a:alphaModFix amt="0"/>
              </a:blip>
              <a:stretch>
                <a:fillRect l="0" t="-994398" r="0" b="-994398"/>
              </a:stretch>
            </a:blipFill>
          </p:spPr>
        </p:sp>
        <p:sp>
          <p:nvSpPr>
            <p:cNvPr name="TextBox 16" id="16"/>
            <p:cNvSpPr txBox="true"/>
            <p:nvPr/>
          </p:nvSpPr>
          <p:spPr>
            <a:xfrm>
              <a:off x="0" y="-9525"/>
              <a:ext cx="19604736" cy="375285"/>
            </a:xfrm>
            <a:prstGeom prst="rect">
              <a:avLst/>
            </a:prstGeom>
          </p:spPr>
          <p:txBody>
            <a:bodyPr anchor="ctr" rtlCol="false" tIns="0" lIns="0" bIns="0" rIns="0"/>
            <a:lstStyle/>
            <a:p>
              <a:pPr algn="l">
                <a:lnSpc>
                  <a:spcPts val="1494"/>
                </a:lnSpc>
              </a:pPr>
              <a:r>
                <a:rPr lang="en-US" sz="1245">
                  <a:solidFill>
                    <a:srgbClr val="50677D"/>
                  </a:solidFill>
                  <a:latin typeface="Arial"/>
                  <a:ea typeface="Arial"/>
                  <a:cs typeface="Arial"/>
                  <a:sym typeface="Arial"/>
                </a:rPr>
                <a:t>Liu và cộng sự (2025)  |  doi.org/10.1093/cybsec/tyaf020</a:t>
              </a:r>
            </a:p>
          </p:txBody>
        </p:sp>
      </p:grpSp>
      <p:grpSp>
        <p:nvGrpSpPr>
          <p:cNvPr name="Group 17" id="17"/>
          <p:cNvGrpSpPr/>
          <p:nvPr/>
        </p:nvGrpSpPr>
        <p:grpSpPr>
          <a:xfrm rot="0">
            <a:off x="16184880" y="9779508"/>
            <a:ext cx="1001268" cy="274320"/>
            <a:chOff x="0" y="0"/>
            <a:chExt cx="1335024" cy="365760"/>
          </a:xfrm>
        </p:grpSpPr>
        <p:sp>
          <p:nvSpPr>
            <p:cNvPr name="Freeform 18" id="18"/>
            <p:cNvSpPr/>
            <p:nvPr/>
          </p:nvSpPr>
          <p:spPr>
            <a:xfrm flipH="false" flipV="false" rot="0">
              <a:off x="0" y="0"/>
              <a:ext cx="1335024" cy="365760"/>
            </a:xfrm>
            <a:custGeom>
              <a:avLst/>
              <a:gdLst/>
              <a:ahLst/>
              <a:cxnLst/>
              <a:rect r="r" b="b" t="t" l="l"/>
              <a:pathLst>
                <a:path h="365760" w="1335024">
                  <a:moveTo>
                    <a:pt x="0" y="0"/>
                  </a:moveTo>
                  <a:lnTo>
                    <a:pt x="1335024" y="0"/>
                  </a:lnTo>
                  <a:lnTo>
                    <a:pt x="1335024" y="365760"/>
                  </a:lnTo>
                  <a:lnTo>
                    <a:pt x="0" y="365760"/>
                  </a:lnTo>
                  <a:close/>
                </a:path>
              </a:pathLst>
            </a:custGeom>
            <a:blipFill>
              <a:blip r:embed="rId3">
                <a:alphaModFix amt="0"/>
              </a:blip>
              <a:stretch>
                <a:fillRect l="0" t="-21120" r="0" b="-21120"/>
              </a:stretch>
            </a:blipFill>
          </p:spPr>
        </p:sp>
        <p:sp>
          <p:nvSpPr>
            <p:cNvPr name="TextBox 19" id="19"/>
            <p:cNvSpPr txBox="true"/>
            <p:nvPr/>
          </p:nvSpPr>
          <p:spPr>
            <a:xfrm>
              <a:off x="0" y="-9525"/>
              <a:ext cx="1335024" cy="375285"/>
            </a:xfrm>
            <a:prstGeom prst="rect">
              <a:avLst/>
            </a:prstGeom>
          </p:spPr>
          <p:txBody>
            <a:bodyPr anchor="ctr" rtlCol="false" tIns="0" lIns="0" bIns="0" rIns="0"/>
            <a:lstStyle/>
            <a:p>
              <a:pPr algn="r">
                <a:lnSpc>
                  <a:spcPts val="1494"/>
                </a:lnSpc>
              </a:pPr>
              <a:r>
                <a:rPr lang="en-US" sz="1245">
                  <a:solidFill>
                    <a:srgbClr val="50677D"/>
                  </a:solidFill>
                  <a:latin typeface="Arial"/>
                  <a:ea typeface="Arial"/>
                  <a:cs typeface="Arial"/>
                  <a:sym typeface="Arial"/>
                </a:rPr>
                <a:t>03 / 14</a:t>
              </a:r>
            </a:p>
          </p:txBody>
        </p:sp>
      </p:grpSp>
      <p:grpSp>
        <p:nvGrpSpPr>
          <p:cNvPr name="Group 20" id="20"/>
          <p:cNvGrpSpPr/>
          <p:nvPr/>
        </p:nvGrpSpPr>
        <p:grpSpPr>
          <a:xfrm rot="0">
            <a:off x="1117092" y="2721864"/>
            <a:ext cx="7901940" cy="5199888"/>
            <a:chOff x="0" y="0"/>
            <a:chExt cx="10535920" cy="6933184"/>
          </a:xfrm>
        </p:grpSpPr>
        <p:sp>
          <p:nvSpPr>
            <p:cNvPr name="Freeform 21" id="21"/>
            <p:cNvSpPr/>
            <p:nvPr/>
          </p:nvSpPr>
          <p:spPr>
            <a:xfrm flipH="false" flipV="false" rot="0">
              <a:off x="0" y="0"/>
              <a:ext cx="10535920" cy="6933185"/>
            </a:xfrm>
            <a:custGeom>
              <a:avLst/>
              <a:gdLst/>
              <a:ahLst/>
              <a:cxnLst/>
              <a:rect r="r" b="b" t="t" l="l"/>
              <a:pathLst>
                <a:path h="6933185" w="10535920">
                  <a:moveTo>
                    <a:pt x="0" y="220091"/>
                  </a:moveTo>
                  <a:cubicBezTo>
                    <a:pt x="0" y="98552"/>
                    <a:pt x="98552" y="0"/>
                    <a:pt x="220091" y="0"/>
                  </a:cubicBezTo>
                  <a:lnTo>
                    <a:pt x="10315829" y="0"/>
                  </a:lnTo>
                  <a:cubicBezTo>
                    <a:pt x="10437368" y="0"/>
                    <a:pt x="10535920" y="98552"/>
                    <a:pt x="10535920" y="220091"/>
                  </a:cubicBezTo>
                  <a:lnTo>
                    <a:pt x="10535920" y="6713093"/>
                  </a:lnTo>
                  <a:cubicBezTo>
                    <a:pt x="10535920" y="6834632"/>
                    <a:pt x="10437368" y="6933185"/>
                    <a:pt x="10315829" y="6933185"/>
                  </a:cubicBezTo>
                  <a:lnTo>
                    <a:pt x="220091" y="6933185"/>
                  </a:lnTo>
                  <a:cubicBezTo>
                    <a:pt x="98552" y="6933184"/>
                    <a:pt x="0" y="6834632"/>
                    <a:pt x="0" y="6713093"/>
                  </a:cubicBezTo>
                  <a:close/>
                </a:path>
              </a:pathLst>
            </a:custGeom>
            <a:solidFill>
              <a:srgbClr val="FFFFFF"/>
            </a:solidFill>
            <a:ln w="15240" cap="sq">
              <a:solidFill>
                <a:srgbClr val="DEE7EE"/>
              </a:solidFill>
              <a:prstDash val="solid"/>
              <a:miter/>
            </a:ln>
          </p:spPr>
        </p:sp>
      </p:grpSp>
      <p:grpSp>
        <p:nvGrpSpPr>
          <p:cNvPr name="Group 22" id="22"/>
          <p:cNvGrpSpPr/>
          <p:nvPr/>
        </p:nvGrpSpPr>
        <p:grpSpPr>
          <a:xfrm rot="0">
            <a:off x="1522476" y="3044952"/>
            <a:ext cx="7063740" cy="370332"/>
            <a:chOff x="0" y="0"/>
            <a:chExt cx="9418320" cy="493776"/>
          </a:xfrm>
        </p:grpSpPr>
        <p:sp>
          <p:nvSpPr>
            <p:cNvPr name="Freeform 23" id="23"/>
            <p:cNvSpPr/>
            <p:nvPr/>
          </p:nvSpPr>
          <p:spPr>
            <a:xfrm flipH="false" flipV="false" rot="0">
              <a:off x="0" y="0"/>
              <a:ext cx="9418320" cy="493776"/>
            </a:xfrm>
            <a:custGeom>
              <a:avLst/>
              <a:gdLst/>
              <a:ahLst/>
              <a:cxnLst/>
              <a:rect r="r" b="b" t="t" l="l"/>
              <a:pathLst>
                <a:path h="493776" w="9418320">
                  <a:moveTo>
                    <a:pt x="0" y="0"/>
                  </a:moveTo>
                  <a:lnTo>
                    <a:pt x="9418320" y="0"/>
                  </a:lnTo>
                  <a:lnTo>
                    <a:pt x="9418320" y="493776"/>
                  </a:lnTo>
                  <a:lnTo>
                    <a:pt x="0" y="493776"/>
                  </a:lnTo>
                  <a:close/>
                </a:path>
              </a:pathLst>
            </a:custGeom>
            <a:blipFill>
              <a:blip r:embed="rId3">
                <a:alphaModFix amt="0"/>
              </a:blip>
              <a:stretch>
                <a:fillRect l="0" t="-321659" r="0" b="-321659"/>
              </a:stretch>
            </a:blipFill>
          </p:spPr>
        </p:sp>
        <p:sp>
          <p:nvSpPr>
            <p:cNvPr name="TextBox 24" id="24"/>
            <p:cNvSpPr txBox="true"/>
            <p:nvPr/>
          </p:nvSpPr>
          <p:spPr>
            <a:xfrm>
              <a:off x="0" y="-19050"/>
              <a:ext cx="9418320" cy="512826"/>
            </a:xfrm>
            <a:prstGeom prst="rect">
              <a:avLst/>
            </a:prstGeom>
          </p:spPr>
          <p:txBody>
            <a:bodyPr anchor="ctr" rtlCol="false" tIns="0" lIns="0" bIns="0" rIns="0"/>
            <a:lstStyle/>
            <a:p>
              <a:pPr algn="l">
                <a:lnSpc>
                  <a:spcPts val="1907"/>
                </a:lnSpc>
              </a:pPr>
              <a:r>
                <a:rPr lang="en-US" sz="1589" b="true">
                  <a:solidFill>
                    <a:srgbClr val="137E82"/>
                  </a:solidFill>
                  <a:latin typeface="Arial Bold"/>
                  <a:ea typeface="Arial Bold"/>
                  <a:cs typeface="Arial Bold"/>
                  <a:sym typeface="Arial Bold"/>
                </a:rPr>
                <a:t>EXISTING APPROACHES</a:t>
              </a:r>
            </a:p>
          </p:txBody>
        </p:sp>
      </p:grpSp>
      <p:grpSp>
        <p:nvGrpSpPr>
          <p:cNvPr name="Group 25" id="25"/>
          <p:cNvGrpSpPr/>
          <p:nvPr/>
        </p:nvGrpSpPr>
        <p:grpSpPr>
          <a:xfrm rot="0">
            <a:off x="1522476" y="3429000"/>
            <a:ext cx="7063740" cy="630936"/>
            <a:chOff x="0" y="0"/>
            <a:chExt cx="9418320" cy="841248"/>
          </a:xfrm>
        </p:grpSpPr>
        <p:sp>
          <p:nvSpPr>
            <p:cNvPr name="Freeform 26" id="26"/>
            <p:cNvSpPr/>
            <p:nvPr/>
          </p:nvSpPr>
          <p:spPr>
            <a:xfrm flipH="false" flipV="false" rot="0">
              <a:off x="0" y="0"/>
              <a:ext cx="9418320" cy="841248"/>
            </a:xfrm>
            <a:custGeom>
              <a:avLst/>
              <a:gdLst/>
              <a:ahLst/>
              <a:cxnLst/>
              <a:rect r="r" b="b" t="t" l="l"/>
              <a:pathLst>
                <a:path h="841248" w="9418320">
                  <a:moveTo>
                    <a:pt x="0" y="0"/>
                  </a:moveTo>
                  <a:lnTo>
                    <a:pt x="9418320" y="0"/>
                  </a:lnTo>
                  <a:lnTo>
                    <a:pt x="9418320" y="841248"/>
                  </a:lnTo>
                  <a:lnTo>
                    <a:pt x="0" y="841248"/>
                  </a:lnTo>
                  <a:close/>
                </a:path>
              </a:pathLst>
            </a:custGeom>
            <a:blipFill>
              <a:blip r:embed="rId3">
                <a:alphaModFix amt="0"/>
              </a:blip>
              <a:stretch>
                <a:fillRect l="0" t="-168147" r="0" b="-168147"/>
              </a:stretch>
            </a:blipFill>
          </p:spPr>
        </p:sp>
        <p:sp>
          <p:nvSpPr>
            <p:cNvPr name="TextBox 27" id="27"/>
            <p:cNvSpPr txBox="true"/>
            <p:nvPr/>
          </p:nvSpPr>
          <p:spPr>
            <a:xfrm>
              <a:off x="0" y="-19050"/>
              <a:ext cx="9418320" cy="860298"/>
            </a:xfrm>
            <a:prstGeom prst="rect">
              <a:avLst/>
            </a:prstGeom>
          </p:spPr>
          <p:txBody>
            <a:bodyPr anchor="ctr" rtlCol="false" tIns="0" lIns="0" bIns="0" rIns="0"/>
            <a:lstStyle/>
            <a:p>
              <a:pPr algn="l">
                <a:lnSpc>
                  <a:spcPts val="3419"/>
                </a:lnSpc>
              </a:pPr>
              <a:r>
                <a:rPr lang="en-US" sz="2850" b="true">
                  <a:solidFill>
                    <a:srgbClr val="12304C"/>
                  </a:solidFill>
                  <a:latin typeface="Arial Bold"/>
                  <a:ea typeface="Arial Bold"/>
                  <a:cs typeface="Arial Bold"/>
                  <a:sym typeface="Arial Bold"/>
                </a:rPr>
                <a:t>Những khuôn khổ đang được sử dụng</a:t>
              </a:r>
            </a:p>
          </p:txBody>
        </p:sp>
      </p:grpSp>
      <p:grpSp>
        <p:nvGrpSpPr>
          <p:cNvPr name="Group 28" id="28"/>
          <p:cNvGrpSpPr/>
          <p:nvPr/>
        </p:nvGrpSpPr>
        <p:grpSpPr>
          <a:xfrm rot="0">
            <a:off x="1591056" y="4224528"/>
            <a:ext cx="2331720" cy="452628"/>
            <a:chOff x="0" y="0"/>
            <a:chExt cx="3108960" cy="603504"/>
          </a:xfrm>
        </p:grpSpPr>
        <p:sp>
          <p:nvSpPr>
            <p:cNvPr name="Freeform 29" id="29"/>
            <p:cNvSpPr/>
            <p:nvPr/>
          </p:nvSpPr>
          <p:spPr>
            <a:xfrm flipH="false" flipV="false" rot="0">
              <a:off x="0" y="0"/>
              <a:ext cx="3108960" cy="603504"/>
            </a:xfrm>
            <a:custGeom>
              <a:avLst/>
              <a:gdLst/>
              <a:ahLst/>
              <a:cxnLst/>
              <a:rect r="r" b="b" t="t" l="l"/>
              <a:pathLst>
                <a:path h="603504" w="3108960">
                  <a:moveTo>
                    <a:pt x="0" y="0"/>
                  </a:moveTo>
                  <a:lnTo>
                    <a:pt x="3108960" y="0"/>
                  </a:lnTo>
                  <a:lnTo>
                    <a:pt x="3108960" y="603504"/>
                  </a:lnTo>
                  <a:lnTo>
                    <a:pt x="0" y="603504"/>
                  </a:lnTo>
                  <a:close/>
                </a:path>
              </a:pathLst>
            </a:custGeom>
            <a:blipFill>
              <a:blip r:embed="rId3">
                <a:alphaModFix amt="0"/>
              </a:blip>
              <a:stretch>
                <a:fillRect l="0" t="-50377" r="0" b="-50377"/>
              </a:stretch>
            </a:blipFill>
          </p:spPr>
        </p:sp>
        <p:sp>
          <p:nvSpPr>
            <p:cNvPr name="TextBox 30" id="30"/>
            <p:cNvSpPr txBox="true"/>
            <p:nvPr/>
          </p:nvSpPr>
          <p:spPr>
            <a:xfrm>
              <a:off x="0" y="-19050"/>
              <a:ext cx="3108960" cy="622554"/>
            </a:xfrm>
            <a:prstGeom prst="rect">
              <a:avLst/>
            </a:prstGeom>
          </p:spPr>
          <p:txBody>
            <a:bodyPr anchor="ctr" rtlCol="false" tIns="0" lIns="0" bIns="0" rIns="0"/>
            <a:lstStyle/>
            <a:p>
              <a:pPr algn="l">
                <a:lnSpc>
                  <a:spcPts val="2754"/>
                </a:lnSpc>
              </a:pPr>
              <a:r>
                <a:rPr lang="en-US" sz="2295" b="true">
                  <a:solidFill>
                    <a:srgbClr val="137E82"/>
                  </a:solidFill>
                  <a:latin typeface="Arial Bold"/>
                  <a:ea typeface="Arial Bold"/>
                  <a:cs typeface="Arial Bold"/>
                  <a:sym typeface="Arial Bold"/>
                </a:rPr>
                <a:t>ISO 27001</a:t>
              </a:r>
            </a:p>
          </p:txBody>
        </p:sp>
      </p:grpSp>
      <p:grpSp>
        <p:nvGrpSpPr>
          <p:cNvPr name="Group 31" id="31"/>
          <p:cNvGrpSpPr/>
          <p:nvPr/>
        </p:nvGrpSpPr>
        <p:grpSpPr>
          <a:xfrm rot="0">
            <a:off x="3977640" y="4251960"/>
            <a:ext cx="4526280" cy="644652"/>
            <a:chOff x="0" y="0"/>
            <a:chExt cx="6035040" cy="859536"/>
          </a:xfrm>
        </p:grpSpPr>
        <p:sp>
          <p:nvSpPr>
            <p:cNvPr name="Freeform 32" id="32"/>
            <p:cNvSpPr/>
            <p:nvPr/>
          </p:nvSpPr>
          <p:spPr>
            <a:xfrm flipH="false" flipV="false" rot="0">
              <a:off x="0" y="0"/>
              <a:ext cx="6035040" cy="859536"/>
            </a:xfrm>
            <a:custGeom>
              <a:avLst/>
              <a:gdLst/>
              <a:ahLst/>
              <a:cxnLst/>
              <a:rect r="r" b="b" t="t" l="l"/>
              <a:pathLst>
                <a:path h="859536" w="6035040">
                  <a:moveTo>
                    <a:pt x="0" y="0"/>
                  </a:moveTo>
                  <a:lnTo>
                    <a:pt x="6035040" y="0"/>
                  </a:lnTo>
                  <a:lnTo>
                    <a:pt x="6035040" y="859536"/>
                  </a:lnTo>
                  <a:lnTo>
                    <a:pt x="0" y="859536"/>
                  </a:lnTo>
                  <a:close/>
                </a:path>
              </a:pathLst>
            </a:custGeom>
            <a:blipFill>
              <a:blip r:embed="rId3">
                <a:alphaModFix amt="0"/>
              </a:blip>
              <a:stretch>
                <a:fillRect l="0" t="-86809" r="0" b="-86809"/>
              </a:stretch>
            </a:blipFill>
          </p:spPr>
        </p:sp>
        <p:sp>
          <p:nvSpPr>
            <p:cNvPr name="TextBox 33" id="33"/>
            <p:cNvSpPr txBox="true"/>
            <p:nvPr/>
          </p:nvSpPr>
          <p:spPr>
            <a:xfrm>
              <a:off x="0" y="-9525"/>
              <a:ext cx="6035040" cy="869061"/>
            </a:xfrm>
            <a:prstGeom prst="rect">
              <a:avLst/>
            </a:prstGeom>
          </p:spPr>
          <p:txBody>
            <a:bodyPr anchor="ctr" rtlCol="false" tIns="0" lIns="0" bIns="0" rIns="0"/>
            <a:lstStyle/>
            <a:p>
              <a:pPr algn="l">
                <a:lnSpc>
                  <a:spcPts val="2267"/>
                </a:lnSpc>
              </a:pPr>
              <a:r>
                <a:rPr lang="en-US" sz="1889">
                  <a:solidFill>
                    <a:srgbClr val="182D42"/>
                  </a:solidFill>
                  <a:latin typeface="Arial"/>
                  <a:ea typeface="Arial"/>
                  <a:cs typeface="Arial"/>
                  <a:sym typeface="Arial"/>
                </a:rPr>
                <a:t>Quản lý hệ thống an toàn thông tin.</a:t>
              </a:r>
            </a:p>
          </p:txBody>
        </p:sp>
      </p:grpSp>
      <p:grpSp>
        <p:nvGrpSpPr>
          <p:cNvPr name="Group 34" id="34"/>
          <p:cNvGrpSpPr/>
          <p:nvPr/>
        </p:nvGrpSpPr>
        <p:grpSpPr>
          <a:xfrm rot="0">
            <a:off x="1591056" y="5225796"/>
            <a:ext cx="2331720" cy="452628"/>
            <a:chOff x="0" y="0"/>
            <a:chExt cx="3108960" cy="603504"/>
          </a:xfrm>
        </p:grpSpPr>
        <p:sp>
          <p:nvSpPr>
            <p:cNvPr name="Freeform 35" id="35"/>
            <p:cNvSpPr/>
            <p:nvPr/>
          </p:nvSpPr>
          <p:spPr>
            <a:xfrm flipH="false" flipV="false" rot="0">
              <a:off x="0" y="0"/>
              <a:ext cx="3108960" cy="603504"/>
            </a:xfrm>
            <a:custGeom>
              <a:avLst/>
              <a:gdLst/>
              <a:ahLst/>
              <a:cxnLst/>
              <a:rect r="r" b="b" t="t" l="l"/>
              <a:pathLst>
                <a:path h="603504" w="3108960">
                  <a:moveTo>
                    <a:pt x="0" y="0"/>
                  </a:moveTo>
                  <a:lnTo>
                    <a:pt x="3108960" y="0"/>
                  </a:lnTo>
                  <a:lnTo>
                    <a:pt x="3108960" y="603504"/>
                  </a:lnTo>
                  <a:lnTo>
                    <a:pt x="0" y="603504"/>
                  </a:lnTo>
                  <a:close/>
                </a:path>
              </a:pathLst>
            </a:custGeom>
            <a:blipFill>
              <a:blip r:embed="rId3">
                <a:alphaModFix amt="0"/>
              </a:blip>
              <a:stretch>
                <a:fillRect l="0" t="-50377" r="0" b="-50377"/>
              </a:stretch>
            </a:blipFill>
          </p:spPr>
        </p:sp>
        <p:sp>
          <p:nvSpPr>
            <p:cNvPr name="TextBox 36" id="36"/>
            <p:cNvSpPr txBox="true"/>
            <p:nvPr/>
          </p:nvSpPr>
          <p:spPr>
            <a:xfrm>
              <a:off x="0" y="-19050"/>
              <a:ext cx="3108960" cy="622554"/>
            </a:xfrm>
            <a:prstGeom prst="rect">
              <a:avLst/>
            </a:prstGeom>
          </p:spPr>
          <p:txBody>
            <a:bodyPr anchor="ctr" rtlCol="false" tIns="0" lIns="0" bIns="0" rIns="0"/>
            <a:lstStyle/>
            <a:p>
              <a:pPr algn="l">
                <a:lnSpc>
                  <a:spcPts val="2754"/>
                </a:lnSpc>
              </a:pPr>
              <a:r>
                <a:rPr lang="en-US" sz="2295" b="true">
                  <a:solidFill>
                    <a:srgbClr val="137E82"/>
                  </a:solidFill>
                  <a:latin typeface="Arial Bold"/>
                  <a:ea typeface="Arial Bold"/>
                  <a:cs typeface="Arial Bold"/>
                  <a:sym typeface="Arial Bold"/>
                </a:rPr>
                <a:t>NIST CSF</a:t>
              </a:r>
            </a:p>
          </p:txBody>
        </p:sp>
      </p:grpSp>
      <p:grpSp>
        <p:nvGrpSpPr>
          <p:cNvPr name="Group 37" id="37"/>
          <p:cNvGrpSpPr/>
          <p:nvPr/>
        </p:nvGrpSpPr>
        <p:grpSpPr>
          <a:xfrm rot="0">
            <a:off x="3977640" y="5253228"/>
            <a:ext cx="4526280" cy="644652"/>
            <a:chOff x="0" y="0"/>
            <a:chExt cx="6035040" cy="859536"/>
          </a:xfrm>
        </p:grpSpPr>
        <p:sp>
          <p:nvSpPr>
            <p:cNvPr name="Freeform 38" id="38"/>
            <p:cNvSpPr/>
            <p:nvPr/>
          </p:nvSpPr>
          <p:spPr>
            <a:xfrm flipH="false" flipV="false" rot="0">
              <a:off x="0" y="0"/>
              <a:ext cx="6035040" cy="859536"/>
            </a:xfrm>
            <a:custGeom>
              <a:avLst/>
              <a:gdLst/>
              <a:ahLst/>
              <a:cxnLst/>
              <a:rect r="r" b="b" t="t" l="l"/>
              <a:pathLst>
                <a:path h="859536" w="6035040">
                  <a:moveTo>
                    <a:pt x="0" y="0"/>
                  </a:moveTo>
                  <a:lnTo>
                    <a:pt x="6035040" y="0"/>
                  </a:lnTo>
                  <a:lnTo>
                    <a:pt x="6035040" y="859536"/>
                  </a:lnTo>
                  <a:lnTo>
                    <a:pt x="0" y="859536"/>
                  </a:lnTo>
                  <a:close/>
                </a:path>
              </a:pathLst>
            </a:custGeom>
            <a:blipFill>
              <a:blip r:embed="rId3">
                <a:alphaModFix amt="0"/>
              </a:blip>
              <a:stretch>
                <a:fillRect l="0" t="-86809" r="0" b="-86809"/>
              </a:stretch>
            </a:blipFill>
          </p:spPr>
        </p:sp>
        <p:sp>
          <p:nvSpPr>
            <p:cNvPr name="TextBox 39" id="39"/>
            <p:cNvSpPr txBox="true"/>
            <p:nvPr/>
          </p:nvSpPr>
          <p:spPr>
            <a:xfrm>
              <a:off x="0" y="-9525"/>
              <a:ext cx="6035040" cy="869061"/>
            </a:xfrm>
            <a:prstGeom prst="rect">
              <a:avLst/>
            </a:prstGeom>
          </p:spPr>
          <p:txBody>
            <a:bodyPr anchor="ctr" rtlCol="false" tIns="0" lIns="0" bIns="0" rIns="0"/>
            <a:lstStyle/>
            <a:p>
              <a:pPr algn="l">
                <a:lnSpc>
                  <a:spcPts val="2267"/>
                </a:lnSpc>
              </a:pPr>
              <a:r>
                <a:rPr lang="en-US" sz="1889">
                  <a:solidFill>
                    <a:srgbClr val="182D42"/>
                  </a:solidFill>
                  <a:latin typeface="Arial"/>
                  <a:ea typeface="Arial"/>
                  <a:cs typeface="Arial"/>
                  <a:sym typeface="Arial"/>
                </a:rPr>
                <a:t>Quản lý và giảm thiểu rủi ro an ninh mạng.</a:t>
              </a:r>
            </a:p>
          </p:txBody>
        </p:sp>
      </p:grpSp>
      <p:grpSp>
        <p:nvGrpSpPr>
          <p:cNvPr name="Group 40" id="40"/>
          <p:cNvGrpSpPr/>
          <p:nvPr/>
        </p:nvGrpSpPr>
        <p:grpSpPr>
          <a:xfrm rot="0">
            <a:off x="1591056" y="6227064"/>
            <a:ext cx="2331720" cy="452628"/>
            <a:chOff x="0" y="0"/>
            <a:chExt cx="3108960" cy="603504"/>
          </a:xfrm>
        </p:grpSpPr>
        <p:sp>
          <p:nvSpPr>
            <p:cNvPr name="Freeform 41" id="41"/>
            <p:cNvSpPr/>
            <p:nvPr/>
          </p:nvSpPr>
          <p:spPr>
            <a:xfrm flipH="false" flipV="false" rot="0">
              <a:off x="0" y="0"/>
              <a:ext cx="3108960" cy="603504"/>
            </a:xfrm>
            <a:custGeom>
              <a:avLst/>
              <a:gdLst/>
              <a:ahLst/>
              <a:cxnLst/>
              <a:rect r="r" b="b" t="t" l="l"/>
              <a:pathLst>
                <a:path h="603504" w="3108960">
                  <a:moveTo>
                    <a:pt x="0" y="0"/>
                  </a:moveTo>
                  <a:lnTo>
                    <a:pt x="3108960" y="0"/>
                  </a:lnTo>
                  <a:lnTo>
                    <a:pt x="3108960" y="603504"/>
                  </a:lnTo>
                  <a:lnTo>
                    <a:pt x="0" y="603504"/>
                  </a:lnTo>
                  <a:close/>
                </a:path>
              </a:pathLst>
            </a:custGeom>
            <a:blipFill>
              <a:blip r:embed="rId3">
                <a:alphaModFix amt="0"/>
              </a:blip>
              <a:stretch>
                <a:fillRect l="0" t="-50377" r="0" b="-50377"/>
              </a:stretch>
            </a:blipFill>
          </p:spPr>
        </p:sp>
        <p:sp>
          <p:nvSpPr>
            <p:cNvPr name="TextBox 42" id="42"/>
            <p:cNvSpPr txBox="true"/>
            <p:nvPr/>
          </p:nvSpPr>
          <p:spPr>
            <a:xfrm>
              <a:off x="0" y="-19050"/>
              <a:ext cx="3108960" cy="622554"/>
            </a:xfrm>
            <a:prstGeom prst="rect">
              <a:avLst/>
            </a:prstGeom>
          </p:spPr>
          <p:txBody>
            <a:bodyPr anchor="ctr" rtlCol="false" tIns="0" lIns="0" bIns="0" rIns="0"/>
            <a:lstStyle/>
            <a:p>
              <a:pPr algn="l">
                <a:lnSpc>
                  <a:spcPts val="2754"/>
                </a:lnSpc>
              </a:pPr>
              <a:r>
                <a:rPr lang="en-US" sz="2295" b="true">
                  <a:solidFill>
                    <a:srgbClr val="137E82"/>
                  </a:solidFill>
                  <a:latin typeface="Arial Bold"/>
                  <a:ea typeface="Arial Bold"/>
                  <a:cs typeface="Arial Bold"/>
                  <a:sym typeface="Arial Bold"/>
                </a:rPr>
                <a:t>COBIT</a:t>
              </a:r>
            </a:p>
          </p:txBody>
        </p:sp>
      </p:grpSp>
      <p:grpSp>
        <p:nvGrpSpPr>
          <p:cNvPr name="Group 43" id="43"/>
          <p:cNvGrpSpPr/>
          <p:nvPr/>
        </p:nvGrpSpPr>
        <p:grpSpPr>
          <a:xfrm rot="0">
            <a:off x="3977640" y="6254496"/>
            <a:ext cx="4526280" cy="644652"/>
            <a:chOff x="0" y="0"/>
            <a:chExt cx="6035040" cy="859536"/>
          </a:xfrm>
        </p:grpSpPr>
        <p:sp>
          <p:nvSpPr>
            <p:cNvPr name="Freeform 44" id="44"/>
            <p:cNvSpPr/>
            <p:nvPr/>
          </p:nvSpPr>
          <p:spPr>
            <a:xfrm flipH="false" flipV="false" rot="0">
              <a:off x="0" y="0"/>
              <a:ext cx="6035040" cy="859536"/>
            </a:xfrm>
            <a:custGeom>
              <a:avLst/>
              <a:gdLst/>
              <a:ahLst/>
              <a:cxnLst/>
              <a:rect r="r" b="b" t="t" l="l"/>
              <a:pathLst>
                <a:path h="859536" w="6035040">
                  <a:moveTo>
                    <a:pt x="0" y="0"/>
                  </a:moveTo>
                  <a:lnTo>
                    <a:pt x="6035040" y="0"/>
                  </a:lnTo>
                  <a:lnTo>
                    <a:pt x="6035040" y="859536"/>
                  </a:lnTo>
                  <a:lnTo>
                    <a:pt x="0" y="859536"/>
                  </a:lnTo>
                  <a:close/>
                </a:path>
              </a:pathLst>
            </a:custGeom>
            <a:blipFill>
              <a:blip r:embed="rId3">
                <a:alphaModFix amt="0"/>
              </a:blip>
              <a:stretch>
                <a:fillRect l="0" t="-86809" r="0" b="-86809"/>
              </a:stretch>
            </a:blipFill>
          </p:spPr>
        </p:sp>
        <p:sp>
          <p:nvSpPr>
            <p:cNvPr name="TextBox 45" id="45"/>
            <p:cNvSpPr txBox="true"/>
            <p:nvPr/>
          </p:nvSpPr>
          <p:spPr>
            <a:xfrm>
              <a:off x="0" y="-9525"/>
              <a:ext cx="6035040" cy="869061"/>
            </a:xfrm>
            <a:prstGeom prst="rect">
              <a:avLst/>
            </a:prstGeom>
          </p:spPr>
          <p:txBody>
            <a:bodyPr anchor="ctr" rtlCol="false" tIns="0" lIns="0" bIns="0" rIns="0"/>
            <a:lstStyle/>
            <a:p>
              <a:pPr algn="l">
                <a:lnSpc>
                  <a:spcPts val="2267"/>
                </a:lnSpc>
              </a:pPr>
              <a:r>
                <a:rPr lang="en-US" sz="1889">
                  <a:solidFill>
                    <a:srgbClr val="182D42"/>
                  </a:solidFill>
                  <a:latin typeface="Arial"/>
                  <a:ea typeface="Arial"/>
                  <a:cs typeface="Arial"/>
                  <a:sym typeface="Arial"/>
                </a:rPr>
                <a:t>Quản trị và quản lý CNTT, có phần an ninh.</a:t>
              </a:r>
            </a:p>
          </p:txBody>
        </p:sp>
      </p:grpSp>
      <p:grpSp>
        <p:nvGrpSpPr>
          <p:cNvPr name="Group 46" id="46"/>
          <p:cNvGrpSpPr/>
          <p:nvPr/>
        </p:nvGrpSpPr>
        <p:grpSpPr>
          <a:xfrm rot="0">
            <a:off x="9319260" y="2721864"/>
            <a:ext cx="7833360" cy="5199888"/>
            <a:chOff x="0" y="0"/>
            <a:chExt cx="10444480" cy="6933184"/>
          </a:xfrm>
        </p:grpSpPr>
        <p:sp>
          <p:nvSpPr>
            <p:cNvPr name="Freeform 47" id="47"/>
            <p:cNvSpPr/>
            <p:nvPr/>
          </p:nvSpPr>
          <p:spPr>
            <a:xfrm flipH="false" flipV="false" rot="0">
              <a:off x="0" y="0"/>
              <a:ext cx="10444480" cy="6933185"/>
            </a:xfrm>
            <a:custGeom>
              <a:avLst/>
              <a:gdLst/>
              <a:ahLst/>
              <a:cxnLst/>
              <a:rect r="r" b="b" t="t" l="l"/>
              <a:pathLst>
                <a:path h="6933185" w="10444480">
                  <a:moveTo>
                    <a:pt x="0" y="220091"/>
                  </a:moveTo>
                  <a:cubicBezTo>
                    <a:pt x="0" y="98552"/>
                    <a:pt x="98552" y="0"/>
                    <a:pt x="220091" y="0"/>
                  </a:cubicBezTo>
                  <a:lnTo>
                    <a:pt x="10224389" y="0"/>
                  </a:lnTo>
                  <a:cubicBezTo>
                    <a:pt x="10345928" y="0"/>
                    <a:pt x="10444480" y="98552"/>
                    <a:pt x="10444480" y="220091"/>
                  </a:cubicBezTo>
                  <a:lnTo>
                    <a:pt x="10444480" y="6713093"/>
                  </a:lnTo>
                  <a:cubicBezTo>
                    <a:pt x="10444480" y="6834632"/>
                    <a:pt x="10345928" y="6933185"/>
                    <a:pt x="10224389" y="6933185"/>
                  </a:cubicBezTo>
                  <a:lnTo>
                    <a:pt x="220091" y="6933185"/>
                  </a:lnTo>
                  <a:cubicBezTo>
                    <a:pt x="98552" y="6933184"/>
                    <a:pt x="0" y="6834632"/>
                    <a:pt x="0" y="6713093"/>
                  </a:cubicBezTo>
                  <a:close/>
                </a:path>
              </a:pathLst>
            </a:custGeom>
            <a:solidFill>
              <a:srgbClr val="12304C"/>
            </a:solidFill>
            <a:ln w="15240" cap="sq">
              <a:solidFill>
                <a:srgbClr val="12304C"/>
              </a:solidFill>
              <a:prstDash val="solid"/>
              <a:miter/>
            </a:ln>
          </p:spPr>
        </p:sp>
      </p:grpSp>
      <p:grpSp>
        <p:nvGrpSpPr>
          <p:cNvPr name="Group 48" id="48"/>
          <p:cNvGrpSpPr/>
          <p:nvPr/>
        </p:nvGrpSpPr>
        <p:grpSpPr>
          <a:xfrm rot="0">
            <a:off x="9738360" y="3086100"/>
            <a:ext cx="6652260" cy="438912"/>
            <a:chOff x="0" y="0"/>
            <a:chExt cx="8869680" cy="585216"/>
          </a:xfrm>
        </p:grpSpPr>
        <p:sp>
          <p:nvSpPr>
            <p:cNvPr name="Freeform 49" id="49"/>
            <p:cNvSpPr/>
            <p:nvPr/>
          </p:nvSpPr>
          <p:spPr>
            <a:xfrm flipH="false" flipV="false" rot="0">
              <a:off x="0" y="0"/>
              <a:ext cx="8869680" cy="585216"/>
            </a:xfrm>
            <a:custGeom>
              <a:avLst/>
              <a:gdLst/>
              <a:ahLst/>
              <a:cxnLst/>
              <a:rect r="r" b="b" t="t" l="l"/>
              <a:pathLst>
                <a:path h="585216" w="8869680">
                  <a:moveTo>
                    <a:pt x="0" y="0"/>
                  </a:moveTo>
                  <a:lnTo>
                    <a:pt x="8869680" y="0"/>
                  </a:lnTo>
                  <a:lnTo>
                    <a:pt x="8869680" y="585216"/>
                  </a:lnTo>
                  <a:lnTo>
                    <a:pt x="0" y="585216"/>
                  </a:lnTo>
                  <a:close/>
                </a:path>
              </a:pathLst>
            </a:custGeom>
            <a:blipFill>
              <a:blip r:embed="rId3">
                <a:alphaModFix amt="0"/>
              </a:blip>
              <a:stretch>
                <a:fillRect l="0" t="-245320" r="0" b="-245320"/>
              </a:stretch>
            </a:blipFill>
          </p:spPr>
        </p:sp>
        <p:sp>
          <p:nvSpPr>
            <p:cNvPr name="TextBox 50" id="50"/>
            <p:cNvSpPr txBox="true"/>
            <p:nvPr/>
          </p:nvSpPr>
          <p:spPr>
            <a:xfrm>
              <a:off x="0" y="-19050"/>
              <a:ext cx="8869680" cy="604266"/>
            </a:xfrm>
            <a:prstGeom prst="rect">
              <a:avLst/>
            </a:prstGeom>
          </p:spPr>
          <p:txBody>
            <a:bodyPr anchor="ctr" rtlCol="false" tIns="0" lIns="0" bIns="0" rIns="0"/>
            <a:lstStyle/>
            <a:p>
              <a:pPr algn="l">
                <a:lnSpc>
                  <a:spcPts val="1980"/>
                </a:lnSpc>
              </a:pPr>
              <a:r>
                <a:rPr lang="en-US" sz="1650" b="true">
                  <a:solidFill>
                    <a:srgbClr val="9DDCD8"/>
                  </a:solidFill>
                  <a:latin typeface="Arial Bold"/>
                  <a:ea typeface="Arial Bold"/>
                  <a:cs typeface="Arial Bold"/>
                  <a:sym typeface="Arial Bold"/>
                </a:rPr>
                <a:t>KHOẢNG TRỐNG NGHIÊN CỨU</a:t>
              </a:r>
            </a:p>
          </p:txBody>
        </p:sp>
      </p:grpSp>
      <p:grpSp>
        <p:nvGrpSpPr>
          <p:cNvPr name="Group 51" id="51"/>
          <p:cNvGrpSpPr/>
          <p:nvPr/>
        </p:nvGrpSpPr>
        <p:grpSpPr>
          <a:xfrm rot="0">
            <a:off x="9710928" y="3936492"/>
            <a:ext cx="6885432" cy="1179576"/>
            <a:chOff x="0" y="0"/>
            <a:chExt cx="9180576" cy="1572768"/>
          </a:xfrm>
        </p:grpSpPr>
        <p:sp>
          <p:nvSpPr>
            <p:cNvPr name="Freeform 52" id="52"/>
            <p:cNvSpPr/>
            <p:nvPr/>
          </p:nvSpPr>
          <p:spPr>
            <a:xfrm flipH="false" flipV="false" rot="0">
              <a:off x="0" y="0"/>
              <a:ext cx="9180576" cy="1572768"/>
            </a:xfrm>
            <a:custGeom>
              <a:avLst/>
              <a:gdLst/>
              <a:ahLst/>
              <a:cxnLst/>
              <a:rect r="r" b="b" t="t" l="l"/>
              <a:pathLst>
                <a:path h="1572768" w="9180576">
                  <a:moveTo>
                    <a:pt x="0" y="0"/>
                  </a:moveTo>
                  <a:lnTo>
                    <a:pt x="9180576" y="0"/>
                  </a:lnTo>
                  <a:lnTo>
                    <a:pt x="9180576" y="1572768"/>
                  </a:lnTo>
                  <a:lnTo>
                    <a:pt x="0" y="1572768"/>
                  </a:lnTo>
                  <a:close/>
                </a:path>
              </a:pathLst>
            </a:custGeom>
            <a:blipFill>
              <a:blip r:embed="rId3">
                <a:alphaModFix amt="0"/>
              </a:blip>
              <a:stretch>
                <a:fillRect l="0" t="-63738" r="0" b="-63738"/>
              </a:stretch>
            </a:blipFill>
          </p:spPr>
        </p:sp>
        <p:sp>
          <p:nvSpPr>
            <p:cNvPr name="TextBox 53" id="53"/>
            <p:cNvSpPr txBox="true"/>
            <p:nvPr/>
          </p:nvSpPr>
          <p:spPr>
            <a:xfrm>
              <a:off x="0" y="-19050"/>
              <a:ext cx="9180576" cy="1591818"/>
            </a:xfrm>
            <a:prstGeom prst="rect">
              <a:avLst/>
            </a:prstGeom>
          </p:spPr>
          <p:txBody>
            <a:bodyPr anchor="ctr" rtlCol="false" tIns="0" lIns="0" bIns="0" rIns="0"/>
            <a:lstStyle/>
            <a:p>
              <a:pPr algn="l">
                <a:lnSpc>
                  <a:spcPts val="3600"/>
                </a:lnSpc>
              </a:pPr>
              <a:r>
                <a:rPr lang="en-US" sz="3000" b="true">
                  <a:solidFill>
                    <a:srgbClr val="FFFFFF"/>
                  </a:solidFill>
                  <a:latin typeface="Arial Bold"/>
                  <a:ea typeface="Arial Bold"/>
                  <a:cs typeface="Arial Bold"/>
                  <a:sym typeface="Arial Bold"/>
                </a:rPr>
                <a:t>Khác nhau về cấu trúc, thuật ngữ và mục đích</a:t>
              </a:r>
            </a:p>
          </p:txBody>
        </p:sp>
      </p:grpSp>
      <p:grpSp>
        <p:nvGrpSpPr>
          <p:cNvPr name="Group 54" id="54"/>
          <p:cNvGrpSpPr/>
          <p:nvPr/>
        </p:nvGrpSpPr>
        <p:grpSpPr>
          <a:xfrm rot="0">
            <a:off x="9738360" y="5513832"/>
            <a:ext cx="6652260" cy="562356"/>
            <a:chOff x="0" y="0"/>
            <a:chExt cx="8869680" cy="749808"/>
          </a:xfrm>
        </p:grpSpPr>
        <p:sp>
          <p:nvSpPr>
            <p:cNvPr name="Freeform 55" id="55"/>
            <p:cNvSpPr/>
            <p:nvPr/>
          </p:nvSpPr>
          <p:spPr>
            <a:xfrm flipH="false" flipV="false" rot="0">
              <a:off x="0" y="0"/>
              <a:ext cx="8869680" cy="749808"/>
            </a:xfrm>
            <a:custGeom>
              <a:avLst/>
              <a:gdLst/>
              <a:ahLst/>
              <a:cxnLst/>
              <a:rect r="r" b="b" t="t" l="l"/>
              <a:pathLst>
                <a:path h="749808" w="8869680">
                  <a:moveTo>
                    <a:pt x="0" y="0"/>
                  </a:moveTo>
                  <a:lnTo>
                    <a:pt x="8869680" y="0"/>
                  </a:lnTo>
                  <a:lnTo>
                    <a:pt x="8869680" y="749808"/>
                  </a:lnTo>
                  <a:lnTo>
                    <a:pt x="0" y="749808"/>
                  </a:lnTo>
                  <a:close/>
                </a:path>
              </a:pathLst>
            </a:custGeom>
            <a:blipFill>
              <a:blip r:embed="rId3">
                <a:alphaModFix amt="0"/>
              </a:blip>
              <a:stretch>
                <a:fillRect l="0" t="-180493" r="0" b="-180493"/>
              </a:stretch>
            </a:blipFill>
          </p:spPr>
        </p:sp>
        <p:sp>
          <p:nvSpPr>
            <p:cNvPr name="TextBox 56" id="56"/>
            <p:cNvSpPr txBox="true"/>
            <p:nvPr/>
          </p:nvSpPr>
          <p:spPr>
            <a:xfrm>
              <a:off x="0" y="-9525"/>
              <a:ext cx="8869680" cy="759333"/>
            </a:xfrm>
            <a:prstGeom prst="rect">
              <a:avLst/>
            </a:prstGeom>
          </p:spPr>
          <p:txBody>
            <a:bodyPr anchor="ctr" rtlCol="false" tIns="0" lIns="0" bIns="0" rIns="0"/>
            <a:lstStyle/>
            <a:p>
              <a:pPr algn="l">
                <a:lnSpc>
                  <a:spcPts val="2879"/>
                </a:lnSpc>
              </a:pPr>
              <a:r>
                <a:rPr lang="en-US" sz="2400">
                  <a:solidFill>
                    <a:srgbClr val="C9EAEB"/>
                  </a:solidFill>
                  <a:latin typeface="Arial"/>
                  <a:ea typeface="Arial"/>
                  <a:cs typeface="Arial"/>
                  <a:sym typeface="Arial"/>
                </a:rPr>
                <a:t>→ Khó tích hợp nhiều tiêu chuẩn</a:t>
              </a:r>
            </a:p>
          </p:txBody>
        </p:sp>
      </p:grpSp>
      <p:grpSp>
        <p:nvGrpSpPr>
          <p:cNvPr name="Group 57" id="57"/>
          <p:cNvGrpSpPr/>
          <p:nvPr/>
        </p:nvGrpSpPr>
        <p:grpSpPr>
          <a:xfrm rot="0">
            <a:off x="9738360" y="6323076"/>
            <a:ext cx="6720840" cy="589788"/>
            <a:chOff x="0" y="0"/>
            <a:chExt cx="8961120" cy="786384"/>
          </a:xfrm>
        </p:grpSpPr>
        <p:sp>
          <p:nvSpPr>
            <p:cNvPr name="Freeform 58" id="58"/>
            <p:cNvSpPr/>
            <p:nvPr/>
          </p:nvSpPr>
          <p:spPr>
            <a:xfrm flipH="false" flipV="false" rot="0">
              <a:off x="0" y="0"/>
              <a:ext cx="8961120" cy="786384"/>
            </a:xfrm>
            <a:custGeom>
              <a:avLst/>
              <a:gdLst/>
              <a:ahLst/>
              <a:cxnLst/>
              <a:rect r="r" b="b" t="t" l="l"/>
              <a:pathLst>
                <a:path h="786384" w="8961120">
                  <a:moveTo>
                    <a:pt x="0" y="0"/>
                  </a:moveTo>
                  <a:lnTo>
                    <a:pt x="8961120" y="0"/>
                  </a:lnTo>
                  <a:lnTo>
                    <a:pt x="8961120" y="786384"/>
                  </a:lnTo>
                  <a:lnTo>
                    <a:pt x="0" y="786384"/>
                  </a:lnTo>
                  <a:close/>
                </a:path>
              </a:pathLst>
            </a:custGeom>
            <a:blipFill>
              <a:blip r:embed="rId3">
                <a:alphaModFix amt="0"/>
              </a:blip>
              <a:stretch>
                <a:fillRect l="0" t="-172038" r="0" b="-172038"/>
              </a:stretch>
            </a:blipFill>
          </p:spPr>
        </p:sp>
        <p:sp>
          <p:nvSpPr>
            <p:cNvPr name="TextBox 59" id="59"/>
            <p:cNvSpPr txBox="true"/>
            <p:nvPr/>
          </p:nvSpPr>
          <p:spPr>
            <a:xfrm>
              <a:off x="0" y="-9525"/>
              <a:ext cx="8961120" cy="795909"/>
            </a:xfrm>
            <a:prstGeom prst="rect">
              <a:avLst/>
            </a:prstGeom>
          </p:spPr>
          <p:txBody>
            <a:bodyPr anchor="ctr" rtlCol="false" tIns="0" lIns="0" bIns="0" rIns="0"/>
            <a:lstStyle/>
            <a:p>
              <a:pPr algn="l">
                <a:lnSpc>
                  <a:spcPts val="2879"/>
                </a:lnSpc>
              </a:pPr>
              <a:r>
                <a:rPr lang="en-US" sz="2400">
                  <a:solidFill>
                    <a:srgbClr val="C9EAEB"/>
                  </a:solidFill>
                  <a:latin typeface="Arial"/>
                  <a:ea typeface="Arial"/>
                  <a:cs typeface="Arial"/>
                  <a:sym typeface="Arial"/>
                </a:rPr>
                <a:t>→ Chưa đủ cách đo lường toàn diện</a:t>
              </a:r>
            </a:p>
          </p:txBody>
        </p:sp>
      </p:grpSp>
      <p:grpSp>
        <p:nvGrpSpPr>
          <p:cNvPr name="Group 60" id="60"/>
          <p:cNvGrpSpPr/>
          <p:nvPr/>
        </p:nvGrpSpPr>
        <p:grpSpPr>
          <a:xfrm rot="0">
            <a:off x="1289304" y="8229600"/>
            <a:ext cx="16184880" cy="534924"/>
            <a:chOff x="0" y="0"/>
            <a:chExt cx="21579840" cy="713232"/>
          </a:xfrm>
        </p:grpSpPr>
        <p:sp>
          <p:nvSpPr>
            <p:cNvPr name="Freeform 61" id="61"/>
            <p:cNvSpPr/>
            <p:nvPr/>
          </p:nvSpPr>
          <p:spPr>
            <a:xfrm flipH="false" flipV="false" rot="0">
              <a:off x="0" y="0"/>
              <a:ext cx="21579839" cy="713232"/>
            </a:xfrm>
            <a:custGeom>
              <a:avLst/>
              <a:gdLst/>
              <a:ahLst/>
              <a:cxnLst/>
              <a:rect r="r" b="b" t="t" l="l"/>
              <a:pathLst>
                <a:path h="713232" w="21579839">
                  <a:moveTo>
                    <a:pt x="0" y="0"/>
                  </a:moveTo>
                  <a:lnTo>
                    <a:pt x="21579839" y="0"/>
                  </a:lnTo>
                  <a:lnTo>
                    <a:pt x="21579839" y="713232"/>
                  </a:lnTo>
                  <a:lnTo>
                    <a:pt x="0" y="713232"/>
                  </a:lnTo>
                  <a:close/>
                </a:path>
              </a:pathLst>
            </a:custGeom>
            <a:blipFill>
              <a:blip r:embed="rId3">
                <a:alphaModFix amt="0"/>
              </a:blip>
              <a:stretch>
                <a:fillRect l="0" t="-539547" r="0" b="-539547"/>
              </a:stretch>
            </a:blipFill>
          </p:spPr>
        </p:sp>
        <p:sp>
          <p:nvSpPr>
            <p:cNvPr name="TextBox 62" id="62"/>
            <p:cNvSpPr txBox="true"/>
            <p:nvPr/>
          </p:nvSpPr>
          <p:spPr>
            <a:xfrm>
              <a:off x="0" y="-19050"/>
              <a:ext cx="21579840" cy="732282"/>
            </a:xfrm>
            <a:prstGeom prst="rect">
              <a:avLst/>
            </a:prstGeom>
          </p:spPr>
          <p:txBody>
            <a:bodyPr anchor="ctr" rtlCol="false" tIns="0" lIns="0" bIns="0" rIns="0"/>
            <a:lstStyle/>
            <a:p>
              <a:pPr algn="l">
                <a:lnSpc>
                  <a:spcPts val="3150"/>
                </a:lnSpc>
              </a:pPr>
              <a:r>
                <a:rPr lang="en-US" sz="2625" b="true">
                  <a:solidFill>
                    <a:srgbClr val="137E82"/>
                  </a:solidFill>
                  <a:latin typeface="Arial Bold"/>
                  <a:ea typeface="Arial Bold"/>
                  <a:cs typeface="Arial Bold"/>
                  <a:sym typeface="Arial Bold"/>
                </a:rPr>
                <a:t>MỤC TIÊU: mô hình phân cấp + đánh giá maturity và effectiveness</a:t>
              </a:r>
            </a:p>
          </p:txBody>
        </p:sp>
      </p:gr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5F8FB"/>
        </a:solidFill>
      </p:bgPr>
    </p:bg>
    <p:spTree>
      <p:nvGrpSpPr>
        <p:cNvPr id="1" name=""/>
        <p:cNvGrpSpPr/>
        <p:nvPr/>
      </p:nvGrpSpPr>
      <p:grpSpPr>
        <a:xfrm>
          <a:off x="0" y="0"/>
          <a:ext cx="0" cy="0"/>
          <a:chOff x="0" y="0"/>
          <a:chExt cx="0" cy="0"/>
        </a:xfrm>
      </p:grpSpPr>
      <p:grpSp>
        <p:nvGrpSpPr>
          <p:cNvPr name="Group 2" id="2"/>
          <p:cNvGrpSpPr/>
          <p:nvPr/>
        </p:nvGrpSpPr>
        <p:grpSpPr>
          <a:xfrm rot="0">
            <a:off x="-9525" y="-9525"/>
            <a:ext cx="169926" cy="10306050"/>
            <a:chOff x="0" y="0"/>
            <a:chExt cx="226568" cy="13741400"/>
          </a:xfrm>
        </p:grpSpPr>
        <p:sp>
          <p:nvSpPr>
            <p:cNvPr name="Freeform 3" id="3"/>
            <p:cNvSpPr/>
            <p:nvPr/>
          </p:nvSpPr>
          <p:spPr>
            <a:xfrm flipH="false" flipV="false" rot="0">
              <a:off x="0" y="0"/>
              <a:ext cx="226568" cy="13741400"/>
            </a:xfrm>
            <a:custGeom>
              <a:avLst/>
              <a:gdLst/>
              <a:ahLst/>
              <a:cxnLst/>
              <a:rect r="r" b="b" t="t" l="l"/>
              <a:pathLst>
                <a:path h="13741400" w="226568">
                  <a:moveTo>
                    <a:pt x="0" y="0"/>
                  </a:moveTo>
                  <a:lnTo>
                    <a:pt x="226568" y="0"/>
                  </a:lnTo>
                  <a:lnTo>
                    <a:pt x="226568" y="13741400"/>
                  </a:lnTo>
                  <a:lnTo>
                    <a:pt x="0" y="13741400"/>
                  </a:lnTo>
                  <a:close/>
                </a:path>
              </a:pathLst>
            </a:custGeom>
            <a:solidFill>
              <a:srgbClr val="0D8489"/>
            </a:solidFill>
            <a:ln w="19050" cap="sq">
              <a:solidFill>
                <a:srgbClr val="0D8489"/>
              </a:solidFill>
              <a:prstDash val="solid"/>
              <a:miter/>
            </a:ln>
          </p:spPr>
        </p:sp>
      </p:grpSp>
      <p:grpSp>
        <p:nvGrpSpPr>
          <p:cNvPr name="Group 4" id="4"/>
          <p:cNvGrpSpPr/>
          <p:nvPr/>
        </p:nvGrpSpPr>
        <p:grpSpPr>
          <a:xfrm rot="0">
            <a:off x="987552" y="397764"/>
            <a:ext cx="15087600" cy="421386"/>
            <a:chOff x="0" y="0"/>
            <a:chExt cx="20116800" cy="561848"/>
          </a:xfrm>
        </p:grpSpPr>
        <p:sp>
          <p:nvSpPr>
            <p:cNvPr name="Freeform 5" id="5"/>
            <p:cNvSpPr/>
            <p:nvPr/>
          </p:nvSpPr>
          <p:spPr>
            <a:xfrm flipH="false" flipV="false" rot="0">
              <a:off x="0" y="0"/>
              <a:ext cx="20116800" cy="561848"/>
            </a:xfrm>
            <a:custGeom>
              <a:avLst/>
              <a:gdLst/>
              <a:ahLst/>
              <a:cxnLst/>
              <a:rect r="r" b="b" t="t" l="l"/>
              <a:pathLst>
                <a:path h="561848" w="20116800">
                  <a:moveTo>
                    <a:pt x="0" y="0"/>
                  </a:moveTo>
                  <a:lnTo>
                    <a:pt x="20116800" y="0"/>
                  </a:lnTo>
                  <a:lnTo>
                    <a:pt x="20116800" y="561848"/>
                  </a:lnTo>
                  <a:lnTo>
                    <a:pt x="0" y="561848"/>
                  </a:lnTo>
                  <a:close/>
                </a:path>
              </a:pathLst>
            </a:custGeom>
            <a:blipFill>
              <a:blip r:embed="rId3">
                <a:alphaModFix amt="0"/>
              </a:blip>
              <a:stretch>
                <a:fillRect l="0" t="-658596" r="0" b="-636715"/>
              </a:stretch>
            </a:blipFill>
          </p:spPr>
        </p:sp>
        <p:sp>
          <p:nvSpPr>
            <p:cNvPr name="TextBox 6" id="6"/>
            <p:cNvSpPr txBox="true"/>
            <p:nvPr/>
          </p:nvSpPr>
          <p:spPr>
            <a:xfrm>
              <a:off x="0" y="-19050"/>
              <a:ext cx="20116800" cy="580898"/>
            </a:xfrm>
            <a:prstGeom prst="rect">
              <a:avLst/>
            </a:prstGeom>
          </p:spPr>
          <p:txBody>
            <a:bodyPr anchor="ctr" rtlCol="false" tIns="0" lIns="0" bIns="0" rIns="0"/>
            <a:lstStyle/>
            <a:p>
              <a:pPr algn="l">
                <a:lnSpc>
                  <a:spcPts val="1980"/>
                </a:lnSpc>
              </a:pPr>
              <a:r>
                <a:rPr lang="en-US" b="true" sz="1650" spc="284">
                  <a:solidFill>
                    <a:srgbClr val="0D8489"/>
                  </a:solidFill>
                  <a:latin typeface="Arial Bold"/>
                  <a:ea typeface="Arial Bold"/>
                  <a:cs typeface="Arial Bold"/>
                  <a:sym typeface="Arial Bold"/>
                </a:rPr>
                <a:t>PHƯƠNG PHÁP NGHIÊN CỨU</a:t>
              </a:r>
            </a:p>
          </p:txBody>
        </p:sp>
      </p:grpSp>
      <p:grpSp>
        <p:nvGrpSpPr>
          <p:cNvPr name="Group 7" id="7"/>
          <p:cNvGrpSpPr/>
          <p:nvPr/>
        </p:nvGrpSpPr>
        <p:grpSpPr>
          <a:xfrm rot="0">
            <a:off x="1001268" y="1028700"/>
            <a:ext cx="16322040" cy="850392"/>
            <a:chOff x="0" y="0"/>
            <a:chExt cx="21762720" cy="1133856"/>
          </a:xfrm>
        </p:grpSpPr>
        <p:sp>
          <p:nvSpPr>
            <p:cNvPr name="Freeform 8" id="8"/>
            <p:cNvSpPr/>
            <p:nvPr/>
          </p:nvSpPr>
          <p:spPr>
            <a:xfrm flipH="false" flipV="false" rot="0">
              <a:off x="0" y="0"/>
              <a:ext cx="21762720" cy="1133856"/>
            </a:xfrm>
            <a:custGeom>
              <a:avLst/>
              <a:gdLst/>
              <a:ahLst/>
              <a:cxnLst/>
              <a:rect r="r" b="b" t="t" l="l"/>
              <a:pathLst>
                <a:path h="1133856" w="21762720">
                  <a:moveTo>
                    <a:pt x="0" y="0"/>
                  </a:moveTo>
                  <a:lnTo>
                    <a:pt x="21762720" y="0"/>
                  </a:lnTo>
                  <a:lnTo>
                    <a:pt x="21762720" y="1133856"/>
                  </a:lnTo>
                  <a:lnTo>
                    <a:pt x="0" y="1133856"/>
                  </a:lnTo>
                  <a:close/>
                </a:path>
              </a:pathLst>
            </a:custGeom>
            <a:blipFill>
              <a:blip r:embed="rId3">
                <a:alphaModFix amt="0"/>
              </a:blip>
              <a:stretch>
                <a:fillRect l="0" t="-323987" r="0" b="-323987"/>
              </a:stretch>
            </a:blipFill>
          </p:spPr>
        </p:sp>
        <p:sp>
          <p:nvSpPr>
            <p:cNvPr name="TextBox 9" id="9"/>
            <p:cNvSpPr txBox="true"/>
            <p:nvPr/>
          </p:nvSpPr>
          <p:spPr>
            <a:xfrm>
              <a:off x="0" y="-19050"/>
              <a:ext cx="21762720" cy="1152906"/>
            </a:xfrm>
            <a:prstGeom prst="rect">
              <a:avLst/>
            </a:prstGeom>
          </p:spPr>
          <p:txBody>
            <a:bodyPr anchor="ctr" rtlCol="false" tIns="0" lIns="0" bIns="0" rIns="0"/>
            <a:lstStyle/>
            <a:p>
              <a:pPr algn="l">
                <a:lnSpc>
                  <a:spcPts val="5220"/>
                </a:lnSpc>
              </a:pPr>
              <a:r>
                <a:rPr lang="en-US" sz="4350" b="true">
                  <a:solidFill>
                    <a:srgbClr val="143351"/>
                  </a:solidFill>
                  <a:latin typeface="Arial Bold"/>
                  <a:ea typeface="Arial Bold"/>
                  <a:cs typeface="Arial Bold"/>
                  <a:sym typeface="Arial Bold"/>
                </a:rPr>
                <a:t>Delphi 3 vòng: từ ý kiến chuyên gia đến 36 quy trình</a:t>
              </a:r>
            </a:p>
          </p:txBody>
        </p:sp>
      </p:grpSp>
      <p:grpSp>
        <p:nvGrpSpPr>
          <p:cNvPr name="Group 10" id="10"/>
          <p:cNvGrpSpPr/>
          <p:nvPr/>
        </p:nvGrpSpPr>
        <p:grpSpPr>
          <a:xfrm rot="0">
            <a:off x="1042416" y="1961388"/>
            <a:ext cx="16184880" cy="493776"/>
            <a:chOff x="0" y="0"/>
            <a:chExt cx="21579840" cy="658368"/>
          </a:xfrm>
        </p:grpSpPr>
        <p:sp>
          <p:nvSpPr>
            <p:cNvPr name="Freeform 11" id="11"/>
            <p:cNvSpPr/>
            <p:nvPr/>
          </p:nvSpPr>
          <p:spPr>
            <a:xfrm flipH="false" flipV="false" rot="0">
              <a:off x="0" y="0"/>
              <a:ext cx="21579839" cy="658368"/>
            </a:xfrm>
            <a:custGeom>
              <a:avLst/>
              <a:gdLst/>
              <a:ahLst/>
              <a:cxnLst/>
              <a:rect r="r" b="b" t="t" l="l"/>
              <a:pathLst>
                <a:path h="658368" w="21579839">
                  <a:moveTo>
                    <a:pt x="0" y="0"/>
                  </a:moveTo>
                  <a:lnTo>
                    <a:pt x="21579839" y="0"/>
                  </a:lnTo>
                  <a:lnTo>
                    <a:pt x="21579839" y="658368"/>
                  </a:lnTo>
                  <a:lnTo>
                    <a:pt x="0" y="658368"/>
                  </a:lnTo>
                  <a:close/>
                </a:path>
              </a:pathLst>
            </a:custGeom>
            <a:blipFill>
              <a:blip r:embed="rId3">
                <a:alphaModFix amt="0"/>
              </a:blip>
              <a:stretch>
                <a:fillRect l="0" t="-588676" r="0" b="-588676"/>
              </a:stretch>
            </a:blipFill>
          </p:spPr>
        </p:sp>
        <p:sp>
          <p:nvSpPr>
            <p:cNvPr name="TextBox 12" id="12"/>
            <p:cNvSpPr txBox="true"/>
            <p:nvPr/>
          </p:nvSpPr>
          <p:spPr>
            <a:xfrm>
              <a:off x="0" y="-19050"/>
              <a:ext cx="21579840" cy="677418"/>
            </a:xfrm>
            <a:prstGeom prst="rect">
              <a:avLst/>
            </a:prstGeom>
          </p:spPr>
          <p:txBody>
            <a:bodyPr anchor="ctr" rtlCol="false" tIns="0" lIns="0" bIns="0" rIns="0"/>
            <a:lstStyle/>
            <a:p>
              <a:pPr algn="l">
                <a:lnSpc>
                  <a:spcPts val="2610"/>
                </a:lnSpc>
              </a:pPr>
              <a:r>
                <a:rPr lang="en-US" sz="2175">
                  <a:solidFill>
                    <a:srgbClr val="526B85"/>
                  </a:solidFill>
                  <a:latin typeface="Arial"/>
                  <a:ea typeface="Arial"/>
                  <a:cs typeface="Arial"/>
                  <a:sym typeface="Arial"/>
                </a:rPr>
                <a:t>Bài báo áp dụng modified Delphi — không phải mô hình học máy.</a:t>
              </a:r>
            </a:p>
          </p:txBody>
        </p:sp>
      </p:grpSp>
      <p:sp>
        <p:nvSpPr>
          <p:cNvPr name="AutoShape 13" id="13"/>
          <p:cNvSpPr/>
          <p:nvPr/>
        </p:nvSpPr>
        <p:spPr>
          <a:xfrm rot="4019">
            <a:off x="991733" y="9665018"/>
            <a:ext cx="16341100" cy="0"/>
          </a:xfrm>
          <a:prstGeom prst="line">
            <a:avLst/>
          </a:prstGeom>
          <a:ln cap="rnd" w="9525">
            <a:solidFill>
              <a:srgbClr val="D8E4EF"/>
            </a:solidFill>
            <a:prstDash val="solid"/>
            <a:headEnd type="none" len="sm" w="sm"/>
            <a:tailEnd type="none" len="sm" w="sm"/>
          </a:ln>
        </p:spPr>
      </p:sp>
      <p:grpSp>
        <p:nvGrpSpPr>
          <p:cNvPr name="Group 14" id="14"/>
          <p:cNvGrpSpPr/>
          <p:nvPr/>
        </p:nvGrpSpPr>
        <p:grpSpPr>
          <a:xfrm rot="0">
            <a:off x="1028700" y="9779508"/>
            <a:ext cx="13716000" cy="246888"/>
            <a:chOff x="0" y="0"/>
            <a:chExt cx="18288000" cy="329184"/>
          </a:xfrm>
        </p:grpSpPr>
        <p:sp>
          <p:nvSpPr>
            <p:cNvPr name="Freeform 15" id="15"/>
            <p:cNvSpPr/>
            <p:nvPr/>
          </p:nvSpPr>
          <p:spPr>
            <a:xfrm flipH="false" flipV="false" rot="0">
              <a:off x="0" y="0"/>
              <a:ext cx="18288000" cy="329184"/>
            </a:xfrm>
            <a:custGeom>
              <a:avLst/>
              <a:gdLst/>
              <a:ahLst/>
              <a:cxnLst/>
              <a:rect r="r" b="b" t="t" l="l"/>
              <a:pathLst>
                <a:path h="329184" w="18288000">
                  <a:moveTo>
                    <a:pt x="0" y="0"/>
                  </a:moveTo>
                  <a:lnTo>
                    <a:pt x="18288000" y="0"/>
                  </a:lnTo>
                  <a:lnTo>
                    <a:pt x="18288000" y="329184"/>
                  </a:lnTo>
                  <a:lnTo>
                    <a:pt x="0" y="329184"/>
                  </a:lnTo>
                  <a:close/>
                </a:path>
              </a:pathLst>
            </a:custGeom>
            <a:blipFill>
              <a:blip r:embed="rId3">
                <a:alphaModFix amt="0"/>
              </a:blip>
              <a:stretch>
                <a:fillRect l="0" t="-1032502" r="0" b="-1032502"/>
              </a:stretch>
            </a:blipFill>
          </p:spPr>
        </p:sp>
        <p:sp>
          <p:nvSpPr>
            <p:cNvPr name="TextBox 16" id="16"/>
            <p:cNvSpPr txBox="true"/>
            <p:nvPr/>
          </p:nvSpPr>
          <p:spPr>
            <a:xfrm>
              <a:off x="0" y="-9525"/>
              <a:ext cx="18288000" cy="338709"/>
            </a:xfrm>
            <a:prstGeom prst="rect">
              <a:avLst/>
            </a:prstGeom>
          </p:spPr>
          <p:txBody>
            <a:bodyPr anchor="ctr" rtlCol="false" tIns="0" lIns="0" bIns="0" rIns="0"/>
            <a:lstStyle/>
            <a:p>
              <a:pPr algn="l">
                <a:lnSpc>
                  <a:spcPts val="1475"/>
                </a:lnSpc>
              </a:pPr>
              <a:r>
                <a:rPr lang="en-US" sz="1230">
                  <a:solidFill>
                    <a:srgbClr val="526B85"/>
                  </a:solidFill>
                  <a:latin typeface="Arial"/>
                  <a:ea typeface="Arial"/>
                  <a:cs typeface="Arial"/>
                  <a:sym typeface="Arial"/>
                </a:rPr>
                <a:t>Liu và cộng sự (2025)  |  doi.org/10.1093/cybsec/tyaf020</a:t>
              </a:r>
            </a:p>
          </p:txBody>
        </p:sp>
      </p:grpSp>
      <p:grpSp>
        <p:nvGrpSpPr>
          <p:cNvPr name="Group 17" id="17"/>
          <p:cNvGrpSpPr/>
          <p:nvPr/>
        </p:nvGrpSpPr>
        <p:grpSpPr>
          <a:xfrm rot="0">
            <a:off x="16472916" y="9779508"/>
            <a:ext cx="685800" cy="274320"/>
            <a:chOff x="0" y="0"/>
            <a:chExt cx="914400" cy="365760"/>
          </a:xfrm>
        </p:grpSpPr>
        <p:sp>
          <p:nvSpPr>
            <p:cNvPr name="Freeform 18" id="18"/>
            <p:cNvSpPr/>
            <p:nvPr/>
          </p:nvSpPr>
          <p:spPr>
            <a:xfrm flipH="false" flipV="false" rot="0">
              <a:off x="0" y="0"/>
              <a:ext cx="914400" cy="365760"/>
            </a:xfrm>
            <a:custGeom>
              <a:avLst/>
              <a:gdLst/>
              <a:ahLst/>
              <a:cxnLst/>
              <a:rect r="r" b="b" t="t" l="l"/>
              <a:pathLst>
                <a:path h="365760" w="914400">
                  <a:moveTo>
                    <a:pt x="0" y="0"/>
                  </a:moveTo>
                  <a:lnTo>
                    <a:pt x="914400" y="0"/>
                  </a:lnTo>
                  <a:lnTo>
                    <a:pt x="914400" y="365760"/>
                  </a:lnTo>
                  <a:lnTo>
                    <a:pt x="0" y="365760"/>
                  </a:lnTo>
                  <a:close/>
                </a:path>
              </a:pathLst>
            </a:custGeom>
            <a:blipFill>
              <a:blip r:embed="rId3">
                <a:alphaModFix amt="0"/>
              </a:blip>
              <a:stretch>
                <a:fillRect l="-1321" t="0" r="-1321" b="0"/>
              </a:stretch>
            </a:blipFill>
          </p:spPr>
        </p:sp>
        <p:sp>
          <p:nvSpPr>
            <p:cNvPr name="TextBox 19" id="19"/>
            <p:cNvSpPr txBox="true"/>
            <p:nvPr/>
          </p:nvSpPr>
          <p:spPr>
            <a:xfrm>
              <a:off x="0" y="-19050"/>
              <a:ext cx="914400" cy="384810"/>
            </a:xfrm>
            <a:prstGeom prst="rect">
              <a:avLst/>
            </a:prstGeom>
          </p:spPr>
          <p:txBody>
            <a:bodyPr anchor="ctr" rtlCol="false" tIns="0" lIns="0" bIns="0" rIns="0"/>
            <a:lstStyle/>
            <a:p>
              <a:pPr algn="r">
                <a:lnSpc>
                  <a:spcPts val="1620"/>
                </a:lnSpc>
              </a:pPr>
              <a:r>
                <a:rPr lang="en-US" sz="1350">
                  <a:solidFill>
                    <a:srgbClr val="526B85"/>
                  </a:solidFill>
                  <a:latin typeface="Arial"/>
                  <a:ea typeface="Arial"/>
                  <a:cs typeface="Arial"/>
                  <a:sym typeface="Arial"/>
                </a:rPr>
                <a:t>04 / 14</a:t>
              </a:r>
            </a:p>
          </p:txBody>
        </p:sp>
      </p:grpSp>
      <p:grpSp>
        <p:nvGrpSpPr>
          <p:cNvPr name="Group 20" id="20"/>
          <p:cNvGrpSpPr/>
          <p:nvPr/>
        </p:nvGrpSpPr>
        <p:grpSpPr>
          <a:xfrm rot="0">
            <a:off x="1046607" y="2953131"/>
            <a:ext cx="5368290" cy="3653790"/>
            <a:chOff x="0" y="0"/>
            <a:chExt cx="7157720" cy="4871720"/>
          </a:xfrm>
        </p:grpSpPr>
        <p:sp>
          <p:nvSpPr>
            <p:cNvPr name="Freeform 21" id="21"/>
            <p:cNvSpPr/>
            <p:nvPr/>
          </p:nvSpPr>
          <p:spPr>
            <a:xfrm flipH="false" flipV="false" rot="0">
              <a:off x="0" y="0"/>
              <a:ext cx="7157720" cy="4871720"/>
            </a:xfrm>
            <a:custGeom>
              <a:avLst/>
              <a:gdLst/>
              <a:ahLst/>
              <a:cxnLst/>
              <a:rect r="r" b="b" t="t" l="l"/>
              <a:pathLst>
                <a:path h="4871720" w="7157720">
                  <a:moveTo>
                    <a:pt x="0" y="220599"/>
                  </a:moveTo>
                  <a:cubicBezTo>
                    <a:pt x="0" y="98806"/>
                    <a:pt x="98806" y="0"/>
                    <a:pt x="220599" y="0"/>
                  </a:cubicBezTo>
                  <a:lnTo>
                    <a:pt x="6937121" y="0"/>
                  </a:lnTo>
                  <a:cubicBezTo>
                    <a:pt x="7058914" y="0"/>
                    <a:pt x="7157720" y="98806"/>
                    <a:pt x="7157720" y="220599"/>
                  </a:cubicBezTo>
                  <a:lnTo>
                    <a:pt x="7157720" y="4651121"/>
                  </a:lnTo>
                  <a:cubicBezTo>
                    <a:pt x="7157720" y="4772914"/>
                    <a:pt x="7058914" y="4871720"/>
                    <a:pt x="6937121" y="4871720"/>
                  </a:cubicBezTo>
                  <a:lnTo>
                    <a:pt x="220599" y="4871720"/>
                  </a:lnTo>
                  <a:cubicBezTo>
                    <a:pt x="98806" y="4871720"/>
                    <a:pt x="0" y="4772914"/>
                    <a:pt x="0" y="4651121"/>
                  </a:cubicBezTo>
                  <a:close/>
                </a:path>
              </a:pathLst>
            </a:custGeom>
            <a:solidFill>
              <a:srgbClr val="FFFFFF"/>
            </a:solidFill>
            <a:ln w="19050" cap="sq">
              <a:solidFill>
                <a:srgbClr val="D8E4EF"/>
              </a:solidFill>
              <a:prstDash val="solid"/>
              <a:miter/>
            </a:ln>
          </p:spPr>
        </p:sp>
      </p:grpSp>
      <p:grpSp>
        <p:nvGrpSpPr>
          <p:cNvPr name="Group 22" id="22"/>
          <p:cNvGrpSpPr/>
          <p:nvPr/>
        </p:nvGrpSpPr>
        <p:grpSpPr>
          <a:xfrm rot="0">
            <a:off x="1385316" y="3319272"/>
            <a:ext cx="4594860" cy="466344"/>
            <a:chOff x="0" y="0"/>
            <a:chExt cx="6126480" cy="621792"/>
          </a:xfrm>
        </p:grpSpPr>
        <p:sp>
          <p:nvSpPr>
            <p:cNvPr name="Freeform 23" id="23"/>
            <p:cNvSpPr/>
            <p:nvPr/>
          </p:nvSpPr>
          <p:spPr>
            <a:xfrm flipH="false" flipV="false" rot="0">
              <a:off x="0" y="0"/>
              <a:ext cx="6126480" cy="621792"/>
            </a:xfrm>
            <a:custGeom>
              <a:avLst/>
              <a:gdLst/>
              <a:ahLst/>
              <a:cxnLst/>
              <a:rect r="r" b="b" t="t" l="l"/>
              <a:pathLst>
                <a:path h="621792" w="6126480">
                  <a:moveTo>
                    <a:pt x="0" y="0"/>
                  </a:moveTo>
                  <a:lnTo>
                    <a:pt x="6126480" y="0"/>
                  </a:lnTo>
                  <a:lnTo>
                    <a:pt x="6126480" y="621792"/>
                  </a:lnTo>
                  <a:lnTo>
                    <a:pt x="0" y="621792"/>
                  </a:lnTo>
                  <a:close/>
                </a:path>
              </a:pathLst>
            </a:custGeom>
            <a:blipFill>
              <a:blip r:embed="rId3">
                <a:alphaModFix amt="0"/>
              </a:blip>
              <a:stretch>
                <a:fillRect l="0" t="-141984" r="0" b="-141984"/>
              </a:stretch>
            </a:blipFill>
          </p:spPr>
        </p:sp>
        <p:sp>
          <p:nvSpPr>
            <p:cNvPr name="TextBox 24" id="24"/>
            <p:cNvSpPr txBox="true"/>
            <p:nvPr/>
          </p:nvSpPr>
          <p:spPr>
            <a:xfrm>
              <a:off x="0" y="-19050"/>
              <a:ext cx="6126480" cy="640842"/>
            </a:xfrm>
            <a:prstGeom prst="rect">
              <a:avLst/>
            </a:prstGeom>
          </p:spPr>
          <p:txBody>
            <a:bodyPr anchor="ctr" rtlCol="false" tIns="0" lIns="0" bIns="0" rIns="0"/>
            <a:lstStyle/>
            <a:p>
              <a:pPr algn="l">
                <a:lnSpc>
                  <a:spcPts val="3240"/>
                </a:lnSpc>
              </a:pPr>
              <a:r>
                <a:rPr lang="en-US" sz="2700" b="true">
                  <a:solidFill>
                    <a:srgbClr val="0D8489"/>
                  </a:solidFill>
                  <a:latin typeface="Arial Bold"/>
                  <a:ea typeface="Arial Bold"/>
                  <a:cs typeface="Arial Bold"/>
                  <a:sym typeface="Arial Bold"/>
                </a:rPr>
                <a:t>VÒNG 1</a:t>
              </a:r>
            </a:p>
          </p:txBody>
        </p:sp>
      </p:grpSp>
      <p:grpSp>
        <p:nvGrpSpPr>
          <p:cNvPr name="Group 25" id="25"/>
          <p:cNvGrpSpPr/>
          <p:nvPr/>
        </p:nvGrpSpPr>
        <p:grpSpPr>
          <a:xfrm rot="0">
            <a:off x="1385316" y="3991356"/>
            <a:ext cx="4608576" cy="480060"/>
            <a:chOff x="0" y="0"/>
            <a:chExt cx="6144768" cy="640080"/>
          </a:xfrm>
        </p:grpSpPr>
        <p:sp>
          <p:nvSpPr>
            <p:cNvPr name="Freeform 26" id="26"/>
            <p:cNvSpPr/>
            <p:nvPr/>
          </p:nvSpPr>
          <p:spPr>
            <a:xfrm flipH="false" flipV="false" rot="0">
              <a:off x="0" y="0"/>
              <a:ext cx="6144768" cy="640080"/>
            </a:xfrm>
            <a:custGeom>
              <a:avLst/>
              <a:gdLst/>
              <a:ahLst/>
              <a:cxnLst/>
              <a:rect r="r" b="b" t="t" l="l"/>
              <a:pathLst>
                <a:path h="640080" w="6144768">
                  <a:moveTo>
                    <a:pt x="0" y="0"/>
                  </a:moveTo>
                  <a:lnTo>
                    <a:pt x="6144768" y="0"/>
                  </a:lnTo>
                  <a:lnTo>
                    <a:pt x="6144768" y="640080"/>
                  </a:lnTo>
                  <a:lnTo>
                    <a:pt x="0" y="640080"/>
                  </a:lnTo>
                  <a:close/>
                </a:path>
              </a:pathLst>
            </a:custGeom>
            <a:blipFill>
              <a:blip r:embed="rId3">
                <a:alphaModFix amt="0"/>
              </a:blip>
              <a:stretch>
                <a:fillRect l="0" t="-137056" r="0" b="-137056"/>
              </a:stretch>
            </a:blipFill>
          </p:spPr>
        </p:sp>
        <p:sp>
          <p:nvSpPr>
            <p:cNvPr name="TextBox 27" id="27"/>
            <p:cNvSpPr txBox="true"/>
            <p:nvPr/>
          </p:nvSpPr>
          <p:spPr>
            <a:xfrm>
              <a:off x="0" y="-9525"/>
              <a:ext cx="6144768" cy="649605"/>
            </a:xfrm>
            <a:prstGeom prst="rect">
              <a:avLst/>
            </a:prstGeom>
          </p:spPr>
          <p:txBody>
            <a:bodyPr anchor="ctr" rtlCol="false" tIns="0" lIns="0" bIns="0" rIns="0"/>
            <a:lstStyle/>
            <a:p>
              <a:pPr algn="l">
                <a:lnSpc>
                  <a:spcPts val="2879"/>
                </a:lnSpc>
              </a:pPr>
              <a:r>
                <a:rPr lang="en-US" sz="2400" b="true">
                  <a:solidFill>
                    <a:srgbClr val="143351"/>
                  </a:solidFill>
                  <a:latin typeface="Arial Bold"/>
                  <a:ea typeface="Arial Bold"/>
                  <a:cs typeface="Arial Bold"/>
                  <a:sym typeface="Arial Bold"/>
                </a:rPr>
                <a:t>Tổng hợp tài liệu, tham vấn</a:t>
              </a:r>
            </a:p>
          </p:txBody>
        </p:sp>
      </p:grpSp>
      <p:grpSp>
        <p:nvGrpSpPr>
          <p:cNvPr name="Group 28" id="28"/>
          <p:cNvGrpSpPr/>
          <p:nvPr/>
        </p:nvGrpSpPr>
        <p:grpSpPr>
          <a:xfrm rot="0">
            <a:off x="1385316" y="4745736"/>
            <a:ext cx="4663440" cy="411480"/>
            <a:chOff x="0" y="0"/>
            <a:chExt cx="6217920" cy="548640"/>
          </a:xfrm>
        </p:grpSpPr>
        <p:sp>
          <p:nvSpPr>
            <p:cNvPr name="Freeform 29" id="29"/>
            <p:cNvSpPr/>
            <p:nvPr/>
          </p:nvSpPr>
          <p:spPr>
            <a:xfrm flipH="false" flipV="false" rot="0">
              <a:off x="0" y="0"/>
              <a:ext cx="6217920" cy="548640"/>
            </a:xfrm>
            <a:custGeom>
              <a:avLst/>
              <a:gdLst/>
              <a:ahLst/>
              <a:cxnLst/>
              <a:rect r="r" b="b" t="t" l="l"/>
              <a:pathLst>
                <a:path h="548640" w="6217920">
                  <a:moveTo>
                    <a:pt x="0" y="0"/>
                  </a:moveTo>
                  <a:lnTo>
                    <a:pt x="6217920" y="0"/>
                  </a:lnTo>
                  <a:lnTo>
                    <a:pt x="6217920" y="548640"/>
                  </a:lnTo>
                  <a:lnTo>
                    <a:pt x="0" y="548640"/>
                  </a:lnTo>
                  <a:close/>
                </a:path>
              </a:pathLst>
            </a:custGeom>
            <a:blipFill>
              <a:blip r:embed="rId3">
                <a:alphaModFix amt="0"/>
              </a:blip>
              <a:stretch>
                <a:fillRect l="0" t="-170830" r="0" b="-170830"/>
              </a:stretch>
            </a:blipFill>
          </p:spPr>
        </p:sp>
        <p:sp>
          <p:nvSpPr>
            <p:cNvPr name="TextBox 30" id="30"/>
            <p:cNvSpPr txBox="true"/>
            <p:nvPr/>
          </p:nvSpPr>
          <p:spPr>
            <a:xfrm>
              <a:off x="0" y="-9525"/>
              <a:ext cx="6217920" cy="558165"/>
            </a:xfrm>
            <a:prstGeom prst="rect">
              <a:avLst/>
            </a:prstGeom>
          </p:spPr>
          <p:txBody>
            <a:bodyPr anchor="ctr" rtlCol="false" tIns="0" lIns="0" bIns="0" rIns="0"/>
            <a:lstStyle/>
            <a:p>
              <a:pPr algn="l">
                <a:lnSpc>
                  <a:spcPts val="3060"/>
                </a:lnSpc>
              </a:pPr>
              <a:r>
                <a:rPr lang="en-US" sz="2550">
                  <a:solidFill>
                    <a:srgbClr val="143351"/>
                  </a:solidFill>
                  <a:latin typeface="Arial"/>
                  <a:ea typeface="Arial"/>
                  <a:cs typeface="Arial"/>
                  <a:sym typeface="Arial"/>
                </a:rPr>
                <a:t>40 quy trình ứng viên</a:t>
              </a:r>
            </a:p>
          </p:txBody>
        </p:sp>
      </p:grpSp>
      <p:grpSp>
        <p:nvGrpSpPr>
          <p:cNvPr name="Group 31" id="31"/>
          <p:cNvGrpSpPr/>
          <p:nvPr/>
        </p:nvGrpSpPr>
        <p:grpSpPr>
          <a:xfrm rot="0">
            <a:off x="1385316" y="5445252"/>
            <a:ext cx="4663440" cy="795528"/>
            <a:chOff x="0" y="0"/>
            <a:chExt cx="6217920" cy="1060704"/>
          </a:xfrm>
        </p:grpSpPr>
        <p:sp>
          <p:nvSpPr>
            <p:cNvPr name="Freeform 32" id="32"/>
            <p:cNvSpPr/>
            <p:nvPr/>
          </p:nvSpPr>
          <p:spPr>
            <a:xfrm flipH="false" flipV="false" rot="0">
              <a:off x="0" y="0"/>
              <a:ext cx="6217920" cy="1060704"/>
            </a:xfrm>
            <a:custGeom>
              <a:avLst/>
              <a:gdLst/>
              <a:ahLst/>
              <a:cxnLst/>
              <a:rect r="r" b="b" t="t" l="l"/>
              <a:pathLst>
                <a:path h="1060704" w="6217920">
                  <a:moveTo>
                    <a:pt x="0" y="0"/>
                  </a:moveTo>
                  <a:lnTo>
                    <a:pt x="6217920" y="0"/>
                  </a:lnTo>
                  <a:lnTo>
                    <a:pt x="6217920" y="1060704"/>
                  </a:lnTo>
                  <a:lnTo>
                    <a:pt x="0" y="1060704"/>
                  </a:lnTo>
                  <a:close/>
                </a:path>
              </a:pathLst>
            </a:custGeom>
            <a:blipFill>
              <a:blip r:embed="rId3">
                <a:alphaModFix amt="0"/>
              </a:blip>
              <a:stretch>
                <a:fillRect l="0" t="-64222" r="0" b="-64222"/>
              </a:stretch>
            </a:blipFill>
          </p:spPr>
        </p:sp>
        <p:sp>
          <p:nvSpPr>
            <p:cNvPr name="TextBox 33" id="33"/>
            <p:cNvSpPr txBox="true"/>
            <p:nvPr/>
          </p:nvSpPr>
          <p:spPr>
            <a:xfrm>
              <a:off x="0" y="-9525"/>
              <a:ext cx="6217920" cy="1070229"/>
            </a:xfrm>
            <a:prstGeom prst="rect">
              <a:avLst/>
            </a:prstGeom>
          </p:spPr>
          <p:txBody>
            <a:bodyPr anchor="ctr" rtlCol="false" tIns="0" lIns="0" bIns="0" rIns="0"/>
            <a:lstStyle/>
            <a:p>
              <a:pPr algn="l">
                <a:lnSpc>
                  <a:spcPts val="2520"/>
                </a:lnSpc>
              </a:pPr>
              <a:r>
                <a:rPr lang="en-US" sz="2100">
                  <a:solidFill>
                    <a:srgbClr val="526B85"/>
                  </a:solidFill>
                  <a:latin typeface="Arial"/>
                  <a:ea typeface="Arial"/>
                  <a:cs typeface="Arial"/>
                  <a:sym typeface="Arial"/>
                </a:rPr>
                <a:t>12 chuyên gia tuyển ban đầu</a:t>
              </a:r>
            </a:p>
          </p:txBody>
        </p:sp>
      </p:grpSp>
      <p:grpSp>
        <p:nvGrpSpPr>
          <p:cNvPr name="Group 34" id="34"/>
          <p:cNvGrpSpPr/>
          <p:nvPr/>
        </p:nvGrpSpPr>
        <p:grpSpPr>
          <a:xfrm rot="0">
            <a:off x="6779895" y="2953131"/>
            <a:ext cx="5368290" cy="3653790"/>
            <a:chOff x="0" y="0"/>
            <a:chExt cx="7157720" cy="4871720"/>
          </a:xfrm>
        </p:grpSpPr>
        <p:sp>
          <p:nvSpPr>
            <p:cNvPr name="Freeform 35" id="35"/>
            <p:cNvSpPr/>
            <p:nvPr/>
          </p:nvSpPr>
          <p:spPr>
            <a:xfrm flipH="false" flipV="false" rot="0">
              <a:off x="0" y="0"/>
              <a:ext cx="7157720" cy="4871720"/>
            </a:xfrm>
            <a:custGeom>
              <a:avLst/>
              <a:gdLst/>
              <a:ahLst/>
              <a:cxnLst/>
              <a:rect r="r" b="b" t="t" l="l"/>
              <a:pathLst>
                <a:path h="4871720" w="7157720">
                  <a:moveTo>
                    <a:pt x="0" y="220599"/>
                  </a:moveTo>
                  <a:cubicBezTo>
                    <a:pt x="0" y="98806"/>
                    <a:pt x="98806" y="0"/>
                    <a:pt x="220599" y="0"/>
                  </a:cubicBezTo>
                  <a:lnTo>
                    <a:pt x="6937121" y="0"/>
                  </a:lnTo>
                  <a:cubicBezTo>
                    <a:pt x="7058914" y="0"/>
                    <a:pt x="7157720" y="98806"/>
                    <a:pt x="7157720" y="220599"/>
                  </a:cubicBezTo>
                  <a:lnTo>
                    <a:pt x="7157720" y="4651121"/>
                  </a:lnTo>
                  <a:cubicBezTo>
                    <a:pt x="7157720" y="4772914"/>
                    <a:pt x="7058914" y="4871720"/>
                    <a:pt x="6937121" y="4871720"/>
                  </a:cubicBezTo>
                  <a:lnTo>
                    <a:pt x="220599" y="4871720"/>
                  </a:lnTo>
                  <a:cubicBezTo>
                    <a:pt x="98806" y="4871720"/>
                    <a:pt x="0" y="4772914"/>
                    <a:pt x="0" y="4651121"/>
                  </a:cubicBezTo>
                  <a:close/>
                </a:path>
              </a:pathLst>
            </a:custGeom>
            <a:solidFill>
              <a:srgbClr val="FFFFFF"/>
            </a:solidFill>
            <a:ln w="19050" cap="sq">
              <a:solidFill>
                <a:srgbClr val="D8E4EF"/>
              </a:solidFill>
              <a:prstDash val="solid"/>
              <a:miter/>
            </a:ln>
          </p:spPr>
        </p:sp>
      </p:grpSp>
      <p:grpSp>
        <p:nvGrpSpPr>
          <p:cNvPr name="Group 36" id="36"/>
          <p:cNvGrpSpPr/>
          <p:nvPr/>
        </p:nvGrpSpPr>
        <p:grpSpPr>
          <a:xfrm rot="0">
            <a:off x="7118604" y="3319272"/>
            <a:ext cx="4594860" cy="466344"/>
            <a:chOff x="0" y="0"/>
            <a:chExt cx="6126480" cy="621792"/>
          </a:xfrm>
        </p:grpSpPr>
        <p:sp>
          <p:nvSpPr>
            <p:cNvPr name="Freeform 37" id="37"/>
            <p:cNvSpPr/>
            <p:nvPr/>
          </p:nvSpPr>
          <p:spPr>
            <a:xfrm flipH="false" flipV="false" rot="0">
              <a:off x="0" y="0"/>
              <a:ext cx="6126480" cy="621792"/>
            </a:xfrm>
            <a:custGeom>
              <a:avLst/>
              <a:gdLst/>
              <a:ahLst/>
              <a:cxnLst/>
              <a:rect r="r" b="b" t="t" l="l"/>
              <a:pathLst>
                <a:path h="621792" w="6126480">
                  <a:moveTo>
                    <a:pt x="0" y="0"/>
                  </a:moveTo>
                  <a:lnTo>
                    <a:pt x="6126480" y="0"/>
                  </a:lnTo>
                  <a:lnTo>
                    <a:pt x="6126480" y="621792"/>
                  </a:lnTo>
                  <a:lnTo>
                    <a:pt x="0" y="621792"/>
                  </a:lnTo>
                  <a:close/>
                </a:path>
              </a:pathLst>
            </a:custGeom>
            <a:blipFill>
              <a:blip r:embed="rId3">
                <a:alphaModFix amt="0"/>
              </a:blip>
              <a:stretch>
                <a:fillRect l="0" t="-141984" r="0" b="-141984"/>
              </a:stretch>
            </a:blipFill>
          </p:spPr>
        </p:sp>
        <p:sp>
          <p:nvSpPr>
            <p:cNvPr name="TextBox 38" id="38"/>
            <p:cNvSpPr txBox="true"/>
            <p:nvPr/>
          </p:nvSpPr>
          <p:spPr>
            <a:xfrm>
              <a:off x="0" y="-19050"/>
              <a:ext cx="6126480" cy="640842"/>
            </a:xfrm>
            <a:prstGeom prst="rect">
              <a:avLst/>
            </a:prstGeom>
          </p:spPr>
          <p:txBody>
            <a:bodyPr anchor="ctr" rtlCol="false" tIns="0" lIns="0" bIns="0" rIns="0"/>
            <a:lstStyle/>
            <a:p>
              <a:pPr algn="l">
                <a:lnSpc>
                  <a:spcPts val="3240"/>
                </a:lnSpc>
              </a:pPr>
              <a:r>
                <a:rPr lang="en-US" sz="2700" b="true">
                  <a:solidFill>
                    <a:srgbClr val="0D8489"/>
                  </a:solidFill>
                  <a:latin typeface="Arial Bold"/>
                  <a:ea typeface="Arial Bold"/>
                  <a:cs typeface="Arial Bold"/>
                  <a:sym typeface="Arial Bold"/>
                </a:rPr>
                <a:t>VÒNG 2</a:t>
              </a:r>
            </a:p>
          </p:txBody>
        </p:sp>
      </p:grpSp>
      <p:grpSp>
        <p:nvGrpSpPr>
          <p:cNvPr name="Group 39" id="39"/>
          <p:cNvGrpSpPr/>
          <p:nvPr/>
        </p:nvGrpSpPr>
        <p:grpSpPr>
          <a:xfrm rot="0">
            <a:off x="7118604" y="3991356"/>
            <a:ext cx="4608576" cy="480060"/>
            <a:chOff x="0" y="0"/>
            <a:chExt cx="6144768" cy="640080"/>
          </a:xfrm>
        </p:grpSpPr>
        <p:sp>
          <p:nvSpPr>
            <p:cNvPr name="Freeform 40" id="40"/>
            <p:cNvSpPr/>
            <p:nvPr/>
          </p:nvSpPr>
          <p:spPr>
            <a:xfrm flipH="false" flipV="false" rot="0">
              <a:off x="0" y="0"/>
              <a:ext cx="6144768" cy="640080"/>
            </a:xfrm>
            <a:custGeom>
              <a:avLst/>
              <a:gdLst/>
              <a:ahLst/>
              <a:cxnLst/>
              <a:rect r="r" b="b" t="t" l="l"/>
              <a:pathLst>
                <a:path h="640080" w="6144768">
                  <a:moveTo>
                    <a:pt x="0" y="0"/>
                  </a:moveTo>
                  <a:lnTo>
                    <a:pt x="6144768" y="0"/>
                  </a:lnTo>
                  <a:lnTo>
                    <a:pt x="6144768" y="640080"/>
                  </a:lnTo>
                  <a:lnTo>
                    <a:pt x="0" y="640080"/>
                  </a:lnTo>
                  <a:close/>
                </a:path>
              </a:pathLst>
            </a:custGeom>
            <a:blipFill>
              <a:blip r:embed="rId3">
                <a:alphaModFix amt="0"/>
              </a:blip>
              <a:stretch>
                <a:fillRect l="0" t="-137056" r="0" b="-137056"/>
              </a:stretch>
            </a:blipFill>
          </p:spPr>
        </p:sp>
        <p:sp>
          <p:nvSpPr>
            <p:cNvPr name="TextBox 41" id="41"/>
            <p:cNvSpPr txBox="true"/>
            <p:nvPr/>
          </p:nvSpPr>
          <p:spPr>
            <a:xfrm>
              <a:off x="0" y="-9525"/>
              <a:ext cx="6144768" cy="649605"/>
            </a:xfrm>
            <a:prstGeom prst="rect">
              <a:avLst/>
            </a:prstGeom>
          </p:spPr>
          <p:txBody>
            <a:bodyPr anchor="ctr" rtlCol="false" tIns="0" lIns="0" bIns="0" rIns="0"/>
            <a:lstStyle/>
            <a:p>
              <a:pPr algn="l">
                <a:lnSpc>
                  <a:spcPts val="2879"/>
                </a:lnSpc>
              </a:pPr>
              <a:r>
                <a:rPr lang="en-US" sz="2400" b="true">
                  <a:solidFill>
                    <a:srgbClr val="143351"/>
                  </a:solidFill>
                  <a:latin typeface="Arial Bold"/>
                  <a:ea typeface="Arial Bold"/>
                  <a:cs typeface="Arial Bold"/>
                  <a:sym typeface="Arial Bold"/>
                </a:rPr>
                <a:t>Chấm mức quan trọng</a:t>
              </a:r>
            </a:p>
          </p:txBody>
        </p:sp>
      </p:grpSp>
      <p:grpSp>
        <p:nvGrpSpPr>
          <p:cNvPr name="Group 42" id="42"/>
          <p:cNvGrpSpPr/>
          <p:nvPr/>
        </p:nvGrpSpPr>
        <p:grpSpPr>
          <a:xfrm rot="0">
            <a:off x="7118604" y="4745736"/>
            <a:ext cx="4663440" cy="411480"/>
            <a:chOff x="0" y="0"/>
            <a:chExt cx="6217920" cy="548640"/>
          </a:xfrm>
        </p:grpSpPr>
        <p:sp>
          <p:nvSpPr>
            <p:cNvPr name="Freeform 43" id="43"/>
            <p:cNvSpPr/>
            <p:nvPr/>
          </p:nvSpPr>
          <p:spPr>
            <a:xfrm flipH="false" flipV="false" rot="0">
              <a:off x="0" y="0"/>
              <a:ext cx="6217920" cy="548640"/>
            </a:xfrm>
            <a:custGeom>
              <a:avLst/>
              <a:gdLst/>
              <a:ahLst/>
              <a:cxnLst/>
              <a:rect r="r" b="b" t="t" l="l"/>
              <a:pathLst>
                <a:path h="548640" w="6217920">
                  <a:moveTo>
                    <a:pt x="0" y="0"/>
                  </a:moveTo>
                  <a:lnTo>
                    <a:pt x="6217920" y="0"/>
                  </a:lnTo>
                  <a:lnTo>
                    <a:pt x="6217920" y="548640"/>
                  </a:lnTo>
                  <a:lnTo>
                    <a:pt x="0" y="548640"/>
                  </a:lnTo>
                  <a:close/>
                </a:path>
              </a:pathLst>
            </a:custGeom>
            <a:blipFill>
              <a:blip r:embed="rId3">
                <a:alphaModFix amt="0"/>
              </a:blip>
              <a:stretch>
                <a:fillRect l="0" t="-170830" r="0" b="-170830"/>
              </a:stretch>
            </a:blipFill>
          </p:spPr>
        </p:sp>
        <p:sp>
          <p:nvSpPr>
            <p:cNvPr name="TextBox 44" id="44"/>
            <p:cNvSpPr txBox="true"/>
            <p:nvPr/>
          </p:nvSpPr>
          <p:spPr>
            <a:xfrm>
              <a:off x="0" y="-9525"/>
              <a:ext cx="6217920" cy="558165"/>
            </a:xfrm>
            <a:prstGeom prst="rect">
              <a:avLst/>
            </a:prstGeom>
          </p:spPr>
          <p:txBody>
            <a:bodyPr anchor="ctr" rtlCol="false" tIns="0" lIns="0" bIns="0" rIns="0"/>
            <a:lstStyle/>
            <a:p>
              <a:pPr algn="l">
                <a:lnSpc>
                  <a:spcPts val="3060"/>
                </a:lnSpc>
              </a:pPr>
              <a:r>
                <a:rPr lang="en-US" sz="2550">
                  <a:solidFill>
                    <a:srgbClr val="143351"/>
                  </a:solidFill>
                  <a:latin typeface="Arial"/>
                  <a:ea typeface="Arial"/>
                  <a:cs typeface="Arial"/>
                  <a:sym typeface="Arial"/>
                </a:rPr>
                <a:t>Thang Likert 1–5</a:t>
              </a:r>
            </a:p>
          </p:txBody>
        </p:sp>
      </p:grpSp>
      <p:grpSp>
        <p:nvGrpSpPr>
          <p:cNvPr name="Group 45" id="45"/>
          <p:cNvGrpSpPr/>
          <p:nvPr/>
        </p:nvGrpSpPr>
        <p:grpSpPr>
          <a:xfrm rot="0">
            <a:off x="7118604" y="5445252"/>
            <a:ext cx="4663440" cy="795528"/>
            <a:chOff x="0" y="0"/>
            <a:chExt cx="6217920" cy="1060704"/>
          </a:xfrm>
        </p:grpSpPr>
        <p:sp>
          <p:nvSpPr>
            <p:cNvPr name="Freeform 46" id="46"/>
            <p:cNvSpPr/>
            <p:nvPr/>
          </p:nvSpPr>
          <p:spPr>
            <a:xfrm flipH="false" flipV="false" rot="0">
              <a:off x="0" y="0"/>
              <a:ext cx="6217920" cy="1060704"/>
            </a:xfrm>
            <a:custGeom>
              <a:avLst/>
              <a:gdLst/>
              <a:ahLst/>
              <a:cxnLst/>
              <a:rect r="r" b="b" t="t" l="l"/>
              <a:pathLst>
                <a:path h="1060704" w="6217920">
                  <a:moveTo>
                    <a:pt x="0" y="0"/>
                  </a:moveTo>
                  <a:lnTo>
                    <a:pt x="6217920" y="0"/>
                  </a:lnTo>
                  <a:lnTo>
                    <a:pt x="6217920" y="1060704"/>
                  </a:lnTo>
                  <a:lnTo>
                    <a:pt x="0" y="1060704"/>
                  </a:lnTo>
                  <a:close/>
                </a:path>
              </a:pathLst>
            </a:custGeom>
            <a:blipFill>
              <a:blip r:embed="rId3">
                <a:alphaModFix amt="0"/>
              </a:blip>
              <a:stretch>
                <a:fillRect l="0" t="-64222" r="0" b="-64222"/>
              </a:stretch>
            </a:blipFill>
          </p:spPr>
        </p:sp>
        <p:sp>
          <p:nvSpPr>
            <p:cNvPr name="TextBox 47" id="47"/>
            <p:cNvSpPr txBox="true"/>
            <p:nvPr/>
          </p:nvSpPr>
          <p:spPr>
            <a:xfrm>
              <a:off x="0" y="-9525"/>
              <a:ext cx="6217920" cy="1070229"/>
            </a:xfrm>
            <a:prstGeom prst="rect">
              <a:avLst/>
            </a:prstGeom>
          </p:spPr>
          <p:txBody>
            <a:bodyPr anchor="ctr" rtlCol="false" tIns="0" lIns="0" bIns="0" rIns="0"/>
            <a:lstStyle/>
            <a:p>
              <a:pPr algn="l">
                <a:lnSpc>
                  <a:spcPts val="2520"/>
                </a:lnSpc>
              </a:pPr>
              <a:r>
                <a:rPr lang="en-US" sz="2100">
                  <a:solidFill>
                    <a:srgbClr val="526B85"/>
                  </a:solidFill>
                  <a:latin typeface="Arial"/>
                  <a:ea typeface="Arial"/>
                  <a:cs typeface="Arial"/>
                  <a:sym typeface="Arial"/>
                </a:rPr>
                <a:t>Thống kê và điều chỉnh danh mục</a:t>
              </a:r>
            </a:p>
          </p:txBody>
        </p:sp>
      </p:grpSp>
      <p:grpSp>
        <p:nvGrpSpPr>
          <p:cNvPr name="Group 48" id="48"/>
          <p:cNvGrpSpPr/>
          <p:nvPr/>
        </p:nvGrpSpPr>
        <p:grpSpPr>
          <a:xfrm rot="0">
            <a:off x="12513183" y="2953131"/>
            <a:ext cx="5368290" cy="3653790"/>
            <a:chOff x="0" y="0"/>
            <a:chExt cx="7157720" cy="4871720"/>
          </a:xfrm>
        </p:grpSpPr>
        <p:sp>
          <p:nvSpPr>
            <p:cNvPr name="Freeform 49" id="49"/>
            <p:cNvSpPr/>
            <p:nvPr/>
          </p:nvSpPr>
          <p:spPr>
            <a:xfrm flipH="false" flipV="false" rot="0">
              <a:off x="0" y="0"/>
              <a:ext cx="7157720" cy="4871720"/>
            </a:xfrm>
            <a:custGeom>
              <a:avLst/>
              <a:gdLst/>
              <a:ahLst/>
              <a:cxnLst/>
              <a:rect r="r" b="b" t="t" l="l"/>
              <a:pathLst>
                <a:path h="4871720" w="7157720">
                  <a:moveTo>
                    <a:pt x="0" y="220599"/>
                  </a:moveTo>
                  <a:cubicBezTo>
                    <a:pt x="0" y="98806"/>
                    <a:pt x="98806" y="0"/>
                    <a:pt x="220599" y="0"/>
                  </a:cubicBezTo>
                  <a:lnTo>
                    <a:pt x="6937121" y="0"/>
                  </a:lnTo>
                  <a:cubicBezTo>
                    <a:pt x="7058914" y="0"/>
                    <a:pt x="7157720" y="98806"/>
                    <a:pt x="7157720" y="220599"/>
                  </a:cubicBezTo>
                  <a:lnTo>
                    <a:pt x="7157720" y="4651121"/>
                  </a:lnTo>
                  <a:cubicBezTo>
                    <a:pt x="7157720" y="4772914"/>
                    <a:pt x="7058914" y="4871720"/>
                    <a:pt x="6937121" y="4871720"/>
                  </a:cubicBezTo>
                  <a:lnTo>
                    <a:pt x="220599" y="4871720"/>
                  </a:lnTo>
                  <a:cubicBezTo>
                    <a:pt x="98806" y="4871720"/>
                    <a:pt x="0" y="4772914"/>
                    <a:pt x="0" y="4651121"/>
                  </a:cubicBezTo>
                  <a:close/>
                </a:path>
              </a:pathLst>
            </a:custGeom>
            <a:solidFill>
              <a:srgbClr val="FFFFFF"/>
            </a:solidFill>
            <a:ln w="19050" cap="sq">
              <a:solidFill>
                <a:srgbClr val="D8E4EF"/>
              </a:solidFill>
              <a:prstDash val="solid"/>
              <a:miter/>
            </a:ln>
          </p:spPr>
        </p:sp>
      </p:grpSp>
      <p:grpSp>
        <p:nvGrpSpPr>
          <p:cNvPr name="Group 50" id="50"/>
          <p:cNvGrpSpPr/>
          <p:nvPr/>
        </p:nvGrpSpPr>
        <p:grpSpPr>
          <a:xfrm rot="0">
            <a:off x="12851892" y="3319272"/>
            <a:ext cx="4594860" cy="466344"/>
            <a:chOff x="0" y="0"/>
            <a:chExt cx="6126480" cy="621792"/>
          </a:xfrm>
        </p:grpSpPr>
        <p:sp>
          <p:nvSpPr>
            <p:cNvPr name="Freeform 51" id="51"/>
            <p:cNvSpPr/>
            <p:nvPr/>
          </p:nvSpPr>
          <p:spPr>
            <a:xfrm flipH="false" flipV="false" rot="0">
              <a:off x="0" y="0"/>
              <a:ext cx="6126480" cy="621792"/>
            </a:xfrm>
            <a:custGeom>
              <a:avLst/>
              <a:gdLst/>
              <a:ahLst/>
              <a:cxnLst/>
              <a:rect r="r" b="b" t="t" l="l"/>
              <a:pathLst>
                <a:path h="621792" w="6126480">
                  <a:moveTo>
                    <a:pt x="0" y="0"/>
                  </a:moveTo>
                  <a:lnTo>
                    <a:pt x="6126480" y="0"/>
                  </a:lnTo>
                  <a:lnTo>
                    <a:pt x="6126480" y="621792"/>
                  </a:lnTo>
                  <a:lnTo>
                    <a:pt x="0" y="621792"/>
                  </a:lnTo>
                  <a:close/>
                </a:path>
              </a:pathLst>
            </a:custGeom>
            <a:blipFill>
              <a:blip r:embed="rId3">
                <a:alphaModFix amt="0"/>
              </a:blip>
              <a:stretch>
                <a:fillRect l="0" t="-141984" r="0" b="-141984"/>
              </a:stretch>
            </a:blipFill>
          </p:spPr>
        </p:sp>
        <p:sp>
          <p:nvSpPr>
            <p:cNvPr name="TextBox 52" id="52"/>
            <p:cNvSpPr txBox="true"/>
            <p:nvPr/>
          </p:nvSpPr>
          <p:spPr>
            <a:xfrm>
              <a:off x="0" y="-19050"/>
              <a:ext cx="6126480" cy="640842"/>
            </a:xfrm>
            <a:prstGeom prst="rect">
              <a:avLst/>
            </a:prstGeom>
          </p:spPr>
          <p:txBody>
            <a:bodyPr anchor="ctr" rtlCol="false" tIns="0" lIns="0" bIns="0" rIns="0"/>
            <a:lstStyle/>
            <a:p>
              <a:pPr algn="l">
                <a:lnSpc>
                  <a:spcPts val="3240"/>
                </a:lnSpc>
              </a:pPr>
              <a:r>
                <a:rPr lang="en-US" sz="2700" b="true">
                  <a:solidFill>
                    <a:srgbClr val="0D8489"/>
                  </a:solidFill>
                  <a:latin typeface="Arial Bold"/>
                  <a:ea typeface="Arial Bold"/>
                  <a:cs typeface="Arial Bold"/>
                  <a:sym typeface="Arial Bold"/>
                </a:rPr>
                <a:t>VÒNG 3</a:t>
              </a:r>
            </a:p>
          </p:txBody>
        </p:sp>
      </p:grpSp>
      <p:grpSp>
        <p:nvGrpSpPr>
          <p:cNvPr name="Group 53" id="53"/>
          <p:cNvGrpSpPr/>
          <p:nvPr/>
        </p:nvGrpSpPr>
        <p:grpSpPr>
          <a:xfrm rot="0">
            <a:off x="12851892" y="3991356"/>
            <a:ext cx="4608576" cy="480060"/>
            <a:chOff x="0" y="0"/>
            <a:chExt cx="6144768" cy="640080"/>
          </a:xfrm>
        </p:grpSpPr>
        <p:sp>
          <p:nvSpPr>
            <p:cNvPr name="Freeform 54" id="54"/>
            <p:cNvSpPr/>
            <p:nvPr/>
          </p:nvSpPr>
          <p:spPr>
            <a:xfrm flipH="false" flipV="false" rot="0">
              <a:off x="0" y="0"/>
              <a:ext cx="6144768" cy="640080"/>
            </a:xfrm>
            <a:custGeom>
              <a:avLst/>
              <a:gdLst/>
              <a:ahLst/>
              <a:cxnLst/>
              <a:rect r="r" b="b" t="t" l="l"/>
              <a:pathLst>
                <a:path h="640080" w="6144768">
                  <a:moveTo>
                    <a:pt x="0" y="0"/>
                  </a:moveTo>
                  <a:lnTo>
                    <a:pt x="6144768" y="0"/>
                  </a:lnTo>
                  <a:lnTo>
                    <a:pt x="6144768" y="640080"/>
                  </a:lnTo>
                  <a:lnTo>
                    <a:pt x="0" y="640080"/>
                  </a:lnTo>
                  <a:close/>
                </a:path>
              </a:pathLst>
            </a:custGeom>
            <a:blipFill>
              <a:blip r:embed="rId3">
                <a:alphaModFix amt="0"/>
              </a:blip>
              <a:stretch>
                <a:fillRect l="0" t="-137056" r="0" b="-137056"/>
              </a:stretch>
            </a:blipFill>
          </p:spPr>
        </p:sp>
        <p:sp>
          <p:nvSpPr>
            <p:cNvPr name="TextBox 55" id="55"/>
            <p:cNvSpPr txBox="true"/>
            <p:nvPr/>
          </p:nvSpPr>
          <p:spPr>
            <a:xfrm>
              <a:off x="0" y="-9525"/>
              <a:ext cx="6144768" cy="649605"/>
            </a:xfrm>
            <a:prstGeom prst="rect">
              <a:avLst/>
            </a:prstGeom>
          </p:spPr>
          <p:txBody>
            <a:bodyPr anchor="ctr" rtlCol="false" tIns="0" lIns="0" bIns="0" rIns="0"/>
            <a:lstStyle/>
            <a:p>
              <a:pPr algn="l">
                <a:lnSpc>
                  <a:spcPts val="2879"/>
                </a:lnSpc>
              </a:pPr>
              <a:r>
                <a:rPr lang="en-US" sz="2400" b="true">
                  <a:solidFill>
                    <a:srgbClr val="143351"/>
                  </a:solidFill>
                  <a:latin typeface="Arial Bold"/>
                  <a:ea typeface="Arial Bold"/>
                  <a:cs typeface="Arial Bold"/>
                  <a:sym typeface="Arial Bold"/>
                </a:rPr>
                <a:t>Kiểm tra đồng thuận</a:t>
              </a:r>
            </a:p>
          </p:txBody>
        </p:sp>
      </p:grpSp>
      <p:grpSp>
        <p:nvGrpSpPr>
          <p:cNvPr name="Group 56" id="56"/>
          <p:cNvGrpSpPr/>
          <p:nvPr/>
        </p:nvGrpSpPr>
        <p:grpSpPr>
          <a:xfrm rot="0">
            <a:off x="12851892" y="4745736"/>
            <a:ext cx="4663440" cy="411480"/>
            <a:chOff x="0" y="0"/>
            <a:chExt cx="6217920" cy="548640"/>
          </a:xfrm>
        </p:grpSpPr>
        <p:sp>
          <p:nvSpPr>
            <p:cNvPr name="Freeform 57" id="57"/>
            <p:cNvSpPr/>
            <p:nvPr/>
          </p:nvSpPr>
          <p:spPr>
            <a:xfrm flipH="false" flipV="false" rot="0">
              <a:off x="0" y="0"/>
              <a:ext cx="6217920" cy="548640"/>
            </a:xfrm>
            <a:custGeom>
              <a:avLst/>
              <a:gdLst/>
              <a:ahLst/>
              <a:cxnLst/>
              <a:rect r="r" b="b" t="t" l="l"/>
              <a:pathLst>
                <a:path h="548640" w="6217920">
                  <a:moveTo>
                    <a:pt x="0" y="0"/>
                  </a:moveTo>
                  <a:lnTo>
                    <a:pt x="6217920" y="0"/>
                  </a:lnTo>
                  <a:lnTo>
                    <a:pt x="6217920" y="548640"/>
                  </a:lnTo>
                  <a:lnTo>
                    <a:pt x="0" y="548640"/>
                  </a:lnTo>
                  <a:close/>
                </a:path>
              </a:pathLst>
            </a:custGeom>
            <a:blipFill>
              <a:blip r:embed="rId3">
                <a:alphaModFix amt="0"/>
              </a:blip>
              <a:stretch>
                <a:fillRect l="0" t="-170830" r="0" b="-170830"/>
              </a:stretch>
            </a:blipFill>
          </p:spPr>
        </p:sp>
        <p:sp>
          <p:nvSpPr>
            <p:cNvPr name="TextBox 58" id="58"/>
            <p:cNvSpPr txBox="true"/>
            <p:nvPr/>
          </p:nvSpPr>
          <p:spPr>
            <a:xfrm>
              <a:off x="0" y="-9525"/>
              <a:ext cx="6217920" cy="558165"/>
            </a:xfrm>
            <a:prstGeom prst="rect">
              <a:avLst/>
            </a:prstGeom>
          </p:spPr>
          <p:txBody>
            <a:bodyPr anchor="ctr" rtlCol="false" tIns="0" lIns="0" bIns="0" rIns="0"/>
            <a:lstStyle/>
            <a:p>
              <a:pPr algn="l">
                <a:lnSpc>
                  <a:spcPts val="3060"/>
                </a:lnSpc>
              </a:pPr>
              <a:r>
                <a:rPr lang="en-US" sz="2550">
                  <a:solidFill>
                    <a:srgbClr val="143351"/>
                  </a:solidFill>
                  <a:latin typeface="Arial"/>
                  <a:ea typeface="Arial"/>
                  <a:cs typeface="Arial"/>
                  <a:sym typeface="Arial"/>
                </a:rPr>
                <a:t>10 phản hồi cuối</a:t>
              </a:r>
            </a:p>
          </p:txBody>
        </p:sp>
      </p:grpSp>
      <p:grpSp>
        <p:nvGrpSpPr>
          <p:cNvPr name="Group 59" id="59"/>
          <p:cNvGrpSpPr/>
          <p:nvPr/>
        </p:nvGrpSpPr>
        <p:grpSpPr>
          <a:xfrm rot="0">
            <a:off x="12851892" y="5445252"/>
            <a:ext cx="4663440" cy="795528"/>
            <a:chOff x="0" y="0"/>
            <a:chExt cx="6217920" cy="1060704"/>
          </a:xfrm>
        </p:grpSpPr>
        <p:sp>
          <p:nvSpPr>
            <p:cNvPr name="Freeform 60" id="60"/>
            <p:cNvSpPr/>
            <p:nvPr/>
          </p:nvSpPr>
          <p:spPr>
            <a:xfrm flipH="false" flipV="false" rot="0">
              <a:off x="0" y="0"/>
              <a:ext cx="6217920" cy="1060704"/>
            </a:xfrm>
            <a:custGeom>
              <a:avLst/>
              <a:gdLst/>
              <a:ahLst/>
              <a:cxnLst/>
              <a:rect r="r" b="b" t="t" l="l"/>
              <a:pathLst>
                <a:path h="1060704" w="6217920">
                  <a:moveTo>
                    <a:pt x="0" y="0"/>
                  </a:moveTo>
                  <a:lnTo>
                    <a:pt x="6217920" y="0"/>
                  </a:lnTo>
                  <a:lnTo>
                    <a:pt x="6217920" y="1060704"/>
                  </a:lnTo>
                  <a:lnTo>
                    <a:pt x="0" y="1060704"/>
                  </a:lnTo>
                  <a:close/>
                </a:path>
              </a:pathLst>
            </a:custGeom>
            <a:blipFill>
              <a:blip r:embed="rId3">
                <a:alphaModFix amt="0"/>
              </a:blip>
              <a:stretch>
                <a:fillRect l="0" t="-64222" r="0" b="-64222"/>
              </a:stretch>
            </a:blipFill>
          </p:spPr>
        </p:sp>
        <p:sp>
          <p:nvSpPr>
            <p:cNvPr name="TextBox 61" id="61"/>
            <p:cNvSpPr txBox="true"/>
            <p:nvPr/>
          </p:nvSpPr>
          <p:spPr>
            <a:xfrm>
              <a:off x="0" y="-9525"/>
              <a:ext cx="6217920" cy="1070229"/>
            </a:xfrm>
            <a:prstGeom prst="rect">
              <a:avLst/>
            </a:prstGeom>
          </p:spPr>
          <p:txBody>
            <a:bodyPr anchor="ctr" rtlCol="false" tIns="0" lIns="0" bIns="0" rIns="0"/>
            <a:lstStyle/>
            <a:p>
              <a:pPr algn="l">
                <a:lnSpc>
                  <a:spcPts val="2520"/>
                </a:lnSpc>
              </a:pPr>
              <a:r>
                <a:rPr lang="en-US" sz="2100">
                  <a:solidFill>
                    <a:srgbClr val="526B85"/>
                  </a:solidFill>
                  <a:latin typeface="Arial"/>
                  <a:ea typeface="Arial"/>
                  <a:cs typeface="Arial"/>
                  <a:sym typeface="Arial"/>
                </a:rPr>
                <a:t>36 quy trình được chọn</a:t>
              </a:r>
            </a:p>
          </p:txBody>
        </p:sp>
      </p:grpSp>
      <p:grpSp>
        <p:nvGrpSpPr>
          <p:cNvPr name="Group 62" id="62"/>
          <p:cNvGrpSpPr/>
          <p:nvPr/>
        </p:nvGrpSpPr>
        <p:grpSpPr>
          <a:xfrm rot="0">
            <a:off x="1046607" y="7081647"/>
            <a:ext cx="16450818" cy="1747266"/>
            <a:chOff x="0" y="0"/>
            <a:chExt cx="21934424" cy="2329688"/>
          </a:xfrm>
        </p:grpSpPr>
        <p:sp>
          <p:nvSpPr>
            <p:cNvPr name="Freeform 63" id="63"/>
            <p:cNvSpPr/>
            <p:nvPr/>
          </p:nvSpPr>
          <p:spPr>
            <a:xfrm flipH="false" flipV="false" rot="0">
              <a:off x="0" y="0"/>
              <a:ext cx="21934424" cy="2329688"/>
            </a:xfrm>
            <a:custGeom>
              <a:avLst/>
              <a:gdLst/>
              <a:ahLst/>
              <a:cxnLst/>
              <a:rect r="r" b="b" t="t" l="l"/>
              <a:pathLst>
                <a:path h="2329688" w="21934424">
                  <a:moveTo>
                    <a:pt x="0" y="221869"/>
                  </a:moveTo>
                  <a:cubicBezTo>
                    <a:pt x="0" y="99314"/>
                    <a:pt x="99314" y="0"/>
                    <a:pt x="221869" y="0"/>
                  </a:cubicBezTo>
                  <a:lnTo>
                    <a:pt x="21712555" y="0"/>
                  </a:lnTo>
                  <a:cubicBezTo>
                    <a:pt x="21835111" y="0"/>
                    <a:pt x="21934424" y="99314"/>
                    <a:pt x="21934424" y="221869"/>
                  </a:cubicBezTo>
                  <a:lnTo>
                    <a:pt x="21934424" y="2107819"/>
                  </a:lnTo>
                  <a:cubicBezTo>
                    <a:pt x="21934424" y="2230374"/>
                    <a:pt x="21835111" y="2329688"/>
                    <a:pt x="21712555" y="2329688"/>
                  </a:cubicBezTo>
                  <a:lnTo>
                    <a:pt x="221869" y="2329688"/>
                  </a:lnTo>
                  <a:cubicBezTo>
                    <a:pt x="99314" y="2329688"/>
                    <a:pt x="0" y="2230374"/>
                    <a:pt x="0" y="2107819"/>
                  </a:cubicBezTo>
                  <a:close/>
                </a:path>
              </a:pathLst>
            </a:custGeom>
            <a:solidFill>
              <a:srgbClr val="E6F4F2"/>
            </a:solidFill>
            <a:ln w="19050" cap="sq">
              <a:solidFill>
                <a:srgbClr val="D8E4EF"/>
              </a:solidFill>
              <a:prstDash val="solid"/>
              <a:miter/>
            </a:ln>
          </p:spPr>
        </p:sp>
      </p:grpSp>
      <p:grpSp>
        <p:nvGrpSpPr>
          <p:cNvPr name="Group 64" id="64"/>
          <p:cNvGrpSpPr/>
          <p:nvPr/>
        </p:nvGrpSpPr>
        <p:grpSpPr>
          <a:xfrm rot="0">
            <a:off x="1412748" y="7365492"/>
            <a:ext cx="4937760" cy="466344"/>
            <a:chOff x="0" y="0"/>
            <a:chExt cx="6583680" cy="621792"/>
          </a:xfrm>
        </p:grpSpPr>
        <p:sp>
          <p:nvSpPr>
            <p:cNvPr name="Freeform 65" id="65"/>
            <p:cNvSpPr/>
            <p:nvPr/>
          </p:nvSpPr>
          <p:spPr>
            <a:xfrm flipH="false" flipV="false" rot="0">
              <a:off x="0" y="0"/>
              <a:ext cx="6583680" cy="621792"/>
            </a:xfrm>
            <a:custGeom>
              <a:avLst/>
              <a:gdLst/>
              <a:ahLst/>
              <a:cxnLst/>
              <a:rect r="r" b="b" t="t" l="l"/>
              <a:pathLst>
                <a:path h="621792" w="6583680">
                  <a:moveTo>
                    <a:pt x="0" y="0"/>
                  </a:moveTo>
                  <a:lnTo>
                    <a:pt x="6583680" y="0"/>
                  </a:lnTo>
                  <a:lnTo>
                    <a:pt x="6583680" y="621792"/>
                  </a:lnTo>
                  <a:lnTo>
                    <a:pt x="0" y="621792"/>
                  </a:lnTo>
                  <a:close/>
                </a:path>
              </a:pathLst>
            </a:custGeom>
            <a:blipFill>
              <a:blip r:embed="rId3">
                <a:alphaModFix amt="0"/>
              </a:blip>
              <a:stretch>
                <a:fillRect l="0" t="-156312" r="0" b="-156312"/>
              </a:stretch>
            </a:blipFill>
          </p:spPr>
        </p:sp>
        <p:sp>
          <p:nvSpPr>
            <p:cNvPr name="TextBox 66" id="66"/>
            <p:cNvSpPr txBox="true"/>
            <p:nvPr/>
          </p:nvSpPr>
          <p:spPr>
            <a:xfrm>
              <a:off x="0" y="-9525"/>
              <a:ext cx="6583680" cy="631317"/>
            </a:xfrm>
            <a:prstGeom prst="rect">
              <a:avLst/>
            </a:prstGeom>
          </p:spPr>
          <p:txBody>
            <a:bodyPr anchor="ctr" rtlCol="false" tIns="0" lIns="0" bIns="0" rIns="0"/>
            <a:lstStyle/>
            <a:p>
              <a:pPr algn="l">
                <a:lnSpc>
                  <a:spcPts val="3060"/>
                </a:lnSpc>
              </a:pPr>
              <a:r>
                <a:rPr lang="en-US" sz="2550" b="true">
                  <a:solidFill>
                    <a:srgbClr val="0D8489"/>
                  </a:solidFill>
                  <a:latin typeface="Arial Bold"/>
                  <a:ea typeface="Arial Bold"/>
                  <a:cs typeface="Arial Bold"/>
                  <a:sym typeface="Arial Bold"/>
                </a:rPr>
                <a:t>TIÊU CHÍ ĐƯỢC CHỌN</a:t>
              </a:r>
            </a:p>
          </p:txBody>
        </p:sp>
      </p:grpSp>
      <p:grpSp>
        <p:nvGrpSpPr>
          <p:cNvPr name="Group 67" id="67"/>
          <p:cNvGrpSpPr/>
          <p:nvPr/>
        </p:nvGrpSpPr>
        <p:grpSpPr>
          <a:xfrm rot="0">
            <a:off x="6473952" y="7324344"/>
            <a:ext cx="9738360" cy="630936"/>
            <a:chOff x="0" y="0"/>
            <a:chExt cx="12984480" cy="841248"/>
          </a:xfrm>
        </p:grpSpPr>
        <p:sp>
          <p:nvSpPr>
            <p:cNvPr name="Freeform 68" id="68"/>
            <p:cNvSpPr/>
            <p:nvPr/>
          </p:nvSpPr>
          <p:spPr>
            <a:xfrm flipH="false" flipV="false" rot="0">
              <a:off x="0" y="0"/>
              <a:ext cx="12984480" cy="841248"/>
            </a:xfrm>
            <a:custGeom>
              <a:avLst/>
              <a:gdLst/>
              <a:ahLst/>
              <a:cxnLst/>
              <a:rect r="r" b="b" t="t" l="l"/>
              <a:pathLst>
                <a:path h="841248" w="12984480">
                  <a:moveTo>
                    <a:pt x="0" y="0"/>
                  </a:moveTo>
                  <a:lnTo>
                    <a:pt x="12984480" y="0"/>
                  </a:lnTo>
                  <a:lnTo>
                    <a:pt x="12984480" y="841248"/>
                  </a:lnTo>
                  <a:lnTo>
                    <a:pt x="0" y="841248"/>
                  </a:lnTo>
                  <a:close/>
                </a:path>
              </a:pathLst>
            </a:custGeom>
            <a:blipFill>
              <a:blip r:embed="rId3">
                <a:alphaModFix amt="0"/>
              </a:blip>
              <a:stretch>
                <a:fillRect l="0" t="-250747" r="0" b="-250747"/>
              </a:stretch>
            </a:blipFill>
          </p:spPr>
        </p:sp>
        <p:sp>
          <p:nvSpPr>
            <p:cNvPr name="TextBox 69" id="69"/>
            <p:cNvSpPr txBox="true"/>
            <p:nvPr/>
          </p:nvSpPr>
          <p:spPr>
            <a:xfrm>
              <a:off x="0" y="-38100"/>
              <a:ext cx="12984480" cy="879348"/>
            </a:xfrm>
            <a:prstGeom prst="rect">
              <a:avLst/>
            </a:prstGeom>
          </p:spPr>
          <p:txBody>
            <a:bodyPr anchor="ctr" rtlCol="false" tIns="0" lIns="0" bIns="0" rIns="0"/>
            <a:lstStyle/>
            <a:p>
              <a:pPr algn="l">
                <a:lnSpc>
                  <a:spcPts val="4500"/>
                </a:lnSpc>
              </a:pPr>
              <a:r>
                <a:rPr lang="en-US" sz="3750" b="true">
                  <a:solidFill>
                    <a:srgbClr val="143351"/>
                  </a:solidFill>
                  <a:latin typeface="Arial Bold"/>
                  <a:ea typeface="Arial Bold"/>
                  <a:cs typeface="Arial Bold"/>
                  <a:sym typeface="Arial Bold"/>
                </a:rPr>
                <a:t>Median ≥ 4    VÀ    IQR ≤ 1</a:t>
              </a:r>
            </a:p>
          </p:txBody>
        </p:sp>
      </p:grpSp>
      <p:grpSp>
        <p:nvGrpSpPr>
          <p:cNvPr name="Group 70" id="70"/>
          <p:cNvGrpSpPr/>
          <p:nvPr/>
        </p:nvGrpSpPr>
        <p:grpSpPr>
          <a:xfrm rot="0">
            <a:off x="1385316" y="8325612"/>
            <a:ext cx="16047720" cy="301752"/>
            <a:chOff x="0" y="0"/>
            <a:chExt cx="21396960" cy="402336"/>
          </a:xfrm>
        </p:grpSpPr>
        <p:sp>
          <p:nvSpPr>
            <p:cNvPr name="Freeform 71" id="71"/>
            <p:cNvSpPr/>
            <p:nvPr/>
          </p:nvSpPr>
          <p:spPr>
            <a:xfrm flipH="false" flipV="false" rot="0">
              <a:off x="0" y="0"/>
              <a:ext cx="21396961" cy="402336"/>
            </a:xfrm>
            <a:custGeom>
              <a:avLst/>
              <a:gdLst/>
              <a:ahLst/>
              <a:cxnLst/>
              <a:rect r="r" b="b" t="t" l="l"/>
              <a:pathLst>
                <a:path h="402336" w="21396961">
                  <a:moveTo>
                    <a:pt x="0" y="0"/>
                  </a:moveTo>
                  <a:lnTo>
                    <a:pt x="21396961" y="0"/>
                  </a:lnTo>
                  <a:lnTo>
                    <a:pt x="21396961" y="402336"/>
                  </a:lnTo>
                  <a:lnTo>
                    <a:pt x="0" y="402336"/>
                  </a:lnTo>
                  <a:close/>
                </a:path>
              </a:pathLst>
            </a:custGeom>
            <a:blipFill>
              <a:blip r:embed="rId3">
                <a:alphaModFix amt="0"/>
              </a:blip>
              <a:stretch>
                <a:fillRect l="0" t="-986249" r="0" b="-986249"/>
              </a:stretch>
            </a:blipFill>
          </p:spPr>
        </p:sp>
        <p:sp>
          <p:nvSpPr>
            <p:cNvPr name="TextBox 72" id="72"/>
            <p:cNvSpPr txBox="true"/>
            <p:nvPr/>
          </p:nvSpPr>
          <p:spPr>
            <a:xfrm>
              <a:off x="0" y="-19050"/>
              <a:ext cx="21396960" cy="421386"/>
            </a:xfrm>
            <a:prstGeom prst="rect">
              <a:avLst/>
            </a:prstGeom>
          </p:spPr>
          <p:txBody>
            <a:bodyPr anchor="ctr" rtlCol="false" tIns="0" lIns="0" bIns="0" rIns="0"/>
            <a:lstStyle/>
            <a:p>
              <a:pPr algn="l">
                <a:lnSpc>
                  <a:spcPts val="2160"/>
                </a:lnSpc>
              </a:pPr>
              <a:r>
                <a:rPr lang="en-US" sz="1800">
                  <a:solidFill>
                    <a:srgbClr val="526B85"/>
                  </a:solidFill>
                  <a:latin typeface="Arial"/>
                  <a:ea typeface="Arial"/>
                  <a:cs typeface="Arial"/>
                  <a:sym typeface="Arial"/>
                </a:rPr>
                <a:t>Median: trung vị; IQR = Q3 – Q1: khoảng tứ phân vị, đo độ phân tán của 50% điểm ở giữa.</a:t>
              </a:r>
            </a:p>
          </p:txBody>
        </p:sp>
      </p:gr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5F8FB"/>
        </a:solidFill>
      </p:bgPr>
    </p:bg>
    <p:spTree>
      <p:nvGrpSpPr>
        <p:cNvPr id="1" name=""/>
        <p:cNvGrpSpPr/>
        <p:nvPr/>
      </p:nvGrpSpPr>
      <p:grpSpPr>
        <a:xfrm>
          <a:off x="0" y="0"/>
          <a:ext cx="0" cy="0"/>
          <a:chOff x="0" y="0"/>
          <a:chExt cx="0" cy="0"/>
        </a:xfrm>
      </p:grpSpPr>
      <p:grpSp>
        <p:nvGrpSpPr>
          <p:cNvPr name="Group 2" id="2"/>
          <p:cNvGrpSpPr/>
          <p:nvPr/>
        </p:nvGrpSpPr>
        <p:grpSpPr>
          <a:xfrm rot="0">
            <a:off x="-9525" y="-9525"/>
            <a:ext cx="163068" cy="10306050"/>
            <a:chOff x="0" y="0"/>
            <a:chExt cx="217424" cy="13741400"/>
          </a:xfrm>
        </p:grpSpPr>
        <p:sp>
          <p:nvSpPr>
            <p:cNvPr name="Freeform 3" id="3"/>
            <p:cNvSpPr/>
            <p:nvPr/>
          </p:nvSpPr>
          <p:spPr>
            <a:xfrm flipH="false" flipV="false" rot="0">
              <a:off x="0" y="0"/>
              <a:ext cx="217424" cy="13741400"/>
            </a:xfrm>
            <a:custGeom>
              <a:avLst/>
              <a:gdLst/>
              <a:ahLst/>
              <a:cxnLst/>
              <a:rect r="r" b="b" t="t" l="l"/>
              <a:pathLst>
                <a:path h="13741400" w="217424">
                  <a:moveTo>
                    <a:pt x="0" y="0"/>
                  </a:moveTo>
                  <a:lnTo>
                    <a:pt x="217424" y="0"/>
                  </a:lnTo>
                  <a:lnTo>
                    <a:pt x="217424" y="13741400"/>
                  </a:lnTo>
                  <a:lnTo>
                    <a:pt x="0" y="13741400"/>
                  </a:lnTo>
                  <a:close/>
                </a:path>
              </a:pathLst>
            </a:custGeom>
            <a:solidFill>
              <a:srgbClr val="137E82"/>
            </a:solidFill>
          </p:spPr>
        </p:sp>
      </p:grpSp>
      <p:grpSp>
        <p:nvGrpSpPr>
          <p:cNvPr name="Group 4" id="4"/>
          <p:cNvGrpSpPr/>
          <p:nvPr/>
        </p:nvGrpSpPr>
        <p:grpSpPr>
          <a:xfrm rot="0">
            <a:off x="987552" y="329184"/>
            <a:ext cx="15087600" cy="342900"/>
            <a:chOff x="0" y="0"/>
            <a:chExt cx="20116800" cy="457200"/>
          </a:xfrm>
        </p:grpSpPr>
        <p:sp>
          <p:nvSpPr>
            <p:cNvPr name="Freeform 5" id="5"/>
            <p:cNvSpPr/>
            <p:nvPr/>
          </p:nvSpPr>
          <p:spPr>
            <a:xfrm flipH="false" flipV="false" rot="0">
              <a:off x="0" y="0"/>
              <a:ext cx="20116800" cy="457200"/>
            </a:xfrm>
            <a:custGeom>
              <a:avLst/>
              <a:gdLst/>
              <a:ahLst/>
              <a:cxnLst/>
              <a:rect r="r" b="b" t="t" l="l"/>
              <a:pathLst>
                <a:path h="457200" w="20116800">
                  <a:moveTo>
                    <a:pt x="0" y="0"/>
                  </a:moveTo>
                  <a:lnTo>
                    <a:pt x="20116800" y="0"/>
                  </a:lnTo>
                  <a:lnTo>
                    <a:pt x="20116800" y="457200"/>
                  </a:lnTo>
                  <a:lnTo>
                    <a:pt x="0" y="457200"/>
                  </a:lnTo>
                  <a:close/>
                </a:path>
              </a:pathLst>
            </a:custGeom>
            <a:blipFill>
              <a:blip r:embed="rId3">
                <a:alphaModFix amt="0"/>
              </a:blip>
              <a:stretch>
                <a:fillRect l="0" t="-807341" r="0" b="-807341"/>
              </a:stretch>
            </a:blipFill>
          </p:spPr>
        </p:sp>
        <p:sp>
          <p:nvSpPr>
            <p:cNvPr name="TextBox 6" id="6"/>
            <p:cNvSpPr txBox="true"/>
            <p:nvPr/>
          </p:nvSpPr>
          <p:spPr>
            <a:xfrm>
              <a:off x="0" y="-9525"/>
              <a:ext cx="20116800" cy="466725"/>
            </a:xfrm>
            <a:prstGeom prst="rect">
              <a:avLst/>
            </a:prstGeom>
          </p:spPr>
          <p:txBody>
            <a:bodyPr anchor="ctr" rtlCol="false" tIns="0" lIns="0" bIns="0" rIns="0"/>
            <a:lstStyle/>
            <a:p>
              <a:pPr algn="l">
                <a:lnSpc>
                  <a:spcPts val="1745"/>
                </a:lnSpc>
              </a:pPr>
              <a:r>
                <a:rPr lang="en-US" b="true" sz="1455" spc="239">
                  <a:solidFill>
                    <a:srgbClr val="137E82"/>
                  </a:solidFill>
                  <a:latin typeface="Arial Bold"/>
                  <a:ea typeface="Arial Bold"/>
                  <a:cs typeface="Arial Bold"/>
                  <a:sym typeface="Arial Bold"/>
                </a:rPr>
                <a:t>PHƯƠNG PHÁP → DỮ LIỆU GỐC</a:t>
              </a:r>
            </a:p>
          </p:txBody>
        </p:sp>
      </p:grpSp>
      <p:grpSp>
        <p:nvGrpSpPr>
          <p:cNvPr name="Group 7" id="7"/>
          <p:cNvGrpSpPr/>
          <p:nvPr/>
        </p:nvGrpSpPr>
        <p:grpSpPr>
          <a:xfrm rot="0">
            <a:off x="987552" y="946404"/>
            <a:ext cx="16459200" cy="781812"/>
            <a:chOff x="0" y="0"/>
            <a:chExt cx="21945600" cy="1042416"/>
          </a:xfrm>
        </p:grpSpPr>
        <p:sp>
          <p:nvSpPr>
            <p:cNvPr name="Freeform 8" id="8"/>
            <p:cNvSpPr/>
            <p:nvPr/>
          </p:nvSpPr>
          <p:spPr>
            <a:xfrm flipH="false" flipV="false" rot="0">
              <a:off x="0" y="0"/>
              <a:ext cx="21945600" cy="1042416"/>
            </a:xfrm>
            <a:custGeom>
              <a:avLst/>
              <a:gdLst/>
              <a:ahLst/>
              <a:cxnLst/>
              <a:rect r="r" b="b" t="t" l="l"/>
              <a:pathLst>
                <a:path h="1042416" w="21945600">
                  <a:moveTo>
                    <a:pt x="0" y="0"/>
                  </a:moveTo>
                  <a:lnTo>
                    <a:pt x="21945600" y="0"/>
                  </a:lnTo>
                  <a:lnTo>
                    <a:pt x="21945600" y="1042416"/>
                  </a:lnTo>
                  <a:lnTo>
                    <a:pt x="0" y="1042416"/>
                  </a:lnTo>
                  <a:close/>
                </a:path>
              </a:pathLst>
            </a:custGeom>
            <a:blipFill>
              <a:blip r:embed="rId3">
                <a:alphaModFix amt="0"/>
              </a:blip>
              <a:stretch>
                <a:fillRect l="0" t="-360211" r="0" b="-360211"/>
              </a:stretch>
            </a:blipFill>
          </p:spPr>
        </p:sp>
        <p:sp>
          <p:nvSpPr>
            <p:cNvPr name="TextBox 9" id="9"/>
            <p:cNvSpPr txBox="true"/>
            <p:nvPr/>
          </p:nvSpPr>
          <p:spPr>
            <a:xfrm>
              <a:off x="0" y="-28575"/>
              <a:ext cx="21945600" cy="1070991"/>
            </a:xfrm>
            <a:prstGeom prst="rect">
              <a:avLst/>
            </a:prstGeom>
          </p:spPr>
          <p:txBody>
            <a:bodyPr anchor="ctr" rtlCol="false" tIns="0" lIns="0" bIns="0" rIns="0"/>
            <a:lstStyle/>
            <a:p>
              <a:pPr algn="l">
                <a:lnSpc>
                  <a:spcPts val="4410"/>
                </a:lnSpc>
              </a:pPr>
              <a:r>
                <a:rPr lang="en-US" sz="3675" b="true">
                  <a:solidFill>
                    <a:srgbClr val="12304C"/>
                  </a:solidFill>
                  <a:latin typeface="Arial Bold"/>
                  <a:ea typeface="Arial Bold"/>
                  <a:cs typeface="Arial Bold"/>
                  <a:sym typeface="Arial Bold"/>
                </a:rPr>
                <a:t>Tiêu chí chọn quy trình: Median &amp; IQR</a:t>
              </a:r>
            </a:p>
          </p:txBody>
        </p:sp>
      </p:grpSp>
      <p:grpSp>
        <p:nvGrpSpPr>
          <p:cNvPr name="Group 10" id="10"/>
          <p:cNvGrpSpPr/>
          <p:nvPr/>
        </p:nvGrpSpPr>
        <p:grpSpPr>
          <a:xfrm rot="0">
            <a:off x="1014984" y="1796796"/>
            <a:ext cx="16322040" cy="480060"/>
            <a:chOff x="0" y="0"/>
            <a:chExt cx="21762720" cy="640080"/>
          </a:xfrm>
        </p:grpSpPr>
        <p:sp>
          <p:nvSpPr>
            <p:cNvPr name="Freeform 11" id="11"/>
            <p:cNvSpPr/>
            <p:nvPr/>
          </p:nvSpPr>
          <p:spPr>
            <a:xfrm flipH="false" flipV="false" rot="0">
              <a:off x="0" y="0"/>
              <a:ext cx="21762720" cy="640080"/>
            </a:xfrm>
            <a:custGeom>
              <a:avLst/>
              <a:gdLst/>
              <a:ahLst/>
              <a:cxnLst/>
              <a:rect r="r" b="b" t="t" l="l"/>
              <a:pathLst>
                <a:path h="640080" w="21762720">
                  <a:moveTo>
                    <a:pt x="0" y="0"/>
                  </a:moveTo>
                  <a:lnTo>
                    <a:pt x="21762720" y="0"/>
                  </a:lnTo>
                  <a:lnTo>
                    <a:pt x="21762720" y="640080"/>
                  </a:lnTo>
                  <a:lnTo>
                    <a:pt x="0" y="640080"/>
                  </a:lnTo>
                  <a:close/>
                </a:path>
              </a:pathLst>
            </a:custGeom>
            <a:blipFill>
              <a:blip r:embed="rId3">
                <a:alphaModFix amt="0"/>
              </a:blip>
              <a:stretch>
                <a:fillRect l="0" t="-612491" r="0" b="-612491"/>
              </a:stretch>
            </a:blipFill>
          </p:spPr>
        </p:sp>
        <p:sp>
          <p:nvSpPr>
            <p:cNvPr name="TextBox 12" id="12"/>
            <p:cNvSpPr txBox="true"/>
            <p:nvPr/>
          </p:nvSpPr>
          <p:spPr>
            <a:xfrm>
              <a:off x="0" y="-19050"/>
              <a:ext cx="21762720" cy="659130"/>
            </a:xfrm>
            <a:prstGeom prst="rect">
              <a:avLst/>
            </a:prstGeom>
          </p:spPr>
          <p:txBody>
            <a:bodyPr anchor="ctr" rtlCol="false" tIns="0" lIns="0" bIns="0" rIns="0"/>
            <a:lstStyle/>
            <a:p>
              <a:pPr algn="l">
                <a:lnSpc>
                  <a:spcPts val="2322"/>
                </a:lnSpc>
              </a:pPr>
              <a:r>
                <a:rPr lang="en-US" sz="1935">
                  <a:solidFill>
                    <a:srgbClr val="50677D"/>
                  </a:solidFill>
                  <a:latin typeface="Arial"/>
                  <a:ea typeface="Arial"/>
                  <a:cs typeface="Arial"/>
                  <a:sym typeface="Arial"/>
                </a:rPr>
                <a:t>Giải thích bằng số liệu chính thức ở Appendix A – Table A1</a:t>
              </a:r>
            </a:p>
          </p:txBody>
        </p:sp>
      </p:grpSp>
      <p:sp>
        <p:nvSpPr>
          <p:cNvPr name="AutoShape 13" id="13"/>
          <p:cNvSpPr/>
          <p:nvPr/>
        </p:nvSpPr>
        <p:spPr>
          <a:xfrm rot="4020">
            <a:off x="991733" y="9692450"/>
            <a:ext cx="16272520" cy="0"/>
          </a:xfrm>
          <a:prstGeom prst="line">
            <a:avLst/>
          </a:prstGeom>
          <a:ln cap="rnd" w="9525">
            <a:solidFill>
              <a:srgbClr val="DEE7EE"/>
            </a:solidFill>
            <a:prstDash val="solid"/>
            <a:headEnd type="none" len="sm" w="sm"/>
            <a:tailEnd type="none" len="sm" w="sm"/>
          </a:ln>
        </p:spPr>
      </p:sp>
      <p:grpSp>
        <p:nvGrpSpPr>
          <p:cNvPr name="Group 14" id="14"/>
          <p:cNvGrpSpPr/>
          <p:nvPr/>
        </p:nvGrpSpPr>
        <p:grpSpPr>
          <a:xfrm rot="0">
            <a:off x="1014984" y="9779508"/>
            <a:ext cx="14703552" cy="274320"/>
            <a:chOff x="0" y="0"/>
            <a:chExt cx="19604736" cy="365760"/>
          </a:xfrm>
        </p:grpSpPr>
        <p:sp>
          <p:nvSpPr>
            <p:cNvPr name="Freeform 15" id="15"/>
            <p:cNvSpPr/>
            <p:nvPr/>
          </p:nvSpPr>
          <p:spPr>
            <a:xfrm flipH="false" flipV="false" rot="0">
              <a:off x="0" y="0"/>
              <a:ext cx="19604737" cy="365760"/>
            </a:xfrm>
            <a:custGeom>
              <a:avLst/>
              <a:gdLst/>
              <a:ahLst/>
              <a:cxnLst/>
              <a:rect r="r" b="b" t="t" l="l"/>
              <a:pathLst>
                <a:path h="365760" w="19604737">
                  <a:moveTo>
                    <a:pt x="0" y="0"/>
                  </a:moveTo>
                  <a:lnTo>
                    <a:pt x="19604737" y="0"/>
                  </a:lnTo>
                  <a:lnTo>
                    <a:pt x="19604737" y="365760"/>
                  </a:lnTo>
                  <a:lnTo>
                    <a:pt x="0" y="365760"/>
                  </a:lnTo>
                  <a:close/>
                </a:path>
              </a:pathLst>
            </a:custGeom>
            <a:blipFill>
              <a:blip r:embed="rId3">
                <a:alphaModFix amt="0"/>
              </a:blip>
              <a:stretch>
                <a:fillRect l="0" t="-994398" r="0" b="-994398"/>
              </a:stretch>
            </a:blipFill>
          </p:spPr>
        </p:sp>
        <p:sp>
          <p:nvSpPr>
            <p:cNvPr name="TextBox 16" id="16"/>
            <p:cNvSpPr txBox="true"/>
            <p:nvPr/>
          </p:nvSpPr>
          <p:spPr>
            <a:xfrm>
              <a:off x="0" y="-9525"/>
              <a:ext cx="19604736" cy="375285"/>
            </a:xfrm>
            <a:prstGeom prst="rect">
              <a:avLst/>
            </a:prstGeom>
          </p:spPr>
          <p:txBody>
            <a:bodyPr anchor="ctr" rtlCol="false" tIns="0" lIns="0" bIns="0" rIns="0"/>
            <a:lstStyle/>
            <a:p>
              <a:pPr algn="l">
                <a:lnSpc>
                  <a:spcPts val="1494"/>
                </a:lnSpc>
              </a:pPr>
              <a:r>
                <a:rPr lang="en-US" sz="1245">
                  <a:solidFill>
                    <a:srgbClr val="50677D"/>
                  </a:solidFill>
                  <a:latin typeface="Arial"/>
                  <a:ea typeface="Arial"/>
                  <a:cs typeface="Arial"/>
                  <a:sym typeface="Arial"/>
                </a:rPr>
                <a:t>Liu và cộng sự (2025)  |  doi.org/10.1093/cybsec/tyaf020</a:t>
              </a:r>
            </a:p>
          </p:txBody>
        </p:sp>
      </p:grpSp>
      <p:grpSp>
        <p:nvGrpSpPr>
          <p:cNvPr name="Group 17" id="17"/>
          <p:cNvGrpSpPr/>
          <p:nvPr/>
        </p:nvGrpSpPr>
        <p:grpSpPr>
          <a:xfrm rot="0">
            <a:off x="16184880" y="9779508"/>
            <a:ext cx="1001268" cy="274320"/>
            <a:chOff x="0" y="0"/>
            <a:chExt cx="1335024" cy="365760"/>
          </a:xfrm>
        </p:grpSpPr>
        <p:sp>
          <p:nvSpPr>
            <p:cNvPr name="Freeform 18" id="18"/>
            <p:cNvSpPr/>
            <p:nvPr/>
          </p:nvSpPr>
          <p:spPr>
            <a:xfrm flipH="false" flipV="false" rot="0">
              <a:off x="0" y="0"/>
              <a:ext cx="1335024" cy="365760"/>
            </a:xfrm>
            <a:custGeom>
              <a:avLst/>
              <a:gdLst/>
              <a:ahLst/>
              <a:cxnLst/>
              <a:rect r="r" b="b" t="t" l="l"/>
              <a:pathLst>
                <a:path h="365760" w="1335024">
                  <a:moveTo>
                    <a:pt x="0" y="0"/>
                  </a:moveTo>
                  <a:lnTo>
                    <a:pt x="1335024" y="0"/>
                  </a:lnTo>
                  <a:lnTo>
                    <a:pt x="1335024" y="365760"/>
                  </a:lnTo>
                  <a:lnTo>
                    <a:pt x="0" y="365760"/>
                  </a:lnTo>
                  <a:close/>
                </a:path>
              </a:pathLst>
            </a:custGeom>
            <a:blipFill>
              <a:blip r:embed="rId3">
                <a:alphaModFix amt="0"/>
              </a:blip>
              <a:stretch>
                <a:fillRect l="0" t="-21120" r="0" b="-21120"/>
              </a:stretch>
            </a:blipFill>
          </p:spPr>
        </p:sp>
        <p:sp>
          <p:nvSpPr>
            <p:cNvPr name="TextBox 19" id="19"/>
            <p:cNvSpPr txBox="true"/>
            <p:nvPr/>
          </p:nvSpPr>
          <p:spPr>
            <a:xfrm>
              <a:off x="0" y="-9525"/>
              <a:ext cx="1335024" cy="375285"/>
            </a:xfrm>
            <a:prstGeom prst="rect">
              <a:avLst/>
            </a:prstGeom>
          </p:spPr>
          <p:txBody>
            <a:bodyPr anchor="ctr" rtlCol="false" tIns="0" lIns="0" bIns="0" rIns="0"/>
            <a:lstStyle/>
            <a:p>
              <a:pPr algn="r">
                <a:lnSpc>
                  <a:spcPts val="1494"/>
                </a:lnSpc>
              </a:pPr>
              <a:r>
                <a:rPr lang="en-US" sz="1245">
                  <a:solidFill>
                    <a:srgbClr val="50677D"/>
                  </a:solidFill>
                  <a:latin typeface="Arial"/>
                  <a:ea typeface="Arial"/>
                  <a:cs typeface="Arial"/>
                  <a:sym typeface="Arial"/>
                </a:rPr>
                <a:t>05 / 14</a:t>
              </a:r>
            </a:p>
          </p:txBody>
        </p:sp>
      </p:grpSp>
      <p:grpSp>
        <p:nvGrpSpPr>
          <p:cNvPr name="Group 20" id="20"/>
          <p:cNvGrpSpPr/>
          <p:nvPr/>
        </p:nvGrpSpPr>
        <p:grpSpPr>
          <a:xfrm rot="0">
            <a:off x="1144524" y="2872740"/>
            <a:ext cx="7641336" cy="4747260"/>
            <a:chOff x="0" y="0"/>
            <a:chExt cx="10188448" cy="6329680"/>
          </a:xfrm>
        </p:grpSpPr>
        <p:sp>
          <p:nvSpPr>
            <p:cNvPr name="Freeform 21" id="21"/>
            <p:cNvSpPr/>
            <p:nvPr/>
          </p:nvSpPr>
          <p:spPr>
            <a:xfrm flipH="false" flipV="false" rot="0">
              <a:off x="0" y="0"/>
              <a:ext cx="10188448" cy="6329680"/>
            </a:xfrm>
            <a:custGeom>
              <a:avLst/>
              <a:gdLst/>
              <a:ahLst/>
              <a:cxnLst/>
              <a:rect r="r" b="b" t="t" l="l"/>
              <a:pathLst>
                <a:path h="6329680" w="10188448">
                  <a:moveTo>
                    <a:pt x="0" y="220091"/>
                  </a:moveTo>
                  <a:cubicBezTo>
                    <a:pt x="0" y="98552"/>
                    <a:pt x="98552" y="0"/>
                    <a:pt x="220091" y="0"/>
                  </a:cubicBezTo>
                  <a:lnTo>
                    <a:pt x="9968357" y="0"/>
                  </a:lnTo>
                  <a:cubicBezTo>
                    <a:pt x="10089896" y="0"/>
                    <a:pt x="10188448" y="98552"/>
                    <a:pt x="10188448" y="220091"/>
                  </a:cubicBezTo>
                  <a:lnTo>
                    <a:pt x="10188448" y="6109589"/>
                  </a:lnTo>
                  <a:cubicBezTo>
                    <a:pt x="10188448" y="6231128"/>
                    <a:pt x="10089896" y="6329680"/>
                    <a:pt x="9968357" y="6329680"/>
                  </a:cubicBezTo>
                  <a:lnTo>
                    <a:pt x="220091" y="6329680"/>
                  </a:lnTo>
                  <a:cubicBezTo>
                    <a:pt x="98552" y="6329680"/>
                    <a:pt x="0" y="6231128"/>
                    <a:pt x="0" y="6109589"/>
                  </a:cubicBezTo>
                  <a:close/>
                </a:path>
              </a:pathLst>
            </a:custGeom>
            <a:solidFill>
              <a:srgbClr val="FFFFFF"/>
            </a:solidFill>
            <a:ln w="15240" cap="sq">
              <a:solidFill>
                <a:srgbClr val="DEE7EE"/>
              </a:solidFill>
              <a:prstDash val="solid"/>
              <a:miter/>
            </a:ln>
          </p:spPr>
        </p:sp>
      </p:grpSp>
      <p:grpSp>
        <p:nvGrpSpPr>
          <p:cNvPr name="Group 22" id="22"/>
          <p:cNvGrpSpPr/>
          <p:nvPr/>
        </p:nvGrpSpPr>
        <p:grpSpPr>
          <a:xfrm rot="0">
            <a:off x="1591056" y="3209544"/>
            <a:ext cx="6720840" cy="370332"/>
            <a:chOff x="0" y="0"/>
            <a:chExt cx="8961120" cy="493776"/>
          </a:xfrm>
        </p:grpSpPr>
        <p:sp>
          <p:nvSpPr>
            <p:cNvPr name="Freeform 23" id="23"/>
            <p:cNvSpPr/>
            <p:nvPr/>
          </p:nvSpPr>
          <p:spPr>
            <a:xfrm flipH="false" flipV="false" rot="0">
              <a:off x="0" y="0"/>
              <a:ext cx="8961120" cy="493776"/>
            </a:xfrm>
            <a:custGeom>
              <a:avLst/>
              <a:gdLst/>
              <a:ahLst/>
              <a:cxnLst/>
              <a:rect r="r" b="b" t="t" l="l"/>
              <a:pathLst>
                <a:path h="493776" w="8961120">
                  <a:moveTo>
                    <a:pt x="0" y="0"/>
                  </a:moveTo>
                  <a:lnTo>
                    <a:pt x="8961120" y="0"/>
                  </a:lnTo>
                  <a:lnTo>
                    <a:pt x="8961120" y="493776"/>
                  </a:lnTo>
                  <a:lnTo>
                    <a:pt x="0" y="493776"/>
                  </a:lnTo>
                  <a:close/>
                </a:path>
              </a:pathLst>
            </a:custGeom>
            <a:blipFill>
              <a:blip r:embed="rId3">
                <a:alphaModFix amt="0"/>
              </a:blip>
              <a:stretch>
                <a:fillRect l="0" t="-303617" r="0" b="-303617"/>
              </a:stretch>
            </a:blipFill>
          </p:spPr>
        </p:sp>
        <p:sp>
          <p:nvSpPr>
            <p:cNvPr name="TextBox 24" id="24"/>
            <p:cNvSpPr txBox="true"/>
            <p:nvPr/>
          </p:nvSpPr>
          <p:spPr>
            <a:xfrm>
              <a:off x="0" y="-19050"/>
              <a:ext cx="8961120" cy="512826"/>
            </a:xfrm>
            <a:prstGeom prst="rect">
              <a:avLst/>
            </a:prstGeom>
          </p:spPr>
          <p:txBody>
            <a:bodyPr anchor="ctr" rtlCol="false" tIns="0" lIns="0" bIns="0" rIns="0"/>
            <a:lstStyle/>
            <a:p>
              <a:pPr algn="l">
                <a:lnSpc>
                  <a:spcPts val="1907"/>
                </a:lnSpc>
              </a:pPr>
              <a:r>
                <a:rPr lang="en-US" sz="1589" b="true">
                  <a:solidFill>
                    <a:srgbClr val="137E82"/>
                  </a:solidFill>
                  <a:latin typeface="Arial Bold"/>
                  <a:ea typeface="Arial Bold"/>
                  <a:cs typeface="Arial Bold"/>
                  <a:sym typeface="Arial Bold"/>
                </a:rPr>
                <a:t>DEFINITION</a:t>
              </a:r>
            </a:p>
          </p:txBody>
        </p:sp>
      </p:grpSp>
      <p:grpSp>
        <p:nvGrpSpPr>
          <p:cNvPr name="Group 25" id="25"/>
          <p:cNvGrpSpPr/>
          <p:nvPr/>
        </p:nvGrpSpPr>
        <p:grpSpPr>
          <a:xfrm rot="0">
            <a:off x="1591056" y="3593592"/>
            <a:ext cx="6720840" cy="630936"/>
            <a:chOff x="0" y="0"/>
            <a:chExt cx="8961120" cy="841248"/>
          </a:xfrm>
        </p:grpSpPr>
        <p:sp>
          <p:nvSpPr>
            <p:cNvPr name="Freeform 26" id="26"/>
            <p:cNvSpPr/>
            <p:nvPr/>
          </p:nvSpPr>
          <p:spPr>
            <a:xfrm flipH="false" flipV="false" rot="0">
              <a:off x="0" y="0"/>
              <a:ext cx="8961120" cy="841248"/>
            </a:xfrm>
            <a:custGeom>
              <a:avLst/>
              <a:gdLst/>
              <a:ahLst/>
              <a:cxnLst/>
              <a:rect r="r" b="b" t="t" l="l"/>
              <a:pathLst>
                <a:path h="841248" w="8961120">
                  <a:moveTo>
                    <a:pt x="0" y="0"/>
                  </a:moveTo>
                  <a:lnTo>
                    <a:pt x="8961120" y="0"/>
                  </a:lnTo>
                  <a:lnTo>
                    <a:pt x="8961120" y="841248"/>
                  </a:lnTo>
                  <a:lnTo>
                    <a:pt x="0" y="841248"/>
                  </a:lnTo>
                  <a:close/>
                </a:path>
              </a:pathLst>
            </a:custGeom>
            <a:blipFill>
              <a:blip r:embed="rId3">
                <a:alphaModFix amt="0"/>
              </a:blip>
              <a:stretch>
                <a:fillRect l="0" t="-157558" r="0" b="-157558"/>
              </a:stretch>
            </a:blipFill>
          </p:spPr>
        </p:sp>
        <p:sp>
          <p:nvSpPr>
            <p:cNvPr name="TextBox 27" id="27"/>
            <p:cNvSpPr txBox="true"/>
            <p:nvPr/>
          </p:nvSpPr>
          <p:spPr>
            <a:xfrm>
              <a:off x="0" y="-19050"/>
              <a:ext cx="8961120" cy="860298"/>
            </a:xfrm>
            <a:prstGeom prst="rect">
              <a:avLst/>
            </a:prstGeom>
          </p:spPr>
          <p:txBody>
            <a:bodyPr anchor="ctr" rtlCol="false" tIns="0" lIns="0" bIns="0" rIns="0"/>
            <a:lstStyle/>
            <a:p>
              <a:pPr algn="l">
                <a:lnSpc>
                  <a:spcPts val="3419"/>
                </a:lnSpc>
              </a:pPr>
              <a:r>
                <a:rPr lang="en-US" sz="2850" b="true">
                  <a:solidFill>
                    <a:srgbClr val="12304C"/>
                  </a:solidFill>
                  <a:latin typeface="Arial Bold"/>
                  <a:ea typeface="Arial Bold"/>
                  <a:cs typeface="Arial Bold"/>
                  <a:sym typeface="Arial Bold"/>
                </a:rPr>
                <a:t>Tiêu chí đánh giá đồng thuận</a:t>
              </a:r>
            </a:p>
          </p:txBody>
        </p:sp>
      </p:grpSp>
      <p:grpSp>
        <p:nvGrpSpPr>
          <p:cNvPr name="Group 28" id="28"/>
          <p:cNvGrpSpPr/>
          <p:nvPr/>
        </p:nvGrpSpPr>
        <p:grpSpPr>
          <a:xfrm rot="0">
            <a:off x="1569720" y="4491228"/>
            <a:ext cx="2511552" cy="481584"/>
            <a:chOff x="0" y="0"/>
            <a:chExt cx="3348736" cy="642112"/>
          </a:xfrm>
        </p:grpSpPr>
        <p:sp>
          <p:nvSpPr>
            <p:cNvPr name="Freeform 29" id="29"/>
            <p:cNvSpPr/>
            <p:nvPr/>
          </p:nvSpPr>
          <p:spPr>
            <a:xfrm flipH="false" flipV="false" rot="0">
              <a:off x="0" y="0"/>
              <a:ext cx="3348736" cy="642112"/>
            </a:xfrm>
            <a:custGeom>
              <a:avLst/>
              <a:gdLst/>
              <a:ahLst/>
              <a:cxnLst/>
              <a:rect r="r" b="b" t="t" l="l"/>
              <a:pathLst>
                <a:path h="642112" w="3348736">
                  <a:moveTo>
                    <a:pt x="0" y="226568"/>
                  </a:moveTo>
                  <a:cubicBezTo>
                    <a:pt x="0" y="101473"/>
                    <a:pt x="101473" y="0"/>
                    <a:pt x="226568" y="0"/>
                  </a:cubicBezTo>
                  <a:lnTo>
                    <a:pt x="3122168" y="0"/>
                  </a:lnTo>
                  <a:cubicBezTo>
                    <a:pt x="3247390" y="0"/>
                    <a:pt x="3348736" y="101473"/>
                    <a:pt x="3348736" y="226568"/>
                  </a:cubicBezTo>
                  <a:lnTo>
                    <a:pt x="3348736" y="415544"/>
                  </a:lnTo>
                  <a:cubicBezTo>
                    <a:pt x="3348736" y="540766"/>
                    <a:pt x="3247263" y="642112"/>
                    <a:pt x="3122168" y="642112"/>
                  </a:cubicBezTo>
                  <a:lnTo>
                    <a:pt x="226568" y="642112"/>
                  </a:lnTo>
                  <a:cubicBezTo>
                    <a:pt x="101473" y="642112"/>
                    <a:pt x="0" y="540639"/>
                    <a:pt x="0" y="415544"/>
                  </a:cubicBezTo>
                  <a:close/>
                </a:path>
              </a:pathLst>
            </a:custGeom>
            <a:solidFill>
              <a:srgbClr val="EAF5F5"/>
            </a:solidFill>
            <a:ln w="15240" cap="sq">
              <a:solidFill>
                <a:srgbClr val="EAF5F5"/>
              </a:solidFill>
              <a:prstDash val="solid"/>
              <a:miter/>
            </a:ln>
          </p:spPr>
        </p:sp>
      </p:grpSp>
      <p:grpSp>
        <p:nvGrpSpPr>
          <p:cNvPr name="Group 30" id="30"/>
          <p:cNvGrpSpPr/>
          <p:nvPr/>
        </p:nvGrpSpPr>
        <p:grpSpPr>
          <a:xfrm rot="0">
            <a:off x="1700784" y="4539996"/>
            <a:ext cx="2249424" cy="370332"/>
            <a:chOff x="0" y="0"/>
            <a:chExt cx="2999232" cy="493776"/>
          </a:xfrm>
        </p:grpSpPr>
        <p:sp>
          <p:nvSpPr>
            <p:cNvPr name="Freeform 31" id="31"/>
            <p:cNvSpPr/>
            <p:nvPr/>
          </p:nvSpPr>
          <p:spPr>
            <a:xfrm flipH="false" flipV="false" rot="0">
              <a:off x="0" y="0"/>
              <a:ext cx="2999232" cy="493776"/>
            </a:xfrm>
            <a:custGeom>
              <a:avLst/>
              <a:gdLst/>
              <a:ahLst/>
              <a:cxnLst/>
              <a:rect r="r" b="b" t="t" l="l"/>
              <a:pathLst>
                <a:path h="493776" w="2999232">
                  <a:moveTo>
                    <a:pt x="0" y="0"/>
                  </a:moveTo>
                  <a:lnTo>
                    <a:pt x="2999232" y="0"/>
                  </a:lnTo>
                  <a:lnTo>
                    <a:pt x="2999232" y="493776"/>
                  </a:lnTo>
                  <a:lnTo>
                    <a:pt x="0" y="493776"/>
                  </a:lnTo>
                  <a:close/>
                </a:path>
              </a:pathLst>
            </a:custGeom>
            <a:blipFill>
              <a:blip r:embed="rId3">
                <a:alphaModFix amt="0"/>
              </a:blip>
              <a:stretch>
                <a:fillRect l="0" t="-68353" r="0" b="-68353"/>
              </a:stretch>
            </a:blipFill>
          </p:spPr>
        </p:sp>
        <p:sp>
          <p:nvSpPr>
            <p:cNvPr name="TextBox 32" id="32"/>
            <p:cNvSpPr txBox="true"/>
            <p:nvPr/>
          </p:nvSpPr>
          <p:spPr>
            <a:xfrm>
              <a:off x="0" y="-9525"/>
              <a:ext cx="2999232" cy="503301"/>
            </a:xfrm>
            <a:prstGeom prst="rect">
              <a:avLst/>
            </a:prstGeom>
          </p:spPr>
          <p:txBody>
            <a:bodyPr anchor="ctr" rtlCol="false" tIns="0" lIns="0" bIns="0" rIns="0"/>
            <a:lstStyle/>
            <a:p>
              <a:pPr algn="l">
                <a:lnSpc>
                  <a:spcPts val="1889"/>
                </a:lnSpc>
              </a:pPr>
              <a:r>
                <a:rPr lang="en-US" sz="1575" b="true">
                  <a:solidFill>
                    <a:srgbClr val="137E82"/>
                  </a:solidFill>
                  <a:latin typeface="Arial Bold"/>
                  <a:ea typeface="Arial Bold"/>
                  <a:cs typeface="Arial Bold"/>
                  <a:sym typeface="Arial Bold"/>
                </a:rPr>
                <a:t>MEDIAN ≥ 4</a:t>
              </a:r>
            </a:p>
          </p:txBody>
        </p:sp>
      </p:grpSp>
      <p:grpSp>
        <p:nvGrpSpPr>
          <p:cNvPr name="Group 33" id="33"/>
          <p:cNvGrpSpPr/>
          <p:nvPr/>
        </p:nvGrpSpPr>
        <p:grpSpPr>
          <a:xfrm rot="0">
            <a:off x="1549908" y="5143500"/>
            <a:ext cx="6940296" cy="644652"/>
            <a:chOff x="0" y="0"/>
            <a:chExt cx="9253728" cy="859536"/>
          </a:xfrm>
        </p:grpSpPr>
        <p:sp>
          <p:nvSpPr>
            <p:cNvPr name="Freeform 34" id="34"/>
            <p:cNvSpPr/>
            <p:nvPr/>
          </p:nvSpPr>
          <p:spPr>
            <a:xfrm flipH="false" flipV="false" rot="0">
              <a:off x="0" y="0"/>
              <a:ext cx="9253728" cy="859536"/>
            </a:xfrm>
            <a:custGeom>
              <a:avLst/>
              <a:gdLst/>
              <a:ahLst/>
              <a:cxnLst/>
              <a:rect r="r" b="b" t="t" l="l"/>
              <a:pathLst>
                <a:path h="859536" w="9253728">
                  <a:moveTo>
                    <a:pt x="0" y="0"/>
                  </a:moveTo>
                  <a:lnTo>
                    <a:pt x="9253728" y="0"/>
                  </a:lnTo>
                  <a:lnTo>
                    <a:pt x="9253728" y="859536"/>
                  </a:lnTo>
                  <a:lnTo>
                    <a:pt x="0" y="859536"/>
                  </a:lnTo>
                  <a:close/>
                </a:path>
              </a:pathLst>
            </a:custGeom>
            <a:blipFill>
              <a:blip r:embed="rId3">
                <a:alphaModFix amt="0"/>
              </a:blip>
              <a:stretch>
                <a:fillRect l="0" t="-159775" r="0" b="-159775"/>
              </a:stretch>
            </a:blipFill>
          </p:spPr>
        </p:sp>
        <p:sp>
          <p:nvSpPr>
            <p:cNvPr name="TextBox 35" id="35"/>
            <p:cNvSpPr txBox="true"/>
            <p:nvPr/>
          </p:nvSpPr>
          <p:spPr>
            <a:xfrm>
              <a:off x="0" y="-19050"/>
              <a:ext cx="9253728" cy="878586"/>
            </a:xfrm>
            <a:prstGeom prst="rect">
              <a:avLst/>
            </a:prstGeom>
          </p:spPr>
          <p:txBody>
            <a:bodyPr anchor="ctr" rtlCol="false" tIns="0" lIns="0" bIns="0" rIns="0"/>
            <a:lstStyle/>
            <a:p>
              <a:pPr algn="l">
                <a:lnSpc>
                  <a:spcPts val="2700"/>
                </a:lnSpc>
              </a:pPr>
              <a:r>
                <a:rPr lang="en-US" sz="2250">
                  <a:solidFill>
                    <a:srgbClr val="182D42"/>
                  </a:solidFill>
                  <a:latin typeface="Arial"/>
                  <a:ea typeface="Arial"/>
                  <a:cs typeface="Arial"/>
                  <a:sym typeface="Arial"/>
                </a:rPr>
                <a:t>Điểm giữa ≥ 4/5 → được đánh giá là quan trọng.</a:t>
              </a:r>
            </a:p>
          </p:txBody>
        </p:sp>
      </p:grpSp>
      <p:grpSp>
        <p:nvGrpSpPr>
          <p:cNvPr name="Group 36" id="36"/>
          <p:cNvGrpSpPr/>
          <p:nvPr/>
        </p:nvGrpSpPr>
        <p:grpSpPr>
          <a:xfrm rot="0">
            <a:off x="1569720" y="6205728"/>
            <a:ext cx="2196084" cy="481584"/>
            <a:chOff x="0" y="0"/>
            <a:chExt cx="2928112" cy="642112"/>
          </a:xfrm>
        </p:grpSpPr>
        <p:sp>
          <p:nvSpPr>
            <p:cNvPr name="Freeform 37" id="37"/>
            <p:cNvSpPr/>
            <p:nvPr/>
          </p:nvSpPr>
          <p:spPr>
            <a:xfrm flipH="false" flipV="false" rot="0">
              <a:off x="0" y="0"/>
              <a:ext cx="2928112" cy="642112"/>
            </a:xfrm>
            <a:custGeom>
              <a:avLst/>
              <a:gdLst/>
              <a:ahLst/>
              <a:cxnLst/>
              <a:rect r="r" b="b" t="t" l="l"/>
              <a:pathLst>
                <a:path h="642112" w="2928112">
                  <a:moveTo>
                    <a:pt x="0" y="226568"/>
                  </a:moveTo>
                  <a:cubicBezTo>
                    <a:pt x="0" y="101473"/>
                    <a:pt x="101473" y="0"/>
                    <a:pt x="226568" y="0"/>
                  </a:cubicBezTo>
                  <a:lnTo>
                    <a:pt x="2701544" y="0"/>
                  </a:lnTo>
                  <a:cubicBezTo>
                    <a:pt x="2826766" y="0"/>
                    <a:pt x="2928112" y="101473"/>
                    <a:pt x="2928112" y="226568"/>
                  </a:cubicBezTo>
                  <a:lnTo>
                    <a:pt x="2928112" y="415544"/>
                  </a:lnTo>
                  <a:cubicBezTo>
                    <a:pt x="2928112" y="540766"/>
                    <a:pt x="2826639" y="642112"/>
                    <a:pt x="2701544" y="642112"/>
                  </a:cubicBezTo>
                  <a:lnTo>
                    <a:pt x="226568" y="642112"/>
                  </a:lnTo>
                  <a:cubicBezTo>
                    <a:pt x="101473" y="642112"/>
                    <a:pt x="0" y="540639"/>
                    <a:pt x="0" y="415544"/>
                  </a:cubicBezTo>
                  <a:close/>
                </a:path>
              </a:pathLst>
            </a:custGeom>
            <a:solidFill>
              <a:srgbClr val="FDF1E5"/>
            </a:solidFill>
            <a:ln w="15240" cap="sq">
              <a:solidFill>
                <a:srgbClr val="FDF1E5"/>
              </a:solidFill>
              <a:prstDash val="solid"/>
              <a:miter/>
            </a:ln>
          </p:spPr>
        </p:sp>
      </p:grpSp>
      <p:grpSp>
        <p:nvGrpSpPr>
          <p:cNvPr name="Group 38" id="38"/>
          <p:cNvGrpSpPr/>
          <p:nvPr/>
        </p:nvGrpSpPr>
        <p:grpSpPr>
          <a:xfrm rot="0">
            <a:off x="1700784" y="6254496"/>
            <a:ext cx="1933956" cy="370332"/>
            <a:chOff x="0" y="0"/>
            <a:chExt cx="2578608" cy="493776"/>
          </a:xfrm>
        </p:grpSpPr>
        <p:sp>
          <p:nvSpPr>
            <p:cNvPr name="Freeform 39" id="39"/>
            <p:cNvSpPr/>
            <p:nvPr/>
          </p:nvSpPr>
          <p:spPr>
            <a:xfrm flipH="false" flipV="false" rot="0">
              <a:off x="0" y="0"/>
              <a:ext cx="2578608" cy="493776"/>
            </a:xfrm>
            <a:custGeom>
              <a:avLst/>
              <a:gdLst/>
              <a:ahLst/>
              <a:cxnLst/>
              <a:rect r="r" b="b" t="t" l="l"/>
              <a:pathLst>
                <a:path h="493776" w="2578608">
                  <a:moveTo>
                    <a:pt x="0" y="0"/>
                  </a:moveTo>
                  <a:lnTo>
                    <a:pt x="2578608" y="0"/>
                  </a:lnTo>
                  <a:lnTo>
                    <a:pt x="2578608" y="493776"/>
                  </a:lnTo>
                  <a:lnTo>
                    <a:pt x="0" y="493776"/>
                  </a:lnTo>
                  <a:close/>
                </a:path>
              </a:pathLst>
            </a:custGeom>
            <a:blipFill>
              <a:blip r:embed="rId3">
                <a:alphaModFix amt="0"/>
              </a:blip>
              <a:stretch>
                <a:fillRect l="0" t="-51755" r="0" b="-51755"/>
              </a:stretch>
            </a:blipFill>
          </p:spPr>
        </p:sp>
        <p:sp>
          <p:nvSpPr>
            <p:cNvPr name="TextBox 40" id="40"/>
            <p:cNvSpPr txBox="true"/>
            <p:nvPr/>
          </p:nvSpPr>
          <p:spPr>
            <a:xfrm>
              <a:off x="0" y="-9525"/>
              <a:ext cx="2578608" cy="503301"/>
            </a:xfrm>
            <a:prstGeom prst="rect">
              <a:avLst/>
            </a:prstGeom>
          </p:spPr>
          <p:txBody>
            <a:bodyPr anchor="ctr" rtlCol="false" tIns="0" lIns="0" bIns="0" rIns="0"/>
            <a:lstStyle/>
            <a:p>
              <a:pPr algn="l">
                <a:lnSpc>
                  <a:spcPts val="1889"/>
                </a:lnSpc>
              </a:pPr>
              <a:r>
                <a:rPr lang="en-US" sz="1575" b="true">
                  <a:solidFill>
                    <a:srgbClr val="BD7B3C"/>
                  </a:solidFill>
                  <a:latin typeface="Arial Bold"/>
                  <a:ea typeface="Arial Bold"/>
                  <a:cs typeface="Arial Bold"/>
                  <a:sym typeface="Arial Bold"/>
                </a:rPr>
                <a:t>IQR ≤ 1</a:t>
              </a:r>
            </a:p>
          </p:txBody>
        </p:sp>
      </p:grpSp>
      <p:grpSp>
        <p:nvGrpSpPr>
          <p:cNvPr name="Group 41" id="41"/>
          <p:cNvGrpSpPr/>
          <p:nvPr/>
        </p:nvGrpSpPr>
        <p:grpSpPr>
          <a:xfrm rot="0">
            <a:off x="4073652" y="6227064"/>
            <a:ext cx="4197096" cy="658368"/>
            <a:chOff x="0" y="0"/>
            <a:chExt cx="5596128" cy="877824"/>
          </a:xfrm>
        </p:grpSpPr>
        <p:sp>
          <p:nvSpPr>
            <p:cNvPr name="Freeform 42" id="42"/>
            <p:cNvSpPr/>
            <p:nvPr/>
          </p:nvSpPr>
          <p:spPr>
            <a:xfrm flipH="false" flipV="false" rot="0">
              <a:off x="0" y="0"/>
              <a:ext cx="5596128" cy="877824"/>
            </a:xfrm>
            <a:custGeom>
              <a:avLst/>
              <a:gdLst/>
              <a:ahLst/>
              <a:cxnLst/>
              <a:rect r="r" b="b" t="t" l="l"/>
              <a:pathLst>
                <a:path h="877824" w="5596128">
                  <a:moveTo>
                    <a:pt x="0" y="0"/>
                  </a:moveTo>
                  <a:lnTo>
                    <a:pt x="5596128" y="0"/>
                  </a:lnTo>
                  <a:lnTo>
                    <a:pt x="5596128" y="877824"/>
                  </a:lnTo>
                  <a:lnTo>
                    <a:pt x="0" y="877824"/>
                  </a:lnTo>
                  <a:close/>
                </a:path>
              </a:pathLst>
            </a:custGeom>
            <a:blipFill>
              <a:blip r:embed="rId3">
                <a:alphaModFix amt="0"/>
              </a:blip>
              <a:stretch>
                <a:fillRect l="0" t="-74217" r="0" b="-74217"/>
              </a:stretch>
            </a:blipFill>
          </p:spPr>
        </p:sp>
        <p:sp>
          <p:nvSpPr>
            <p:cNvPr name="TextBox 43" id="43"/>
            <p:cNvSpPr txBox="true"/>
            <p:nvPr/>
          </p:nvSpPr>
          <p:spPr>
            <a:xfrm>
              <a:off x="0" y="0"/>
              <a:ext cx="5596128" cy="877824"/>
            </a:xfrm>
            <a:prstGeom prst="rect">
              <a:avLst/>
            </a:prstGeom>
          </p:spPr>
          <p:txBody>
            <a:bodyPr anchor="ctr" rtlCol="false" tIns="0" lIns="0" bIns="0" rIns="0"/>
            <a:lstStyle/>
            <a:p>
              <a:pPr algn="l">
                <a:lnSpc>
                  <a:spcPts val="2394"/>
                </a:lnSpc>
              </a:pPr>
              <a:r>
                <a:rPr lang="en-US" sz="1995">
                  <a:solidFill>
                    <a:srgbClr val="182D42"/>
                  </a:solidFill>
                  <a:latin typeface="Arial"/>
                  <a:ea typeface="Arial"/>
                  <a:cs typeface="Arial"/>
                  <a:sym typeface="Arial"/>
                </a:rPr>
                <a:t>50% điểm ở giữa tương đối tập trung.</a:t>
              </a:r>
            </a:p>
          </p:txBody>
        </p:sp>
      </p:grpSp>
      <p:grpSp>
        <p:nvGrpSpPr>
          <p:cNvPr name="Group 44" id="44"/>
          <p:cNvGrpSpPr/>
          <p:nvPr/>
        </p:nvGrpSpPr>
        <p:grpSpPr>
          <a:xfrm rot="0">
            <a:off x="9168384" y="2872740"/>
            <a:ext cx="7915656" cy="4747260"/>
            <a:chOff x="0" y="0"/>
            <a:chExt cx="10554208" cy="6329680"/>
          </a:xfrm>
        </p:grpSpPr>
        <p:sp>
          <p:nvSpPr>
            <p:cNvPr name="Freeform 45" id="45"/>
            <p:cNvSpPr/>
            <p:nvPr/>
          </p:nvSpPr>
          <p:spPr>
            <a:xfrm flipH="false" flipV="false" rot="0">
              <a:off x="0" y="0"/>
              <a:ext cx="10554208" cy="6329680"/>
            </a:xfrm>
            <a:custGeom>
              <a:avLst/>
              <a:gdLst/>
              <a:ahLst/>
              <a:cxnLst/>
              <a:rect r="r" b="b" t="t" l="l"/>
              <a:pathLst>
                <a:path h="6329680" w="10554208">
                  <a:moveTo>
                    <a:pt x="0" y="220091"/>
                  </a:moveTo>
                  <a:cubicBezTo>
                    <a:pt x="0" y="98552"/>
                    <a:pt x="98552" y="0"/>
                    <a:pt x="220091" y="0"/>
                  </a:cubicBezTo>
                  <a:lnTo>
                    <a:pt x="10334117" y="0"/>
                  </a:lnTo>
                  <a:cubicBezTo>
                    <a:pt x="10455656" y="0"/>
                    <a:pt x="10554208" y="98552"/>
                    <a:pt x="10554208" y="220091"/>
                  </a:cubicBezTo>
                  <a:lnTo>
                    <a:pt x="10554208" y="6109589"/>
                  </a:lnTo>
                  <a:cubicBezTo>
                    <a:pt x="10554208" y="6231128"/>
                    <a:pt x="10455656" y="6329680"/>
                    <a:pt x="10334117" y="6329680"/>
                  </a:cubicBezTo>
                  <a:lnTo>
                    <a:pt x="220091" y="6329680"/>
                  </a:lnTo>
                  <a:cubicBezTo>
                    <a:pt x="98552" y="6329680"/>
                    <a:pt x="0" y="6231128"/>
                    <a:pt x="0" y="6109589"/>
                  </a:cubicBezTo>
                  <a:close/>
                </a:path>
              </a:pathLst>
            </a:custGeom>
            <a:solidFill>
              <a:srgbClr val="12304C"/>
            </a:solidFill>
            <a:ln w="15240" cap="sq">
              <a:solidFill>
                <a:srgbClr val="12304C"/>
              </a:solidFill>
              <a:prstDash val="solid"/>
              <a:miter/>
            </a:ln>
          </p:spPr>
        </p:sp>
      </p:grpSp>
      <p:grpSp>
        <p:nvGrpSpPr>
          <p:cNvPr name="Group 46" id="46"/>
          <p:cNvGrpSpPr/>
          <p:nvPr/>
        </p:nvGrpSpPr>
        <p:grpSpPr>
          <a:xfrm rot="0">
            <a:off x="9669780" y="3319272"/>
            <a:ext cx="6720840" cy="480060"/>
            <a:chOff x="0" y="0"/>
            <a:chExt cx="8961120" cy="640080"/>
          </a:xfrm>
        </p:grpSpPr>
        <p:sp>
          <p:nvSpPr>
            <p:cNvPr name="Freeform 47" id="47"/>
            <p:cNvSpPr/>
            <p:nvPr/>
          </p:nvSpPr>
          <p:spPr>
            <a:xfrm flipH="false" flipV="false" rot="0">
              <a:off x="0" y="0"/>
              <a:ext cx="8961120" cy="640080"/>
            </a:xfrm>
            <a:custGeom>
              <a:avLst/>
              <a:gdLst/>
              <a:ahLst/>
              <a:cxnLst/>
              <a:rect r="r" b="b" t="t" l="l"/>
              <a:pathLst>
                <a:path h="640080" w="8961120">
                  <a:moveTo>
                    <a:pt x="0" y="0"/>
                  </a:moveTo>
                  <a:lnTo>
                    <a:pt x="8961120" y="0"/>
                  </a:lnTo>
                  <a:lnTo>
                    <a:pt x="8961120" y="640080"/>
                  </a:lnTo>
                  <a:lnTo>
                    <a:pt x="0" y="640080"/>
                  </a:lnTo>
                  <a:close/>
                </a:path>
              </a:pathLst>
            </a:custGeom>
            <a:blipFill>
              <a:blip r:embed="rId3">
                <a:alphaModFix amt="0"/>
              </a:blip>
              <a:stretch>
                <a:fillRect l="0" t="-222790" r="0" b="-222790"/>
              </a:stretch>
            </a:blipFill>
          </p:spPr>
        </p:sp>
        <p:sp>
          <p:nvSpPr>
            <p:cNvPr name="TextBox 48" id="48"/>
            <p:cNvSpPr txBox="true"/>
            <p:nvPr/>
          </p:nvSpPr>
          <p:spPr>
            <a:xfrm>
              <a:off x="0" y="-19050"/>
              <a:ext cx="8961120" cy="659130"/>
            </a:xfrm>
            <a:prstGeom prst="rect">
              <a:avLst/>
            </a:prstGeom>
          </p:spPr>
          <p:txBody>
            <a:bodyPr anchor="ctr" rtlCol="false" tIns="0" lIns="0" bIns="0" rIns="0"/>
            <a:lstStyle/>
            <a:p>
              <a:pPr algn="l">
                <a:lnSpc>
                  <a:spcPts val="2015"/>
                </a:lnSpc>
              </a:pPr>
              <a:r>
                <a:rPr lang="en-US" sz="1679" b="true">
                  <a:solidFill>
                    <a:srgbClr val="9BDFD9"/>
                  </a:solidFill>
                  <a:latin typeface="Arial Bold"/>
                  <a:ea typeface="Arial Bold"/>
                  <a:cs typeface="Arial Bold"/>
                  <a:sym typeface="Arial Bold"/>
                </a:rPr>
                <a:t>HÀNG SP.5 (TABLE A1)</a:t>
              </a:r>
            </a:p>
          </p:txBody>
        </p:sp>
      </p:grpSp>
      <p:grpSp>
        <p:nvGrpSpPr>
          <p:cNvPr name="Group 49" id="49"/>
          <p:cNvGrpSpPr/>
          <p:nvPr/>
        </p:nvGrpSpPr>
        <p:grpSpPr>
          <a:xfrm rot="0">
            <a:off x="9642348" y="3991356"/>
            <a:ext cx="6720840" cy="644652"/>
            <a:chOff x="0" y="0"/>
            <a:chExt cx="8961120" cy="859536"/>
          </a:xfrm>
        </p:grpSpPr>
        <p:sp>
          <p:nvSpPr>
            <p:cNvPr name="Freeform 50" id="50"/>
            <p:cNvSpPr/>
            <p:nvPr/>
          </p:nvSpPr>
          <p:spPr>
            <a:xfrm flipH="false" flipV="false" rot="0">
              <a:off x="0" y="0"/>
              <a:ext cx="8961120" cy="859536"/>
            </a:xfrm>
            <a:custGeom>
              <a:avLst/>
              <a:gdLst/>
              <a:ahLst/>
              <a:cxnLst/>
              <a:rect r="r" b="b" t="t" l="l"/>
              <a:pathLst>
                <a:path h="859536" w="8961120">
                  <a:moveTo>
                    <a:pt x="0" y="0"/>
                  </a:moveTo>
                  <a:lnTo>
                    <a:pt x="8961120" y="0"/>
                  </a:lnTo>
                  <a:lnTo>
                    <a:pt x="8961120" y="859536"/>
                  </a:lnTo>
                  <a:lnTo>
                    <a:pt x="0" y="859536"/>
                  </a:lnTo>
                  <a:close/>
                </a:path>
              </a:pathLst>
            </a:custGeom>
            <a:blipFill>
              <a:blip r:embed="rId3">
                <a:alphaModFix amt="0"/>
              </a:blip>
              <a:stretch>
                <a:fillRect l="0" t="-153141" r="0" b="-153141"/>
              </a:stretch>
            </a:blipFill>
          </p:spPr>
        </p:sp>
        <p:sp>
          <p:nvSpPr>
            <p:cNvPr name="TextBox 51" id="51"/>
            <p:cNvSpPr txBox="true"/>
            <p:nvPr/>
          </p:nvSpPr>
          <p:spPr>
            <a:xfrm>
              <a:off x="0" y="-19050"/>
              <a:ext cx="8961120" cy="878586"/>
            </a:xfrm>
            <a:prstGeom prst="rect">
              <a:avLst/>
            </a:prstGeom>
          </p:spPr>
          <p:txBody>
            <a:bodyPr anchor="ctr" rtlCol="false" tIns="0" lIns="0" bIns="0" rIns="0"/>
            <a:lstStyle/>
            <a:p>
              <a:pPr algn="l">
                <a:lnSpc>
                  <a:spcPts val="3600"/>
                </a:lnSpc>
              </a:pPr>
              <a:r>
                <a:rPr lang="en-US" sz="3000" b="true">
                  <a:solidFill>
                    <a:srgbClr val="FFFFFF"/>
                  </a:solidFill>
                  <a:latin typeface="Arial Bold"/>
                  <a:ea typeface="Arial Bold"/>
                  <a:cs typeface="Arial Bold"/>
                  <a:sym typeface="Arial Bold"/>
                </a:rPr>
                <a:t>Information Sharing</a:t>
              </a:r>
            </a:p>
          </p:txBody>
        </p:sp>
      </p:grpSp>
      <p:grpSp>
        <p:nvGrpSpPr>
          <p:cNvPr name="Group 52" id="52"/>
          <p:cNvGrpSpPr/>
          <p:nvPr/>
        </p:nvGrpSpPr>
        <p:grpSpPr>
          <a:xfrm rot="0">
            <a:off x="9642348" y="4704588"/>
            <a:ext cx="6761988" cy="507492"/>
            <a:chOff x="0" y="0"/>
            <a:chExt cx="9015984" cy="676656"/>
          </a:xfrm>
        </p:grpSpPr>
        <p:sp>
          <p:nvSpPr>
            <p:cNvPr name="Freeform 53" id="53"/>
            <p:cNvSpPr/>
            <p:nvPr/>
          </p:nvSpPr>
          <p:spPr>
            <a:xfrm flipH="false" flipV="false" rot="0">
              <a:off x="0" y="0"/>
              <a:ext cx="9015984" cy="676656"/>
            </a:xfrm>
            <a:custGeom>
              <a:avLst/>
              <a:gdLst/>
              <a:ahLst/>
              <a:cxnLst/>
              <a:rect r="r" b="b" t="t" l="l"/>
              <a:pathLst>
                <a:path h="676656" w="9015984">
                  <a:moveTo>
                    <a:pt x="0" y="0"/>
                  </a:moveTo>
                  <a:lnTo>
                    <a:pt x="9015984" y="0"/>
                  </a:lnTo>
                  <a:lnTo>
                    <a:pt x="9015984" y="676656"/>
                  </a:lnTo>
                  <a:lnTo>
                    <a:pt x="0" y="676656"/>
                  </a:lnTo>
                  <a:close/>
                </a:path>
              </a:pathLst>
            </a:custGeom>
            <a:blipFill>
              <a:blip r:embed="rId3">
                <a:alphaModFix amt="0"/>
              </a:blip>
              <a:stretch>
                <a:fillRect l="0" t="-209624" r="0" b="-209624"/>
              </a:stretch>
            </a:blipFill>
          </p:spPr>
        </p:sp>
        <p:sp>
          <p:nvSpPr>
            <p:cNvPr name="TextBox 54" id="54"/>
            <p:cNvSpPr txBox="true"/>
            <p:nvPr/>
          </p:nvSpPr>
          <p:spPr>
            <a:xfrm>
              <a:off x="0" y="-19050"/>
              <a:ext cx="9015984" cy="695706"/>
            </a:xfrm>
            <a:prstGeom prst="rect">
              <a:avLst/>
            </a:prstGeom>
          </p:spPr>
          <p:txBody>
            <a:bodyPr anchor="ctr" rtlCol="false" tIns="0" lIns="0" bIns="0" rIns="0"/>
            <a:lstStyle/>
            <a:p>
              <a:pPr algn="l">
                <a:lnSpc>
                  <a:spcPts val="2825"/>
                </a:lnSpc>
              </a:pPr>
              <a:r>
                <a:rPr lang="en-US" sz="2354">
                  <a:solidFill>
                    <a:srgbClr val="C3E4E6"/>
                  </a:solidFill>
                  <a:latin typeface="Arial"/>
                  <a:ea typeface="Arial"/>
                  <a:cs typeface="Arial"/>
                  <a:sym typeface="Arial"/>
                </a:rPr>
                <a:t>Chia sẻ thông tin</a:t>
              </a:r>
            </a:p>
          </p:txBody>
        </p:sp>
      </p:grpSp>
      <p:grpSp>
        <p:nvGrpSpPr>
          <p:cNvPr name="Group 55" id="55"/>
          <p:cNvGrpSpPr/>
          <p:nvPr/>
        </p:nvGrpSpPr>
        <p:grpSpPr>
          <a:xfrm rot="0">
            <a:off x="9724644" y="5637276"/>
            <a:ext cx="2743200" cy="630936"/>
            <a:chOff x="0" y="0"/>
            <a:chExt cx="3657600" cy="841248"/>
          </a:xfrm>
        </p:grpSpPr>
        <p:sp>
          <p:nvSpPr>
            <p:cNvPr name="Freeform 56" id="56"/>
            <p:cNvSpPr/>
            <p:nvPr/>
          </p:nvSpPr>
          <p:spPr>
            <a:xfrm flipH="false" flipV="false" rot="0">
              <a:off x="0" y="0"/>
              <a:ext cx="3657600" cy="841248"/>
            </a:xfrm>
            <a:custGeom>
              <a:avLst/>
              <a:gdLst/>
              <a:ahLst/>
              <a:cxnLst/>
              <a:rect r="r" b="b" t="t" l="l"/>
              <a:pathLst>
                <a:path h="841248" w="3657600">
                  <a:moveTo>
                    <a:pt x="0" y="0"/>
                  </a:moveTo>
                  <a:lnTo>
                    <a:pt x="3657600" y="0"/>
                  </a:lnTo>
                  <a:lnTo>
                    <a:pt x="3657600" y="841248"/>
                  </a:lnTo>
                  <a:lnTo>
                    <a:pt x="0" y="841248"/>
                  </a:lnTo>
                  <a:close/>
                </a:path>
              </a:pathLst>
            </a:custGeom>
            <a:blipFill>
              <a:blip r:embed="rId3">
                <a:alphaModFix amt="0"/>
              </a:blip>
              <a:stretch>
                <a:fillRect l="0" t="-34717" r="0" b="-34717"/>
              </a:stretch>
            </a:blipFill>
          </p:spPr>
        </p:sp>
        <p:sp>
          <p:nvSpPr>
            <p:cNvPr name="TextBox 57" id="57"/>
            <p:cNvSpPr txBox="true"/>
            <p:nvPr/>
          </p:nvSpPr>
          <p:spPr>
            <a:xfrm>
              <a:off x="0" y="-19050"/>
              <a:ext cx="3657600" cy="860298"/>
            </a:xfrm>
            <a:prstGeom prst="rect">
              <a:avLst/>
            </a:prstGeom>
          </p:spPr>
          <p:txBody>
            <a:bodyPr anchor="ctr" rtlCol="false" tIns="0" lIns="0" bIns="0" rIns="0"/>
            <a:lstStyle/>
            <a:p>
              <a:pPr algn="l">
                <a:lnSpc>
                  <a:spcPts val="3240"/>
                </a:lnSpc>
              </a:pPr>
              <a:r>
                <a:rPr lang="en-US" sz="2700" b="true">
                  <a:solidFill>
                    <a:srgbClr val="EAC8A2"/>
                  </a:solidFill>
                  <a:latin typeface="Arial Bold"/>
                  <a:ea typeface="Arial Bold"/>
                  <a:cs typeface="Arial Bold"/>
                  <a:sym typeface="Arial Bold"/>
                </a:rPr>
                <a:t>Mean 3,8</a:t>
              </a:r>
            </a:p>
          </p:txBody>
        </p:sp>
      </p:grpSp>
      <p:grpSp>
        <p:nvGrpSpPr>
          <p:cNvPr name="Group 58" id="58"/>
          <p:cNvGrpSpPr/>
          <p:nvPr/>
        </p:nvGrpSpPr>
        <p:grpSpPr>
          <a:xfrm rot="0">
            <a:off x="12481560" y="5637276"/>
            <a:ext cx="3744468" cy="630936"/>
            <a:chOff x="0" y="0"/>
            <a:chExt cx="4992624" cy="841248"/>
          </a:xfrm>
        </p:grpSpPr>
        <p:sp>
          <p:nvSpPr>
            <p:cNvPr name="Freeform 59" id="59"/>
            <p:cNvSpPr/>
            <p:nvPr/>
          </p:nvSpPr>
          <p:spPr>
            <a:xfrm flipH="false" flipV="false" rot="0">
              <a:off x="0" y="0"/>
              <a:ext cx="4992624" cy="841248"/>
            </a:xfrm>
            <a:custGeom>
              <a:avLst/>
              <a:gdLst/>
              <a:ahLst/>
              <a:cxnLst/>
              <a:rect r="r" b="b" t="t" l="l"/>
              <a:pathLst>
                <a:path h="841248" w="4992624">
                  <a:moveTo>
                    <a:pt x="0" y="0"/>
                  </a:moveTo>
                  <a:lnTo>
                    <a:pt x="4992624" y="0"/>
                  </a:lnTo>
                  <a:lnTo>
                    <a:pt x="4992624" y="841248"/>
                  </a:lnTo>
                  <a:lnTo>
                    <a:pt x="0" y="841248"/>
                  </a:lnTo>
                  <a:close/>
                </a:path>
              </a:pathLst>
            </a:custGeom>
            <a:blipFill>
              <a:blip r:embed="rId3">
                <a:alphaModFix amt="0"/>
              </a:blip>
              <a:stretch>
                <a:fillRect l="0" t="-65639" r="0" b="-65639"/>
              </a:stretch>
            </a:blipFill>
          </p:spPr>
        </p:sp>
        <p:sp>
          <p:nvSpPr>
            <p:cNvPr name="TextBox 60" id="60"/>
            <p:cNvSpPr txBox="true"/>
            <p:nvPr/>
          </p:nvSpPr>
          <p:spPr>
            <a:xfrm>
              <a:off x="0" y="-19050"/>
              <a:ext cx="4992624" cy="860298"/>
            </a:xfrm>
            <a:prstGeom prst="rect">
              <a:avLst/>
            </a:prstGeom>
          </p:spPr>
          <p:txBody>
            <a:bodyPr anchor="ctr" rtlCol="false" tIns="0" lIns="0" bIns="0" rIns="0"/>
            <a:lstStyle/>
            <a:p>
              <a:pPr algn="l">
                <a:lnSpc>
                  <a:spcPts val="3240"/>
                </a:lnSpc>
              </a:pPr>
              <a:r>
                <a:rPr lang="en-US" sz="2700" b="true">
                  <a:solidFill>
                    <a:srgbClr val="B7F0D8"/>
                  </a:solidFill>
                  <a:latin typeface="Arial Bold"/>
                  <a:ea typeface="Arial Bold"/>
                  <a:cs typeface="Arial Bold"/>
                  <a:sym typeface="Arial Bold"/>
                </a:rPr>
                <a:t>Median 4</a:t>
              </a:r>
            </a:p>
          </p:txBody>
        </p:sp>
      </p:grpSp>
      <p:grpSp>
        <p:nvGrpSpPr>
          <p:cNvPr name="Group 61" id="61"/>
          <p:cNvGrpSpPr/>
          <p:nvPr/>
        </p:nvGrpSpPr>
        <p:grpSpPr>
          <a:xfrm rot="0">
            <a:off x="9710928" y="6556248"/>
            <a:ext cx="6309360" cy="534924"/>
            <a:chOff x="0" y="0"/>
            <a:chExt cx="8412480" cy="713232"/>
          </a:xfrm>
        </p:grpSpPr>
        <p:sp>
          <p:nvSpPr>
            <p:cNvPr name="Freeform 62" id="62"/>
            <p:cNvSpPr/>
            <p:nvPr/>
          </p:nvSpPr>
          <p:spPr>
            <a:xfrm flipH="false" flipV="false" rot="0">
              <a:off x="0" y="0"/>
              <a:ext cx="8412480" cy="713232"/>
            </a:xfrm>
            <a:custGeom>
              <a:avLst/>
              <a:gdLst/>
              <a:ahLst/>
              <a:cxnLst/>
              <a:rect r="r" b="b" t="t" l="l"/>
              <a:pathLst>
                <a:path h="713232" w="8412480">
                  <a:moveTo>
                    <a:pt x="0" y="0"/>
                  </a:moveTo>
                  <a:lnTo>
                    <a:pt x="8412480" y="0"/>
                  </a:lnTo>
                  <a:lnTo>
                    <a:pt x="8412480" y="713232"/>
                  </a:lnTo>
                  <a:lnTo>
                    <a:pt x="0" y="713232"/>
                  </a:lnTo>
                  <a:close/>
                </a:path>
              </a:pathLst>
            </a:custGeom>
            <a:blipFill>
              <a:blip r:embed="rId3">
                <a:alphaModFix amt="0"/>
              </a:blip>
              <a:stretch>
                <a:fillRect l="0" t="-179823" r="0" b="-179823"/>
              </a:stretch>
            </a:blipFill>
          </p:spPr>
        </p:sp>
        <p:sp>
          <p:nvSpPr>
            <p:cNvPr name="TextBox 63" id="63"/>
            <p:cNvSpPr txBox="true"/>
            <p:nvPr/>
          </p:nvSpPr>
          <p:spPr>
            <a:xfrm>
              <a:off x="0" y="-19050"/>
              <a:ext cx="8412480" cy="732282"/>
            </a:xfrm>
            <a:prstGeom prst="rect">
              <a:avLst/>
            </a:prstGeom>
          </p:spPr>
          <p:txBody>
            <a:bodyPr anchor="ctr" rtlCol="false" tIns="0" lIns="0" bIns="0" rIns="0"/>
            <a:lstStyle/>
            <a:p>
              <a:pPr algn="l">
                <a:lnSpc>
                  <a:spcPts val="3240"/>
                </a:lnSpc>
              </a:pPr>
              <a:r>
                <a:rPr lang="en-US" sz="2700" b="true">
                  <a:solidFill>
                    <a:srgbClr val="B7F0D8"/>
                  </a:solidFill>
                  <a:latin typeface="Arial Bold"/>
                  <a:ea typeface="Arial Bold"/>
                  <a:cs typeface="Arial Bold"/>
                  <a:sym typeface="Arial Bold"/>
                </a:rPr>
                <a:t>IQR 1    →    ĐẠT</a:t>
              </a:r>
            </a:p>
          </p:txBody>
        </p:sp>
      </p:grpSp>
      <p:grpSp>
        <p:nvGrpSpPr>
          <p:cNvPr name="Group 64" id="64"/>
          <p:cNvGrpSpPr/>
          <p:nvPr/>
        </p:nvGrpSpPr>
        <p:grpSpPr>
          <a:xfrm rot="0">
            <a:off x="1357884" y="8119872"/>
            <a:ext cx="15499080" cy="850392"/>
            <a:chOff x="0" y="0"/>
            <a:chExt cx="20665440" cy="1133856"/>
          </a:xfrm>
        </p:grpSpPr>
        <p:sp>
          <p:nvSpPr>
            <p:cNvPr name="Freeform 65" id="65"/>
            <p:cNvSpPr/>
            <p:nvPr/>
          </p:nvSpPr>
          <p:spPr>
            <a:xfrm flipH="false" flipV="false" rot="0">
              <a:off x="0" y="0"/>
              <a:ext cx="20665439" cy="1133856"/>
            </a:xfrm>
            <a:custGeom>
              <a:avLst/>
              <a:gdLst/>
              <a:ahLst/>
              <a:cxnLst/>
              <a:rect r="r" b="b" t="t" l="l"/>
              <a:pathLst>
                <a:path h="1133856" w="20665439">
                  <a:moveTo>
                    <a:pt x="0" y="0"/>
                  </a:moveTo>
                  <a:lnTo>
                    <a:pt x="20665439" y="0"/>
                  </a:lnTo>
                  <a:lnTo>
                    <a:pt x="20665439" y="1133856"/>
                  </a:lnTo>
                  <a:lnTo>
                    <a:pt x="0" y="1133856"/>
                  </a:lnTo>
                  <a:close/>
                </a:path>
              </a:pathLst>
            </a:custGeom>
            <a:blipFill>
              <a:blip r:embed="rId3">
                <a:alphaModFix amt="0"/>
              </a:blip>
              <a:stretch>
                <a:fillRect l="0" t="-305130" r="0" b="-305130"/>
              </a:stretch>
            </a:blipFill>
          </p:spPr>
        </p:sp>
        <p:sp>
          <p:nvSpPr>
            <p:cNvPr name="TextBox 66" id="66"/>
            <p:cNvSpPr txBox="true"/>
            <p:nvPr/>
          </p:nvSpPr>
          <p:spPr>
            <a:xfrm>
              <a:off x="0" y="-19050"/>
              <a:ext cx="20665440" cy="1152906"/>
            </a:xfrm>
            <a:prstGeom prst="rect">
              <a:avLst/>
            </a:prstGeom>
          </p:spPr>
          <p:txBody>
            <a:bodyPr anchor="ctr" rtlCol="false" tIns="0" lIns="0" bIns="0" rIns="0"/>
            <a:lstStyle/>
            <a:p>
              <a:pPr algn="l">
                <a:lnSpc>
                  <a:spcPts val="2700"/>
                </a:lnSpc>
              </a:pPr>
              <a:r>
                <a:rPr lang="en-US" sz="2250" b="true">
                  <a:solidFill>
                    <a:srgbClr val="137E82"/>
                  </a:solidFill>
                  <a:latin typeface="Arial Bold"/>
                  <a:ea typeface="Arial Bold"/>
                  <a:cs typeface="Arial Bold"/>
                  <a:sym typeface="Arial Bold"/>
                </a:rPr>
                <a:t>Điểm quan trọng: Mean &lt; 4 không khiến SP.5 bị loại — vì ngưỡng chọn là Median + IQR.</a:t>
              </a:r>
            </a:p>
          </p:txBody>
        </p:sp>
      </p:gr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5F8FB"/>
        </a:solidFill>
      </p:bgPr>
    </p:bg>
    <p:spTree>
      <p:nvGrpSpPr>
        <p:cNvPr id="1" name=""/>
        <p:cNvGrpSpPr/>
        <p:nvPr/>
      </p:nvGrpSpPr>
      <p:grpSpPr>
        <a:xfrm>
          <a:off x="0" y="0"/>
          <a:ext cx="0" cy="0"/>
          <a:chOff x="0" y="0"/>
          <a:chExt cx="0" cy="0"/>
        </a:xfrm>
      </p:grpSpPr>
      <p:grpSp>
        <p:nvGrpSpPr>
          <p:cNvPr name="Group 2" id="2"/>
          <p:cNvGrpSpPr/>
          <p:nvPr/>
        </p:nvGrpSpPr>
        <p:grpSpPr>
          <a:xfrm rot="0">
            <a:off x="-9525" y="-9525"/>
            <a:ext cx="163068" cy="10306050"/>
            <a:chOff x="0" y="0"/>
            <a:chExt cx="217424" cy="13741400"/>
          </a:xfrm>
        </p:grpSpPr>
        <p:sp>
          <p:nvSpPr>
            <p:cNvPr name="Freeform 3" id="3"/>
            <p:cNvSpPr/>
            <p:nvPr/>
          </p:nvSpPr>
          <p:spPr>
            <a:xfrm flipH="false" flipV="false" rot="0">
              <a:off x="0" y="0"/>
              <a:ext cx="217424" cy="13741400"/>
            </a:xfrm>
            <a:custGeom>
              <a:avLst/>
              <a:gdLst/>
              <a:ahLst/>
              <a:cxnLst/>
              <a:rect r="r" b="b" t="t" l="l"/>
              <a:pathLst>
                <a:path h="13741400" w="217424">
                  <a:moveTo>
                    <a:pt x="0" y="0"/>
                  </a:moveTo>
                  <a:lnTo>
                    <a:pt x="217424" y="0"/>
                  </a:lnTo>
                  <a:lnTo>
                    <a:pt x="217424" y="13741400"/>
                  </a:lnTo>
                  <a:lnTo>
                    <a:pt x="0" y="13741400"/>
                  </a:lnTo>
                  <a:close/>
                </a:path>
              </a:pathLst>
            </a:custGeom>
            <a:solidFill>
              <a:srgbClr val="137E82"/>
            </a:solidFill>
          </p:spPr>
        </p:sp>
      </p:grpSp>
      <p:grpSp>
        <p:nvGrpSpPr>
          <p:cNvPr name="Group 4" id="4"/>
          <p:cNvGrpSpPr/>
          <p:nvPr/>
        </p:nvGrpSpPr>
        <p:grpSpPr>
          <a:xfrm rot="0">
            <a:off x="987552" y="329184"/>
            <a:ext cx="15087600" cy="342900"/>
            <a:chOff x="0" y="0"/>
            <a:chExt cx="20116800" cy="457200"/>
          </a:xfrm>
        </p:grpSpPr>
        <p:sp>
          <p:nvSpPr>
            <p:cNvPr name="Freeform 5" id="5"/>
            <p:cNvSpPr/>
            <p:nvPr/>
          </p:nvSpPr>
          <p:spPr>
            <a:xfrm flipH="false" flipV="false" rot="0">
              <a:off x="0" y="0"/>
              <a:ext cx="20116800" cy="457200"/>
            </a:xfrm>
            <a:custGeom>
              <a:avLst/>
              <a:gdLst/>
              <a:ahLst/>
              <a:cxnLst/>
              <a:rect r="r" b="b" t="t" l="l"/>
              <a:pathLst>
                <a:path h="457200" w="20116800">
                  <a:moveTo>
                    <a:pt x="0" y="0"/>
                  </a:moveTo>
                  <a:lnTo>
                    <a:pt x="20116800" y="0"/>
                  </a:lnTo>
                  <a:lnTo>
                    <a:pt x="20116800" y="457200"/>
                  </a:lnTo>
                  <a:lnTo>
                    <a:pt x="0" y="457200"/>
                  </a:lnTo>
                  <a:close/>
                </a:path>
              </a:pathLst>
            </a:custGeom>
            <a:blipFill>
              <a:blip r:embed="rId3">
                <a:alphaModFix amt="0"/>
              </a:blip>
              <a:stretch>
                <a:fillRect l="0" t="-807341" r="0" b="-807341"/>
              </a:stretch>
            </a:blipFill>
          </p:spPr>
        </p:sp>
        <p:sp>
          <p:nvSpPr>
            <p:cNvPr name="TextBox 6" id="6"/>
            <p:cNvSpPr txBox="true"/>
            <p:nvPr/>
          </p:nvSpPr>
          <p:spPr>
            <a:xfrm>
              <a:off x="0" y="-9525"/>
              <a:ext cx="20116800" cy="466725"/>
            </a:xfrm>
            <a:prstGeom prst="rect">
              <a:avLst/>
            </a:prstGeom>
          </p:spPr>
          <p:txBody>
            <a:bodyPr anchor="ctr" rtlCol="false" tIns="0" lIns="0" bIns="0" rIns="0"/>
            <a:lstStyle/>
            <a:p>
              <a:pPr algn="l">
                <a:lnSpc>
                  <a:spcPts val="1745"/>
                </a:lnSpc>
              </a:pPr>
              <a:r>
                <a:rPr lang="en-US" b="true" sz="1455" spc="239">
                  <a:solidFill>
                    <a:srgbClr val="137E82"/>
                  </a:solidFill>
                  <a:latin typeface="Arial Bold"/>
                  <a:ea typeface="Arial Bold"/>
                  <a:cs typeface="Arial Bold"/>
                  <a:sym typeface="Arial Bold"/>
                </a:rPr>
                <a:t>KẾT QUẢ NGHIÊN CỨU</a:t>
              </a:r>
            </a:p>
          </p:txBody>
        </p:sp>
      </p:grpSp>
      <p:grpSp>
        <p:nvGrpSpPr>
          <p:cNvPr name="Group 7" id="7"/>
          <p:cNvGrpSpPr/>
          <p:nvPr/>
        </p:nvGrpSpPr>
        <p:grpSpPr>
          <a:xfrm rot="0">
            <a:off x="987552" y="946404"/>
            <a:ext cx="16459200" cy="781812"/>
            <a:chOff x="0" y="0"/>
            <a:chExt cx="21945600" cy="1042416"/>
          </a:xfrm>
        </p:grpSpPr>
        <p:sp>
          <p:nvSpPr>
            <p:cNvPr name="Freeform 8" id="8"/>
            <p:cNvSpPr/>
            <p:nvPr/>
          </p:nvSpPr>
          <p:spPr>
            <a:xfrm flipH="false" flipV="false" rot="0">
              <a:off x="0" y="0"/>
              <a:ext cx="21945600" cy="1042416"/>
            </a:xfrm>
            <a:custGeom>
              <a:avLst/>
              <a:gdLst/>
              <a:ahLst/>
              <a:cxnLst/>
              <a:rect r="r" b="b" t="t" l="l"/>
              <a:pathLst>
                <a:path h="1042416" w="21945600">
                  <a:moveTo>
                    <a:pt x="0" y="0"/>
                  </a:moveTo>
                  <a:lnTo>
                    <a:pt x="21945600" y="0"/>
                  </a:lnTo>
                  <a:lnTo>
                    <a:pt x="21945600" y="1042416"/>
                  </a:lnTo>
                  <a:lnTo>
                    <a:pt x="0" y="1042416"/>
                  </a:lnTo>
                  <a:close/>
                </a:path>
              </a:pathLst>
            </a:custGeom>
            <a:blipFill>
              <a:blip r:embed="rId3">
                <a:alphaModFix amt="0"/>
              </a:blip>
              <a:stretch>
                <a:fillRect l="0" t="-360211" r="0" b="-360211"/>
              </a:stretch>
            </a:blipFill>
          </p:spPr>
        </p:sp>
        <p:sp>
          <p:nvSpPr>
            <p:cNvPr name="TextBox 9" id="9"/>
            <p:cNvSpPr txBox="true"/>
            <p:nvPr/>
          </p:nvSpPr>
          <p:spPr>
            <a:xfrm>
              <a:off x="0" y="-28575"/>
              <a:ext cx="21945600" cy="1070991"/>
            </a:xfrm>
            <a:prstGeom prst="rect">
              <a:avLst/>
            </a:prstGeom>
          </p:spPr>
          <p:txBody>
            <a:bodyPr anchor="ctr" rtlCol="false" tIns="0" lIns="0" bIns="0" rIns="0"/>
            <a:lstStyle/>
            <a:p>
              <a:pPr algn="l">
                <a:lnSpc>
                  <a:spcPts val="4410"/>
                </a:lnSpc>
              </a:pPr>
              <a:r>
                <a:rPr lang="en-US" sz="3675" b="true">
                  <a:solidFill>
                    <a:srgbClr val="12304C"/>
                  </a:solidFill>
                  <a:latin typeface="Arial Bold"/>
                  <a:ea typeface="Arial Bold"/>
                  <a:cs typeface="Arial Bold"/>
                  <a:sym typeface="Arial Bold"/>
                </a:rPr>
                <a:t>Figure 1 | Mô hình 36 quy trình</a:t>
              </a:r>
            </a:p>
          </p:txBody>
        </p:sp>
      </p:grpSp>
      <p:grpSp>
        <p:nvGrpSpPr>
          <p:cNvPr name="Group 10" id="10"/>
          <p:cNvGrpSpPr/>
          <p:nvPr/>
        </p:nvGrpSpPr>
        <p:grpSpPr>
          <a:xfrm rot="0">
            <a:off x="1014984" y="1796796"/>
            <a:ext cx="16322040" cy="480060"/>
            <a:chOff x="0" y="0"/>
            <a:chExt cx="21762720" cy="640080"/>
          </a:xfrm>
        </p:grpSpPr>
        <p:sp>
          <p:nvSpPr>
            <p:cNvPr name="Freeform 11" id="11"/>
            <p:cNvSpPr/>
            <p:nvPr/>
          </p:nvSpPr>
          <p:spPr>
            <a:xfrm flipH="false" flipV="false" rot="0">
              <a:off x="0" y="0"/>
              <a:ext cx="21762720" cy="640080"/>
            </a:xfrm>
            <a:custGeom>
              <a:avLst/>
              <a:gdLst/>
              <a:ahLst/>
              <a:cxnLst/>
              <a:rect r="r" b="b" t="t" l="l"/>
              <a:pathLst>
                <a:path h="640080" w="21762720">
                  <a:moveTo>
                    <a:pt x="0" y="0"/>
                  </a:moveTo>
                  <a:lnTo>
                    <a:pt x="21762720" y="0"/>
                  </a:lnTo>
                  <a:lnTo>
                    <a:pt x="21762720" y="640080"/>
                  </a:lnTo>
                  <a:lnTo>
                    <a:pt x="0" y="640080"/>
                  </a:lnTo>
                  <a:close/>
                </a:path>
              </a:pathLst>
            </a:custGeom>
            <a:blipFill>
              <a:blip r:embed="rId3">
                <a:alphaModFix amt="0"/>
              </a:blip>
              <a:stretch>
                <a:fillRect l="0" t="-612491" r="0" b="-612491"/>
              </a:stretch>
            </a:blipFill>
          </p:spPr>
        </p:sp>
        <p:sp>
          <p:nvSpPr>
            <p:cNvPr name="TextBox 12" id="12"/>
            <p:cNvSpPr txBox="true"/>
            <p:nvPr/>
          </p:nvSpPr>
          <p:spPr>
            <a:xfrm>
              <a:off x="0" y="-19050"/>
              <a:ext cx="21762720" cy="659130"/>
            </a:xfrm>
            <a:prstGeom prst="rect">
              <a:avLst/>
            </a:prstGeom>
          </p:spPr>
          <p:txBody>
            <a:bodyPr anchor="ctr" rtlCol="false" tIns="0" lIns="0" bIns="0" rIns="0"/>
            <a:lstStyle/>
            <a:p>
              <a:pPr algn="l">
                <a:lnSpc>
                  <a:spcPts val="2322"/>
                </a:lnSpc>
              </a:pPr>
              <a:r>
                <a:rPr lang="en-US" sz="1935">
                  <a:solidFill>
                    <a:srgbClr val="50677D"/>
                  </a:solidFill>
                  <a:latin typeface="Arial"/>
                  <a:ea typeface="Arial"/>
                  <a:cs typeface="Arial"/>
                  <a:sym typeface="Arial"/>
                </a:rPr>
                <a:t>Hình gốc của tác giả — cơ cấu quản trị phân cấp</a:t>
              </a:r>
            </a:p>
          </p:txBody>
        </p:sp>
      </p:grpSp>
      <p:sp>
        <p:nvSpPr>
          <p:cNvPr name="AutoShape 13" id="13"/>
          <p:cNvSpPr/>
          <p:nvPr/>
        </p:nvSpPr>
        <p:spPr>
          <a:xfrm rot="4020">
            <a:off x="991733" y="9692450"/>
            <a:ext cx="16272520" cy="0"/>
          </a:xfrm>
          <a:prstGeom prst="line">
            <a:avLst/>
          </a:prstGeom>
          <a:ln cap="rnd" w="9525">
            <a:solidFill>
              <a:srgbClr val="DEE7EE"/>
            </a:solidFill>
            <a:prstDash val="solid"/>
            <a:headEnd type="none" len="sm" w="sm"/>
            <a:tailEnd type="none" len="sm" w="sm"/>
          </a:ln>
        </p:spPr>
      </p:sp>
      <p:grpSp>
        <p:nvGrpSpPr>
          <p:cNvPr name="Group 14" id="14"/>
          <p:cNvGrpSpPr/>
          <p:nvPr/>
        </p:nvGrpSpPr>
        <p:grpSpPr>
          <a:xfrm rot="0">
            <a:off x="1014984" y="9779508"/>
            <a:ext cx="14703552" cy="274320"/>
            <a:chOff x="0" y="0"/>
            <a:chExt cx="19604736" cy="365760"/>
          </a:xfrm>
        </p:grpSpPr>
        <p:sp>
          <p:nvSpPr>
            <p:cNvPr name="Freeform 15" id="15"/>
            <p:cNvSpPr/>
            <p:nvPr/>
          </p:nvSpPr>
          <p:spPr>
            <a:xfrm flipH="false" flipV="false" rot="0">
              <a:off x="0" y="0"/>
              <a:ext cx="19604737" cy="365760"/>
            </a:xfrm>
            <a:custGeom>
              <a:avLst/>
              <a:gdLst/>
              <a:ahLst/>
              <a:cxnLst/>
              <a:rect r="r" b="b" t="t" l="l"/>
              <a:pathLst>
                <a:path h="365760" w="19604737">
                  <a:moveTo>
                    <a:pt x="0" y="0"/>
                  </a:moveTo>
                  <a:lnTo>
                    <a:pt x="19604737" y="0"/>
                  </a:lnTo>
                  <a:lnTo>
                    <a:pt x="19604737" y="365760"/>
                  </a:lnTo>
                  <a:lnTo>
                    <a:pt x="0" y="365760"/>
                  </a:lnTo>
                  <a:close/>
                </a:path>
              </a:pathLst>
            </a:custGeom>
            <a:blipFill>
              <a:blip r:embed="rId3">
                <a:alphaModFix amt="0"/>
              </a:blip>
              <a:stretch>
                <a:fillRect l="0" t="-994398" r="0" b="-994398"/>
              </a:stretch>
            </a:blipFill>
          </p:spPr>
        </p:sp>
        <p:sp>
          <p:nvSpPr>
            <p:cNvPr name="TextBox 16" id="16"/>
            <p:cNvSpPr txBox="true"/>
            <p:nvPr/>
          </p:nvSpPr>
          <p:spPr>
            <a:xfrm>
              <a:off x="0" y="-9525"/>
              <a:ext cx="19604736" cy="375285"/>
            </a:xfrm>
            <a:prstGeom prst="rect">
              <a:avLst/>
            </a:prstGeom>
          </p:spPr>
          <p:txBody>
            <a:bodyPr anchor="ctr" rtlCol="false" tIns="0" lIns="0" bIns="0" rIns="0"/>
            <a:lstStyle/>
            <a:p>
              <a:pPr algn="l">
                <a:lnSpc>
                  <a:spcPts val="1494"/>
                </a:lnSpc>
              </a:pPr>
              <a:r>
                <a:rPr lang="en-US" sz="1245">
                  <a:solidFill>
                    <a:srgbClr val="50677D"/>
                  </a:solidFill>
                  <a:latin typeface="Arial"/>
                  <a:ea typeface="Arial"/>
                  <a:cs typeface="Arial"/>
                  <a:sym typeface="Arial"/>
                </a:rPr>
                <a:t>Liu và cộng sự (2025)  |  doi.org/10.1093/cybsec/tyaf020</a:t>
              </a:r>
            </a:p>
          </p:txBody>
        </p:sp>
      </p:grpSp>
      <p:grpSp>
        <p:nvGrpSpPr>
          <p:cNvPr name="Group 17" id="17"/>
          <p:cNvGrpSpPr/>
          <p:nvPr/>
        </p:nvGrpSpPr>
        <p:grpSpPr>
          <a:xfrm rot="0">
            <a:off x="16184880" y="9779508"/>
            <a:ext cx="1001268" cy="274320"/>
            <a:chOff x="0" y="0"/>
            <a:chExt cx="1335024" cy="365760"/>
          </a:xfrm>
        </p:grpSpPr>
        <p:sp>
          <p:nvSpPr>
            <p:cNvPr name="Freeform 18" id="18"/>
            <p:cNvSpPr/>
            <p:nvPr/>
          </p:nvSpPr>
          <p:spPr>
            <a:xfrm flipH="false" flipV="false" rot="0">
              <a:off x="0" y="0"/>
              <a:ext cx="1335024" cy="365760"/>
            </a:xfrm>
            <a:custGeom>
              <a:avLst/>
              <a:gdLst/>
              <a:ahLst/>
              <a:cxnLst/>
              <a:rect r="r" b="b" t="t" l="l"/>
              <a:pathLst>
                <a:path h="365760" w="1335024">
                  <a:moveTo>
                    <a:pt x="0" y="0"/>
                  </a:moveTo>
                  <a:lnTo>
                    <a:pt x="1335024" y="0"/>
                  </a:lnTo>
                  <a:lnTo>
                    <a:pt x="1335024" y="365760"/>
                  </a:lnTo>
                  <a:lnTo>
                    <a:pt x="0" y="365760"/>
                  </a:lnTo>
                  <a:close/>
                </a:path>
              </a:pathLst>
            </a:custGeom>
            <a:blipFill>
              <a:blip r:embed="rId3">
                <a:alphaModFix amt="0"/>
              </a:blip>
              <a:stretch>
                <a:fillRect l="0" t="-21120" r="0" b="-21120"/>
              </a:stretch>
            </a:blipFill>
          </p:spPr>
        </p:sp>
        <p:sp>
          <p:nvSpPr>
            <p:cNvPr name="TextBox 19" id="19"/>
            <p:cNvSpPr txBox="true"/>
            <p:nvPr/>
          </p:nvSpPr>
          <p:spPr>
            <a:xfrm>
              <a:off x="0" y="-9525"/>
              <a:ext cx="1335024" cy="375285"/>
            </a:xfrm>
            <a:prstGeom prst="rect">
              <a:avLst/>
            </a:prstGeom>
          </p:spPr>
          <p:txBody>
            <a:bodyPr anchor="ctr" rtlCol="false" tIns="0" lIns="0" bIns="0" rIns="0"/>
            <a:lstStyle/>
            <a:p>
              <a:pPr algn="r">
                <a:lnSpc>
                  <a:spcPts val="1494"/>
                </a:lnSpc>
              </a:pPr>
              <a:r>
                <a:rPr lang="en-US" sz="1245">
                  <a:solidFill>
                    <a:srgbClr val="50677D"/>
                  </a:solidFill>
                  <a:latin typeface="Arial"/>
                  <a:ea typeface="Arial"/>
                  <a:cs typeface="Arial"/>
                  <a:sym typeface="Arial"/>
                </a:rPr>
                <a:t>06 / 14</a:t>
              </a:r>
            </a:p>
          </p:txBody>
        </p:sp>
      </p:grpSp>
      <p:grpSp>
        <p:nvGrpSpPr>
          <p:cNvPr name="Group 20" id="20"/>
          <p:cNvGrpSpPr/>
          <p:nvPr/>
        </p:nvGrpSpPr>
        <p:grpSpPr>
          <a:xfrm rot="0">
            <a:off x="1185672" y="2598420"/>
            <a:ext cx="15980664" cy="5981700"/>
            <a:chOff x="0" y="0"/>
            <a:chExt cx="21307552" cy="7975600"/>
          </a:xfrm>
        </p:grpSpPr>
        <p:sp>
          <p:nvSpPr>
            <p:cNvPr name="Freeform 21" id="21"/>
            <p:cNvSpPr/>
            <p:nvPr/>
          </p:nvSpPr>
          <p:spPr>
            <a:xfrm flipH="false" flipV="false" rot="0">
              <a:off x="0" y="0"/>
              <a:ext cx="21307552" cy="7975600"/>
            </a:xfrm>
            <a:custGeom>
              <a:avLst/>
              <a:gdLst/>
              <a:ahLst/>
              <a:cxnLst/>
              <a:rect r="r" b="b" t="t" l="l"/>
              <a:pathLst>
                <a:path h="7975600" w="21307552">
                  <a:moveTo>
                    <a:pt x="0" y="220091"/>
                  </a:moveTo>
                  <a:cubicBezTo>
                    <a:pt x="0" y="98552"/>
                    <a:pt x="98552" y="0"/>
                    <a:pt x="220091" y="0"/>
                  </a:cubicBezTo>
                  <a:lnTo>
                    <a:pt x="21087462" y="0"/>
                  </a:lnTo>
                  <a:cubicBezTo>
                    <a:pt x="21209000" y="0"/>
                    <a:pt x="21307552" y="98552"/>
                    <a:pt x="21307552" y="220091"/>
                  </a:cubicBezTo>
                  <a:lnTo>
                    <a:pt x="21307552" y="7755509"/>
                  </a:lnTo>
                  <a:cubicBezTo>
                    <a:pt x="21307552" y="7877048"/>
                    <a:pt x="21209000" y="7975600"/>
                    <a:pt x="21087462" y="7975600"/>
                  </a:cubicBezTo>
                  <a:lnTo>
                    <a:pt x="220091" y="7975600"/>
                  </a:lnTo>
                  <a:cubicBezTo>
                    <a:pt x="98552" y="7975600"/>
                    <a:pt x="0" y="7877048"/>
                    <a:pt x="0" y="7755509"/>
                  </a:cubicBezTo>
                  <a:close/>
                </a:path>
              </a:pathLst>
            </a:custGeom>
            <a:solidFill>
              <a:srgbClr val="FFFFFF"/>
            </a:solidFill>
            <a:ln w="15240" cap="sq">
              <a:solidFill>
                <a:srgbClr val="DEE7EE"/>
              </a:solidFill>
              <a:prstDash val="solid"/>
              <a:miter/>
            </a:ln>
          </p:spPr>
        </p:sp>
      </p:grpSp>
      <p:grpSp>
        <p:nvGrpSpPr>
          <p:cNvPr name="Group 22" id="22"/>
          <p:cNvGrpSpPr/>
          <p:nvPr/>
        </p:nvGrpSpPr>
        <p:grpSpPr>
          <a:xfrm rot="0">
            <a:off x="5201479" y="2770632"/>
            <a:ext cx="8031356" cy="5513832"/>
            <a:chOff x="0" y="0"/>
            <a:chExt cx="10708475" cy="7351776"/>
          </a:xfrm>
        </p:grpSpPr>
        <p:sp>
          <p:nvSpPr>
            <p:cNvPr name="Freeform 23" id="23" descr="/mnt/data/dt015_ppt_build/DT015_Bo_chuan_bi/sources/figure_1.jpeg"/>
            <p:cNvSpPr/>
            <p:nvPr/>
          </p:nvSpPr>
          <p:spPr>
            <a:xfrm flipH="false" flipV="false" rot="0">
              <a:off x="0" y="0"/>
              <a:ext cx="10708513" cy="7351776"/>
            </a:xfrm>
            <a:custGeom>
              <a:avLst/>
              <a:gdLst/>
              <a:ahLst/>
              <a:cxnLst/>
              <a:rect r="r" b="b" t="t" l="l"/>
              <a:pathLst>
                <a:path h="7351776" w="10708513">
                  <a:moveTo>
                    <a:pt x="0" y="0"/>
                  </a:moveTo>
                  <a:lnTo>
                    <a:pt x="10708513" y="0"/>
                  </a:lnTo>
                  <a:lnTo>
                    <a:pt x="10708513" y="7351776"/>
                  </a:lnTo>
                  <a:lnTo>
                    <a:pt x="0" y="7351776"/>
                  </a:lnTo>
                  <a:lnTo>
                    <a:pt x="0" y="0"/>
                  </a:lnTo>
                  <a:close/>
                </a:path>
              </a:pathLst>
            </a:custGeom>
            <a:blipFill>
              <a:blip r:embed="rId4"/>
              <a:stretch>
                <a:fillRect l="0" t="0" r="0" b="0"/>
              </a:stretch>
            </a:blipFill>
          </p:spPr>
        </p:sp>
      </p:grpSp>
      <p:grpSp>
        <p:nvGrpSpPr>
          <p:cNvPr name="Group 24" id="24"/>
          <p:cNvGrpSpPr/>
          <p:nvPr/>
        </p:nvGrpSpPr>
        <p:grpSpPr>
          <a:xfrm rot="0">
            <a:off x="1289304" y="8723376"/>
            <a:ext cx="5308092" cy="466344"/>
            <a:chOff x="0" y="0"/>
            <a:chExt cx="7077456" cy="621792"/>
          </a:xfrm>
        </p:grpSpPr>
        <p:sp>
          <p:nvSpPr>
            <p:cNvPr name="Freeform 25" id="25"/>
            <p:cNvSpPr/>
            <p:nvPr/>
          </p:nvSpPr>
          <p:spPr>
            <a:xfrm flipH="false" flipV="false" rot="0">
              <a:off x="0" y="0"/>
              <a:ext cx="7077456" cy="621792"/>
            </a:xfrm>
            <a:custGeom>
              <a:avLst/>
              <a:gdLst/>
              <a:ahLst/>
              <a:cxnLst/>
              <a:rect r="r" b="b" t="t" l="l"/>
              <a:pathLst>
                <a:path h="621792" w="7077456">
                  <a:moveTo>
                    <a:pt x="0" y="0"/>
                  </a:moveTo>
                  <a:lnTo>
                    <a:pt x="7077456" y="0"/>
                  </a:lnTo>
                  <a:lnTo>
                    <a:pt x="7077456" y="621792"/>
                  </a:lnTo>
                  <a:lnTo>
                    <a:pt x="0" y="621792"/>
                  </a:lnTo>
                  <a:close/>
                </a:path>
              </a:pathLst>
            </a:custGeom>
            <a:blipFill>
              <a:blip r:embed="rId3">
                <a:alphaModFix amt="0"/>
              </a:blip>
              <a:stretch>
                <a:fillRect l="0" t="-171785" r="0" b="-171785"/>
              </a:stretch>
            </a:blipFill>
          </p:spPr>
        </p:sp>
        <p:sp>
          <p:nvSpPr>
            <p:cNvPr name="TextBox 26" id="26"/>
            <p:cNvSpPr txBox="true"/>
            <p:nvPr/>
          </p:nvSpPr>
          <p:spPr>
            <a:xfrm>
              <a:off x="0" y="-9525"/>
              <a:ext cx="7077456" cy="631317"/>
            </a:xfrm>
            <a:prstGeom prst="rect">
              <a:avLst/>
            </a:prstGeom>
          </p:spPr>
          <p:txBody>
            <a:bodyPr anchor="ctr" rtlCol="false" tIns="0" lIns="0" bIns="0" rIns="0"/>
            <a:lstStyle/>
            <a:p>
              <a:pPr algn="ctr">
                <a:lnSpc>
                  <a:spcPts val="2465"/>
                </a:lnSpc>
              </a:pPr>
              <a:r>
                <a:rPr lang="en-US" sz="2054" b="true">
                  <a:solidFill>
                    <a:srgbClr val="1C6183"/>
                  </a:solidFill>
                  <a:latin typeface="Arial Bold"/>
                  <a:ea typeface="Arial Bold"/>
                  <a:cs typeface="Arial Bold"/>
                  <a:sym typeface="Arial Bold"/>
                </a:rPr>
                <a:t>6  Strategic  |  Chiến lược</a:t>
              </a:r>
            </a:p>
          </p:txBody>
        </p:sp>
      </p:grpSp>
      <p:grpSp>
        <p:nvGrpSpPr>
          <p:cNvPr name="Group 27" id="27"/>
          <p:cNvGrpSpPr/>
          <p:nvPr/>
        </p:nvGrpSpPr>
        <p:grpSpPr>
          <a:xfrm rot="0">
            <a:off x="6542532" y="8723376"/>
            <a:ext cx="5554980" cy="466344"/>
            <a:chOff x="0" y="0"/>
            <a:chExt cx="7406640" cy="621792"/>
          </a:xfrm>
        </p:grpSpPr>
        <p:sp>
          <p:nvSpPr>
            <p:cNvPr name="Freeform 28" id="28"/>
            <p:cNvSpPr/>
            <p:nvPr/>
          </p:nvSpPr>
          <p:spPr>
            <a:xfrm flipH="false" flipV="false" rot="0">
              <a:off x="0" y="0"/>
              <a:ext cx="7406640" cy="621792"/>
            </a:xfrm>
            <a:custGeom>
              <a:avLst/>
              <a:gdLst/>
              <a:ahLst/>
              <a:cxnLst/>
              <a:rect r="r" b="b" t="t" l="l"/>
              <a:pathLst>
                <a:path h="621792" w="7406640">
                  <a:moveTo>
                    <a:pt x="0" y="0"/>
                  </a:moveTo>
                  <a:lnTo>
                    <a:pt x="7406640" y="0"/>
                  </a:lnTo>
                  <a:lnTo>
                    <a:pt x="7406640" y="621792"/>
                  </a:lnTo>
                  <a:lnTo>
                    <a:pt x="0" y="621792"/>
                  </a:lnTo>
                  <a:close/>
                </a:path>
              </a:pathLst>
            </a:custGeom>
            <a:blipFill>
              <a:blip r:embed="rId3">
                <a:alphaModFix amt="0"/>
              </a:blip>
              <a:stretch>
                <a:fillRect l="0" t="-182101" r="0" b="-182101"/>
              </a:stretch>
            </a:blipFill>
          </p:spPr>
        </p:sp>
        <p:sp>
          <p:nvSpPr>
            <p:cNvPr name="TextBox 29" id="29"/>
            <p:cNvSpPr txBox="true"/>
            <p:nvPr/>
          </p:nvSpPr>
          <p:spPr>
            <a:xfrm>
              <a:off x="0" y="-9525"/>
              <a:ext cx="7406640" cy="631317"/>
            </a:xfrm>
            <a:prstGeom prst="rect">
              <a:avLst/>
            </a:prstGeom>
          </p:spPr>
          <p:txBody>
            <a:bodyPr anchor="ctr" rtlCol="false" tIns="0" lIns="0" bIns="0" rIns="0"/>
            <a:lstStyle/>
            <a:p>
              <a:pPr algn="ctr">
                <a:lnSpc>
                  <a:spcPts val="2465"/>
                </a:lnSpc>
              </a:pPr>
              <a:r>
                <a:rPr lang="en-US" sz="2054" b="true">
                  <a:solidFill>
                    <a:srgbClr val="137E82"/>
                  </a:solidFill>
                  <a:latin typeface="Arial Bold"/>
                  <a:ea typeface="Arial Bold"/>
                  <a:cs typeface="Arial Bold"/>
                  <a:sym typeface="Arial Bold"/>
                </a:rPr>
                <a:t>11  Tactical  |  Chiến thuật</a:t>
              </a:r>
            </a:p>
          </p:txBody>
        </p:sp>
      </p:grpSp>
      <p:grpSp>
        <p:nvGrpSpPr>
          <p:cNvPr name="Group 30" id="30"/>
          <p:cNvGrpSpPr/>
          <p:nvPr/>
        </p:nvGrpSpPr>
        <p:grpSpPr>
          <a:xfrm rot="0">
            <a:off x="11946636" y="8723376"/>
            <a:ext cx="5225796" cy="466344"/>
            <a:chOff x="0" y="0"/>
            <a:chExt cx="6967728" cy="621792"/>
          </a:xfrm>
        </p:grpSpPr>
        <p:sp>
          <p:nvSpPr>
            <p:cNvPr name="Freeform 31" id="31"/>
            <p:cNvSpPr/>
            <p:nvPr/>
          </p:nvSpPr>
          <p:spPr>
            <a:xfrm flipH="false" flipV="false" rot="0">
              <a:off x="0" y="0"/>
              <a:ext cx="6967728" cy="621792"/>
            </a:xfrm>
            <a:custGeom>
              <a:avLst/>
              <a:gdLst/>
              <a:ahLst/>
              <a:cxnLst/>
              <a:rect r="r" b="b" t="t" l="l"/>
              <a:pathLst>
                <a:path h="621792" w="6967728">
                  <a:moveTo>
                    <a:pt x="0" y="0"/>
                  </a:moveTo>
                  <a:lnTo>
                    <a:pt x="6967728" y="0"/>
                  </a:lnTo>
                  <a:lnTo>
                    <a:pt x="6967728" y="621792"/>
                  </a:lnTo>
                  <a:lnTo>
                    <a:pt x="0" y="621792"/>
                  </a:lnTo>
                  <a:close/>
                </a:path>
              </a:pathLst>
            </a:custGeom>
            <a:blipFill>
              <a:blip r:embed="rId3">
                <a:alphaModFix amt="0"/>
              </a:blip>
              <a:stretch>
                <a:fillRect l="0" t="-168347" r="0" b="-168347"/>
              </a:stretch>
            </a:blipFill>
          </p:spPr>
        </p:sp>
        <p:sp>
          <p:nvSpPr>
            <p:cNvPr name="TextBox 32" id="32"/>
            <p:cNvSpPr txBox="true"/>
            <p:nvPr/>
          </p:nvSpPr>
          <p:spPr>
            <a:xfrm>
              <a:off x="0" y="-9525"/>
              <a:ext cx="6967728" cy="631317"/>
            </a:xfrm>
            <a:prstGeom prst="rect">
              <a:avLst/>
            </a:prstGeom>
          </p:spPr>
          <p:txBody>
            <a:bodyPr anchor="ctr" rtlCol="false" tIns="0" lIns="0" bIns="0" rIns="0"/>
            <a:lstStyle/>
            <a:p>
              <a:pPr algn="ctr">
                <a:lnSpc>
                  <a:spcPts val="2465"/>
                </a:lnSpc>
              </a:pPr>
              <a:r>
                <a:rPr lang="en-US" sz="2054" b="true">
                  <a:solidFill>
                    <a:srgbClr val="1C6183"/>
                  </a:solidFill>
                  <a:latin typeface="Arial Bold"/>
                  <a:ea typeface="Arial Bold"/>
                  <a:cs typeface="Arial Bold"/>
                  <a:sym typeface="Arial Bold"/>
                </a:rPr>
                <a:t>19  Operational  |  Vận hành</a:t>
              </a:r>
            </a:p>
          </p:txBody>
        </p:sp>
      </p:gr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5F8FB"/>
        </a:solidFill>
      </p:bgPr>
    </p:bg>
    <p:spTree>
      <p:nvGrpSpPr>
        <p:cNvPr id="1" name=""/>
        <p:cNvGrpSpPr/>
        <p:nvPr/>
      </p:nvGrpSpPr>
      <p:grpSpPr>
        <a:xfrm>
          <a:off x="0" y="0"/>
          <a:ext cx="0" cy="0"/>
          <a:chOff x="0" y="0"/>
          <a:chExt cx="0" cy="0"/>
        </a:xfrm>
      </p:grpSpPr>
      <p:grpSp>
        <p:nvGrpSpPr>
          <p:cNvPr name="Group 2" id="2"/>
          <p:cNvGrpSpPr/>
          <p:nvPr/>
        </p:nvGrpSpPr>
        <p:grpSpPr>
          <a:xfrm rot="0">
            <a:off x="-9525" y="-9525"/>
            <a:ext cx="163068" cy="10306050"/>
            <a:chOff x="0" y="0"/>
            <a:chExt cx="217424" cy="13741400"/>
          </a:xfrm>
        </p:grpSpPr>
        <p:sp>
          <p:nvSpPr>
            <p:cNvPr name="Freeform 3" id="3"/>
            <p:cNvSpPr/>
            <p:nvPr/>
          </p:nvSpPr>
          <p:spPr>
            <a:xfrm flipH="false" flipV="false" rot="0">
              <a:off x="0" y="0"/>
              <a:ext cx="217424" cy="13741400"/>
            </a:xfrm>
            <a:custGeom>
              <a:avLst/>
              <a:gdLst/>
              <a:ahLst/>
              <a:cxnLst/>
              <a:rect r="r" b="b" t="t" l="l"/>
              <a:pathLst>
                <a:path h="13741400" w="217424">
                  <a:moveTo>
                    <a:pt x="0" y="0"/>
                  </a:moveTo>
                  <a:lnTo>
                    <a:pt x="217424" y="0"/>
                  </a:lnTo>
                  <a:lnTo>
                    <a:pt x="217424" y="13741400"/>
                  </a:lnTo>
                  <a:lnTo>
                    <a:pt x="0" y="13741400"/>
                  </a:lnTo>
                  <a:close/>
                </a:path>
              </a:pathLst>
            </a:custGeom>
            <a:solidFill>
              <a:srgbClr val="137E82"/>
            </a:solidFill>
          </p:spPr>
        </p:sp>
      </p:grpSp>
      <p:grpSp>
        <p:nvGrpSpPr>
          <p:cNvPr name="Group 4" id="4"/>
          <p:cNvGrpSpPr/>
          <p:nvPr/>
        </p:nvGrpSpPr>
        <p:grpSpPr>
          <a:xfrm rot="0">
            <a:off x="987552" y="329184"/>
            <a:ext cx="15087600" cy="342900"/>
            <a:chOff x="0" y="0"/>
            <a:chExt cx="20116800" cy="457200"/>
          </a:xfrm>
        </p:grpSpPr>
        <p:sp>
          <p:nvSpPr>
            <p:cNvPr name="Freeform 5" id="5"/>
            <p:cNvSpPr/>
            <p:nvPr/>
          </p:nvSpPr>
          <p:spPr>
            <a:xfrm flipH="false" flipV="false" rot="0">
              <a:off x="0" y="0"/>
              <a:ext cx="20116800" cy="457200"/>
            </a:xfrm>
            <a:custGeom>
              <a:avLst/>
              <a:gdLst/>
              <a:ahLst/>
              <a:cxnLst/>
              <a:rect r="r" b="b" t="t" l="l"/>
              <a:pathLst>
                <a:path h="457200" w="20116800">
                  <a:moveTo>
                    <a:pt x="0" y="0"/>
                  </a:moveTo>
                  <a:lnTo>
                    <a:pt x="20116800" y="0"/>
                  </a:lnTo>
                  <a:lnTo>
                    <a:pt x="20116800" y="457200"/>
                  </a:lnTo>
                  <a:lnTo>
                    <a:pt x="0" y="457200"/>
                  </a:lnTo>
                  <a:close/>
                </a:path>
              </a:pathLst>
            </a:custGeom>
            <a:blipFill>
              <a:blip r:embed="rId3">
                <a:alphaModFix amt="0"/>
              </a:blip>
              <a:stretch>
                <a:fillRect l="0" t="-807341" r="0" b="-807341"/>
              </a:stretch>
            </a:blipFill>
          </p:spPr>
        </p:sp>
        <p:sp>
          <p:nvSpPr>
            <p:cNvPr name="TextBox 6" id="6"/>
            <p:cNvSpPr txBox="true"/>
            <p:nvPr/>
          </p:nvSpPr>
          <p:spPr>
            <a:xfrm>
              <a:off x="0" y="-9525"/>
              <a:ext cx="20116800" cy="466725"/>
            </a:xfrm>
            <a:prstGeom prst="rect">
              <a:avLst/>
            </a:prstGeom>
          </p:spPr>
          <p:txBody>
            <a:bodyPr anchor="ctr" rtlCol="false" tIns="0" lIns="0" bIns="0" rIns="0"/>
            <a:lstStyle/>
            <a:p>
              <a:pPr algn="l">
                <a:lnSpc>
                  <a:spcPts val="1745"/>
                </a:lnSpc>
              </a:pPr>
              <a:r>
                <a:rPr lang="en-US" b="true" sz="1455" spc="239">
                  <a:solidFill>
                    <a:srgbClr val="137E82"/>
                  </a:solidFill>
                  <a:latin typeface="Arial Bold"/>
                  <a:ea typeface="Arial Bold"/>
                  <a:cs typeface="Arial Bold"/>
                  <a:sym typeface="Arial Bold"/>
                </a:rPr>
                <a:t>BẢNG 3 — DỊCH VÀ GIẢI THÍCH</a:t>
              </a:r>
            </a:p>
          </p:txBody>
        </p:sp>
      </p:grpSp>
      <p:grpSp>
        <p:nvGrpSpPr>
          <p:cNvPr name="Group 7" id="7"/>
          <p:cNvGrpSpPr/>
          <p:nvPr/>
        </p:nvGrpSpPr>
        <p:grpSpPr>
          <a:xfrm rot="0">
            <a:off x="987552" y="946404"/>
            <a:ext cx="16459200" cy="781812"/>
            <a:chOff x="0" y="0"/>
            <a:chExt cx="21945600" cy="1042416"/>
          </a:xfrm>
        </p:grpSpPr>
        <p:sp>
          <p:nvSpPr>
            <p:cNvPr name="Freeform 8" id="8"/>
            <p:cNvSpPr/>
            <p:nvPr/>
          </p:nvSpPr>
          <p:spPr>
            <a:xfrm flipH="false" flipV="false" rot="0">
              <a:off x="0" y="0"/>
              <a:ext cx="21945600" cy="1042416"/>
            </a:xfrm>
            <a:custGeom>
              <a:avLst/>
              <a:gdLst/>
              <a:ahLst/>
              <a:cxnLst/>
              <a:rect r="r" b="b" t="t" l="l"/>
              <a:pathLst>
                <a:path h="1042416" w="21945600">
                  <a:moveTo>
                    <a:pt x="0" y="0"/>
                  </a:moveTo>
                  <a:lnTo>
                    <a:pt x="21945600" y="0"/>
                  </a:lnTo>
                  <a:lnTo>
                    <a:pt x="21945600" y="1042416"/>
                  </a:lnTo>
                  <a:lnTo>
                    <a:pt x="0" y="1042416"/>
                  </a:lnTo>
                  <a:close/>
                </a:path>
              </a:pathLst>
            </a:custGeom>
            <a:blipFill>
              <a:blip r:embed="rId3">
                <a:alphaModFix amt="0"/>
              </a:blip>
              <a:stretch>
                <a:fillRect l="0" t="-360211" r="0" b="-360211"/>
              </a:stretch>
            </a:blipFill>
          </p:spPr>
        </p:sp>
        <p:sp>
          <p:nvSpPr>
            <p:cNvPr name="TextBox 9" id="9"/>
            <p:cNvSpPr txBox="true"/>
            <p:nvPr/>
          </p:nvSpPr>
          <p:spPr>
            <a:xfrm>
              <a:off x="0" y="-28575"/>
              <a:ext cx="21945600" cy="1070991"/>
            </a:xfrm>
            <a:prstGeom prst="rect">
              <a:avLst/>
            </a:prstGeom>
          </p:spPr>
          <p:txBody>
            <a:bodyPr anchor="ctr" rtlCol="false" tIns="0" lIns="0" bIns="0" rIns="0"/>
            <a:lstStyle/>
            <a:p>
              <a:pPr algn="l">
                <a:lnSpc>
                  <a:spcPts val="4410"/>
                </a:lnSpc>
              </a:pPr>
              <a:r>
                <a:rPr lang="en-US" sz="3675" b="true">
                  <a:solidFill>
                    <a:srgbClr val="12304C"/>
                  </a:solidFill>
                  <a:latin typeface="Arial Bold"/>
                  <a:ea typeface="Arial Bold"/>
                  <a:cs typeface="Arial Bold"/>
                  <a:sym typeface="Arial Bold"/>
                </a:rPr>
                <a:t>Table 3 | Phân loại theo mức cần thiết</a:t>
              </a:r>
            </a:p>
          </p:txBody>
        </p:sp>
      </p:grpSp>
      <p:grpSp>
        <p:nvGrpSpPr>
          <p:cNvPr name="Group 10" id="10"/>
          <p:cNvGrpSpPr/>
          <p:nvPr/>
        </p:nvGrpSpPr>
        <p:grpSpPr>
          <a:xfrm rot="0">
            <a:off x="1014984" y="1796796"/>
            <a:ext cx="16322040" cy="480060"/>
            <a:chOff x="0" y="0"/>
            <a:chExt cx="21762720" cy="640080"/>
          </a:xfrm>
        </p:grpSpPr>
        <p:sp>
          <p:nvSpPr>
            <p:cNvPr name="Freeform 11" id="11"/>
            <p:cNvSpPr/>
            <p:nvPr/>
          </p:nvSpPr>
          <p:spPr>
            <a:xfrm flipH="false" flipV="false" rot="0">
              <a:off x="0" y="0"/>
              <a:ext cx="21762720" cy="640080"/>
            </a:xfrm>
            <a:custGeom>
              <a:avLst/>
              <a:gdLst/>
              <a:ahLst/>
              <a:cxnLst/>
              <a:rect r="r" b="b" t="t" l="l"/>
              <a:pathLst>
                <a:path h="640080" w="21762720">
                  <a:moveTo>
                    <a:pt x="0" y="0"/>
                  </a:moveTo>
                  <a:lnTo>
                    <a:pt x="21762720" y="0"/>
                  </a:lnTo>
                  <a:lnTo>
                    <a:pt x="21762720" y="640080"/>
                  </a:lnTo>
                  <a:lnTo>
                    <a:pt x="0" y="640080"/>
                  </a:lnTo>
                  <a:close/>
                </a:path>
              </a:pathLst>
            </a:custGeom>
            <a:blipFill>
              <a:blip r:embed="rId3">
                <a:alphaModFix amt="0"/>
              </a:blip>
              <a:stretch>
                <a:fillRect l="0" t="-612491" r="0" b="-612491"/>
              </a:stretch>
            </a:blipFill>
          </p:spPr>
        </p:sp>
        <p:sp>
          <p:nvSpPr>
            <p:cNvPr name="TextBox 12" id="12"/>
            <p:cNvSpPr txBox="true"/>
            <p:nvPr/>
          </p:nvSpPr>
          <p:spPr>
            <a:xfrm>
              <a:off x="0" y="-19050"/>
              <a:ext cx="21762720" cy="659130"/>
            </a:xfrm>
            <a:prstGeom prst="rect">
              <a:avLst/>
            </a:prstGeom>
          </p:spPr>
          <p:txBody>
            <a:bodyPr anchor="ctr" rtlCol="false" tIns="0" lIns="0" bIns="0" rIns="0"/>
            <a:lstStyle/>
            <a:p>
              <a:pPr algn="l">
                <a:lnSpc>
                  <a:spcPts val="2322"/>
                </a:lnSpc>
              </a:pPr>
              <a:r>
                <a:rPr lang="en-US" sz="1935">
                  <a:solidFill>
                    <a:srgbClr val="50677D"/>
                  </a:solidFill>
                  <a:latin typeface="Arial"/>
                  <a:ea typeface="Arial"/>
                  <a:cs typeface="Arial"/>
                  <a:sym typeface="Arial"/>
                </a:rPr>
                <a:t>Ngoài 3 cấp quản lý, tác giả còn chia quy trình thành 3 nhóm ưu tiên</a:t>
              </a:r>
            </a:p>
          </p:txBody>
        </p:sp>
      </p:grpSp>
      <p:sp>
        <p:nvSpPr>
          <p:cNvPr name="AutoShape 13" id="13"/>
          <p:cNvSpPr/>
          <p:nvPr/>
        </p:nvSpPr>
        <p:spPr>
          <a:xfrm rot="4020">
            <a:off x="991733" y="9692450"/>
            <a:ext cx="16272520" cy="0"/>
          </a:xfrm>
          <a:prstGeom prst="line">
            <a:avLst/>
          </a:prstGeom>
          <a:ln cap="rnd" w="9525">
            <a:solidFill>
              <a:srgbClr val="DEE7EE"/>
            </a:solidFill>
            <a:prstDash val="solid"/>
            <a:headEnd type="none" len="sm" w="sm"/>
            <a:tailEnd type="none" len="sm" w="sm"/>
          </a:ln>
        </p:spPr>
      </p:sp>
      <p:grpSp>
        <p:nvGrpSpPr>
          <p:cNvPr name="Group 14" id="14"/>
          <p:cNvGrpSpPr/>
          <p:nvPr/>
        </p:nvGrpSpPr>
        <p:grpSpPr>
          <a:xfrm rot="0">
            <a:off x="1014984" y="9779508"/>
            <a:ext cx="14703552" cy="274320"/>
            <a:chOff x="0" y="0"/>
            <a:chExt cx="19604736" cy="365760"/>
          </a:xfrm>
        </p:grpSpPr>
        <p:sp>
          <p:nvSpPr>
            <p:cNvPr name="Freeform 15" id="15"/>
            <p:cNvSpPr/>
            <p:nvPr/>
          </p:nvSpPr>
          <p:spPr>
            <a:xfrm flipH="false" flipV="false" rot="0">
              <a:off x="0" y="0"/>
              <a:ext cx="19604737" cy="365760"/>
            </a:xfrm>
            <a:custGeom>
              <a:avLst/>
              <a:gdLst/>
              <a:ahLst/>
              <a:cxnLst/>
              <a:rect r="r" b="b" t="t" l="l"/>
              <a:pathLst>
                <a:path h="365760" w="19604737">
                  <a:moveTo>
                    <a:pt x="0" y="0"/>
                  </a:moveTo>
                  <a:lnTo>
                    <a:pt x="19604737" y="0"/>
                  </a:lnTo>
                  <a:lnTo>
                    <a:pt x="19604737" y="365760"/>
                  </a:lnTo>
                  <a:lnTo>
                    <a:pt x="0" y="365760"/>
                  </a:lnTo>
                  <a:close/>
                </a:path>
              </a:pathLst>
            </a:custGeom>
            <a:blipFill>
              <a:blip r:embed="rId3">
                <a:alphaModFix amt="0"/>
              </a:blip>
              <a:stretch>
                <a:fillRect l="0" t="-994398" r="0" b="-994398"/>
              </a:stretch>
            </a:blipFill>
          </p:spPr>
        </p:sp>
        <p:sp>
          <p:nvSpPr>
            <p:cNvPr name="TextBox 16" id="16"/>
            <p:cNvSpPr txBox="true"/>
            <p:nvPr/>
          </p:nvSpPr>
          <p:spPr>
            <a:xfrm>
              <a:off x="0" y="-9525"/>
              <a:ext cx="19604736" cy="375285"/>
            </a:xfrm>
            <a:prstGeom prst="rect">
              <a:avLst/>
            </a:prstGeom>
          </p:spPr>
          <p:txBody>
            <a:bodyPr anchor="ctr" rtlCol="false" tIns="0" lIns="0" bIns="0" rIns="0"/>
            <a:lstStyle/>
            <a:p>
              <a:pPr algn="l">
                <a:lnSpc>
                  <a:spcPts val="1494"/>
                </a:lnSpc>
              </a:pPr>
              <a:r>
                <a:rPr lang="en-US" sz="1245">
                  <a:solidFill>
                    <a:srgbClr val="50677D"/>
                  </a:solidFill>
                  <a:latin typeface="Arial"/>
                  <a:ea typeface="Arial"/>
                  <a:cs typeface="Arial"/>
                  <a:sym typeface="Arial"/>
                </a:rPr>
                <a:t>Liu và cộng sự (2025)  |  doi.org/10.1093/cybsec/tyaf020</a:t>
              </a:r>
            </a:p>
          </p:txBody>
        </p:sp>
      </p:grpSp>
      <p:grpSp>
        <p:nvGrpSpPr>
          <p:cNvPr name="Group 17" id="17"/>
          <p:cNvGrpSpPr/>
          <p:nvPr/>
        </p:nvGrpSpPr>
        <p:grpSpPr>
          <a:xfrm rot="0">
            <a:off x="16184880" y="9779508"/>
            <a:ext cx="1001268" cy="274320"/>
            <a:chOff x="0" y="0"/>
            <a:chExt cx="1335024" cy="365760"/>
          </a:xfrm>
        </p:grpSpPr>
        <p:sp>
          <p:nvSpPr>
            <p:cNvPr name="Freeform 18" id="18"/>
            <p:cNvSpPr/>
            <p:nvPr/>
          </p:nvSpPr>
          <p:spPr>
            <a:xfrm flipH="false" flipV="false" rot="0">
              <a:off x="0" y="0"/>
              <a:ext cx="1335024" cy="365760"/>
            </a:xfrm>
            <a:custGeom>
              <a:avLst/>
              <a:gdLst/>
              <a:ahLst/>
              <a:cxnLst/>
              <a:rect r="r" b="b" t="t" l="l"/>
              <a:pathLst>
                <a:path h="365760" w="1335024">
                  <a:moveTo>
                    <a:pt x="0" y="0"/>
                  </a:moveTo>
                  <a:lnTo>
                    <a:pt x="1335024" y="0"/>
                  </a:lnTo>
                  <a:lnTo>
                    <a:pt x="1335024" y="365760"/>
                  </a:lnTo>
                  <a:lnTo>
                    <a:pt x="0" y="365760"/>
                  </a:lnTo>
                  <a:close/>
                </a:path>
              </a:pathLst>
            </a:custGeom>
            <a:blipFill>
              <a:blip r:embed="rId3">
                <a:alphaModFix amt="0"/>
              </a:blip>
              <a:stretch>
                <a:fillRect l="0" t="-21120" r="0" b="-21120"/>
              </a:stretch>
            </a:blipFill>
          </p:spPr>
        </p:sp>
        <p:sp>
          <p:nvSpPr>
            <p:cNvPr name="TextBox 19" id="19"/>
            <p:cNvSpPr txBox="true"/>
            <p:nvPr/>
          </p:nvSpPr>
          <p:spPr>
            <a:xfrm>
              <a:off x="0" y="-9525"/>
              <a:ext cx="1335024" cy="375285"/>
            </a:xfrm>
            <a:prstGeom prst="rect">
              <a:avLst/>
            </a:prstGeom>
          </p:spPr>
          <p:txBody>
            <a:bodyPr anchor="ctr" rtlCol="false" tIns="0" lIns="0" bIns="0" rIns="0"/>
            <a:lstStyle/>
            <a:p>
              <a:pPr algn="r">
                <a:lnSpc>
                  <a:spcPts val="1494"/>
                </a:lnSpc>
              </a:pPr>
              <a:r>
                <a:rPr lang="en-US" sz="1245">
                  <a:solidFill>
                    <a:srgbClr val="50677D"/>
                  </a:solidFill>
                  <a:latin typeface="Arial"/>
                  <a:ea typeface="Arial"/>
                  <a:cs typeface="Arial"/>
                  <a:sym typeface="Arial"/>
                </a:rPr>
                <a:t>07 / 14</a:t>
              </a:r>
            </a:p>
          </p:txBody>
        </p:sp>
      </p:grpSp>
      <p:grpSp>
        <p:nvGrpSpPr>
          <p:cNvPr name="Group 20" id="20"/>
          <p:cNvGrpSpPr/>
          <p:nvPr/>
        </p:nvGrpSpPr>
        <p:grpSpPr>
          <a:xfrm rot="0">
            <a:off x="1117092" y="2790444"/>
            <a:ext cx="5172456" cy="5049012"/>
            <a:chOff x="0" y="0"/>
            <a:chExt cx="6896608" cy="6732016"/>
          </a:xfrm>
        </p:grpSpPr>
        <p:sp>
          <p:nvSpPr>
            <p:cNvPr name="Freeform 21" id="21"/>
            <p:cNvSpPr/>
            <p:nvPr/>
          </p:nvSpPr>
          <p:spPr>
            <a:xfrm flipH="false" flipV="false" rot="0">
              <a:off x="0" y="0"/>
              <a:ext cx="6896608" cy="6732016"/>
            </a:xfrm>
            <a:custGeom>
              <a:avLst/>
              <a:gdLst/>
              <a:ahLst/>
              <a:cxnLst/>
              <a:rect r="r" b="b" t="t" l="l"/>
              <a:pathLst>
                <a:path h="6732016" w="6896608">
                  <a:moveTo>
                    <a:pt x="0" y="220091"/>
                  </a:moveTo>
                  <a:cubicBezTo>
                    <a:pt x="0" y="98552"/>
                    <a:pt x="98552" y="0"/>
                    <a:pt x="220091" y="0"/>
                  </a:cubicBezTo>
                  <a:lnTo>
                    <a:pt x="6676517" y="0"/>
                  </a:lnTo>
                  <a:cubicBezTo>
                    <a:pt x="6798056" y="0"/>
                    <a:pt x="6896608" y="98552"/>
                    <a:pt x="6896608" y="220091"/>
                  </a:cubicBezTo>
                  <a:lnTo>
                    <a:pt x="6896608" y="6511925"/>
                  </a:lnTo>
                  <a:cubicBezTo>
                    <a:pt x="6896608" y="6633464"/>
                    <a:pt x="6798056" y="6732016"/>
                    <a:pt x="6676517" y="6732016"/>
                  </a:cubicBezTo>
                  <a:lnTo>
                    <a:pt x="220091" y="6732016"/>
                  </a:lnTo>
                  <a:cubicBezTo>
                    <a:pt x="98552" y="6732016"/>
                    <a:pt x="0" y="6633464"/>
                    <a:pt x="0" y="6511925"/>
                  </a:cubicBezTo>
                  <a:close/>
                </a:path>
              </a:pathLst>
            </a:custGeom>
            <a:solidFill>
              <a:srgbClr val="FFFFFF"/>
            </a:solidFill>
            <a:ln w="15240" cap="sq">
              <a:solidFill>
                <a:srgbClr val="DEE7EE"/>
              </a:solidFill>
              <a:prstDash val="solid"/>
              <a:miter/>
            </a:ln>
          </p:spPr>
        </p:sp>
      </p:grpSp>
      <p:grpSp>
        <p:nvGrpSpPr>
          <p:cNvPr name="Group 22" id="22"/>
          <p:cNvGrpSpPr/>
          <p:nvPr/>
        </p:nvGrpSpPr>
        <p:grpSpPr>
          <a:xfrm rot="0">
            <a:off x="1362075" y="3117723"/>
            <a:ext cx="115062" cy="4394454"/>
            <a:chOff x="0" y="0"/>
            <a:chExt cx="153416" cy="5859272"/>
          </a:xfrm>
        </p:grpSpPr>
        <p:sp>
          <p:nvSpPr>
            <p:cNvPr name="Freeform 23" id="23"/>
            <p:cNvSpPr/>
            <p:nvPr/>
          </p:nvSpPr>
          <p:spPr>
            <a:xfrm flipH="false" flipV="false" rot="0">
              <a:off x="0" y="0"/>
              <a:ext cx="153416" cy="5859272"/>
            </a:xfrm>
            <a:custGeom>
              <a:avLst/>
              <a:gdLst/>
              <a:ahLst/>
              <a:cxnLst/>
              <a:rect r="r" b="b" t="t" l="l"/>
              <a:pathLst>
                <a:path h="5859272" w="153416">
                  <a:moveTo>
                    <a:pt x="0" y="0"/>
                  </a:moveTo>
                  <a:lnTo>
                    <a:pt x="153416" y="0"/>
                  </a:lnTo>
                  <a:lnTo>
                    <a:pt x="153416" y="5859272"/>
                  </a:lnTo>
                  <a:lnTo>
                    <a:pt x="0" y="5859272"/>
                  </a:lnTo>
                  <a:close/>
                </a:path>
              </a:pathLst>
            </a:custGeom>
            <a:solidFill>
              <a:srgbClr val="137E82"/>
            </a:solidFill>
          </p:spPr>
        </p:sp>
      </p:grpSp>
      <p:grpSp>
        <p:nvGrpSpPr>
          <p:cNvPr name="Group 24" id="24"/>
          <p:cNvGrpSpPr/>
          <p:nvPr/>
        </p:nvGrpSpPr>
        <p:grpSpPr>
          <a:xfrm rot="0">
            <a:off x="1714500" y="3044952"/>
            <a:ext cx="4197096" cy="342900"/>
            <a:chOff x="0" y="0"/>
            <a:chExt cx="5596128" cy="457200"/>
          </a:xfrm>
        </p:grpSpPr>
        <p:sp>
          <p:nvSpPr>
            <p:cNvPr name="Freeform 25" id="25"/>
            <p:cNvSpPr/>
            <p:nvPr/>
          </p:nvSpPr>
          <p:spPr>
            <a:xfrm flipH="false" flipV="false" rot="0">
              <a:off x="0" y="0"/>
              <a:ext cx="5596128" cy="457200"/>
            </a:xfrm>
            <a:custGeom>
              <a:avLst/>
              <a:gdLst/>
              <a:ahLst/>
              <a:cxnLst/>
              <a:rect r="r" b="b" t="t" l="l"/>
              <a:pathLst>
                <a:path h="457200" w="5596128">
                  <a:moveTo>
                    <a:pt x="0" y="0"/>
                  </a:moveTo>
                  <a:lnTo>
                    <a:pt x="5596128" y="0"/>
                  </a:lnTo>
                  <a:lnTo>
                    <a:pt x="5596128" y="457200"/>
                  </a:lnTo>
                  <a:lnTo>
                    <a:pt x="0" y="457200"/>
                  </a:lnTo>
                  <a:close/>
                </a:path>
              </a:pathLst>
            </a:custGeom>
            <a:blipFill>
              <a:blip r:embed="rId3">
                <a:alphaModFix amt="0"/>
              </a:blip>
              <a:stretch>
                <a:fillRect l="0" t="-188496" r="0" b="-188496"/>
              </a:stretch>
            </a:blipFill>
          </p:spPr>
        </p:sp>
        <p:sp>
          <p:nvSpPr>
            <p:cNvPr name="TextBox 26" id="26"/>
            <p:cNvSpPr txBox="true"/>
            <p:nvPr/>
          </p:nvSpPr>
          <p:spPr>
            <a:xfrm>
              <a:off x="0" y="-19050"/>
              <a:ext cx="5596128" cy="476250"/>
            </a:xfrm>
            <a:prstGeom prst="rect">
              <a:avLst/>
            </a:prstGeom>
          </p:spPr>
          <p:txBody>
            <a:bodyPr anchor="ctr" rtlCol="false" tIns="0" lIns="0" bIns="0" rIns="0"/>
            <a:lstStyle/>
            <a:p>
              <a:pPr algn="l">
                <a:lnSpc>
                  <a:spcPts val="1817"/>
                </a:lnSpc>
              </a:pPr>
              <a:r>
                <a:rPr lang="en-US" sz="1514" b="true">
                  <a:solidFill>
                    <a:srgbClr val="137E82"/>
                  </a:solidFill>
                  <a:latin typeface="Arial Bold"/>
                  <a:ea typeface="Arial Bold"/>
                  <a:cs typeface="Arial Bold"/>
                  <a:sym typeface="Arial Bold"/>
                </a:rPr>
                <a:t>BASELINE</a:t>
              </a:r>
            </a:p>
          </p:txBody>
        </p:sp>
      </p:grpSp>
      <p:grpSp>
        <p:nvGrpSpPr>
          <p:cNvPr name="Group 27" id="27"/>
          <p:cNvGrpSpPr/>
          <p:nvPr/>
        </p:nvGrpSpPr>
        <p:grpSpPr>
          <a:xfrm rot="0">
            <a:off x="1714500" y="3511296"/>
            <a:ext cx="4155948" cy="507492"/>
            <a:chOff x="0" y="0"/>
            <a:chExt cx="5541264" cy="676656"/>
          </a:xfrm>
        </p:grpSpPr>
        <p:sp>
          <p:nvSpPr>
            <p:cNvPr name="Freeform 28" id="28"/>
            <p:cNvSpPr/>
            <p:nvPr/>
          </p:nvSpPr>
          <p:spPr>
            <a:xfrm flipH="false" flipV="false" rot="0">
              <a:off x="0" y="0"/>
              <a:ext cx="5541264" cy="676656"/>
            </a:xfrm>
            <a:custGeom>
              <a:avLst/>
              <a:gdLst/>
              <a:ahLst/>
              <a:cxnLst/>
              <a:rect r="r" b="b" t="t" l="l"/>
              <a:pathLst>
                <a:path h="676656" w="5541264">
                  <a:moveTo>
                    <a:pt x="0" y="0"/>
                  </a:moveTo>
                  <a:lnTo>
                    <a:pt x="5541264" y="0"/>
                  </a:lnTo>
                  <a:lnTo>
                    <a:pt x="5541264" y="676656"/>
                  </a:lnTo>
                  <a:lnTo>
                    <a:pt x="0" y="676656"/>
                  </a:lnTo>
                  <a:close/>
                </a:path>
              </a:pathLst>
            </a:custGeom>
            <a:blipFill>
              <a:blip r:embed="rId3">
                <a:alphaModFix amt="0"/>
              </a:blip>
              <a:stretch>
                <a:fillRect l="0" t="-109566" r="0" b="-109566"/>
              </a:stretch>
            </a:blipFill>
          </p:spPr>
        </p:sp>
        <p:sp>
          <p:nvSpPr>
            <p:cNvPr name="TextBox 29" id="29"/>
            <p:cNvSpPr txBox="true"/>
            <p:nvPr/>
          </p:nvSpPr>
          <p:spPr>
            <a:xfrm>
              <a:off x="0" y="-9525"/>
              <a:ext cx="5541264" cy="686181"/>
            </a:xfrm>
            <a:prstGeom prst="rect">
              <a:avLst/>
            </a:prstGeom>
          </p:spPr>
          <p:txBody>
            <a:bodyPr anchor="ctr" rtlCol="false" tIns="0" lIns="0" bIns="0" rIns="0"/>
            <a:lstStyle/>
            <a:p>
              <a:pPr algn="l">
                <a:lnSpc>
                  <a:spcPts val="2970"/>
                </a:lnSpc>
              </a:pPr>
              <a:r>
                <a:rPr lang="en-US" sz="2475" b="true">
                  <a:solidFill>
                    <a:srgbClr val="12304C"/>
                  </a:solidFill>
                  <a:latin typeface="Arial Bold"/>
                  <a:ea typeface="Arial Bold"/>
                  <a:cs typeface="Arial Bold"/>
                  <a:sym typeface="Arial Bold"/>
                </a:rPr>
                <a:t>Basic processes</a:t>
              </a:r>
            </a:p>
          </p:txBody>
        </p:sp>
      </p:grpSp>
      <p:grpSp>
        <p:nvGrpSpPr>
          <p:cNvPr name="Group 30" id="30"/>
          <p:cNvGrpSpPr/>
          <p:nvPr/>
        </p:nvGrpSpPr>
        <p:grpSpPr>
          <a:xfrm rot="0">
            <a:off x="1714500" y="4073652"/>
            <a:ext cx="4197096" cy="726948"/>
            <a:chOff x="0" y="0"/>
            <a:chExt cx="5596128" cy="969264"/>
          </a:xfrm>
        </p:grpSpPr>
        <p:sp>
          <p:nvSpPr>
            <p:cNvPr name="Freeform 31" id="31"/>
            <p:cNvSpPr/>
            <p:nvPr/>
          </p:nvSpPr>
          <p:spPr>
            <a:xfrm flipH="false" flipV="false" rot="0">
              <a:off x="0" y="0"/>
              <a:ext cx="5596128" cy="969264"/>
            </a:xfrm>
            <a:custGeom>
              <a:avLst/>
              <a:gdLst/>
              <a:ahLst/>
              <a:cxnLst/>
              <a:rect r="r" b="b" t="t" l="l"/>
              <a:pathLst>
                <a:path h="969264" w="5596128">
                  <a:moveTo>
                    <a:pt x="0" y="0"/>
                  </a:moveTo>
                  <a:lnTo>
                    <a:pt x="5596128" y="0"/>
                  </a:lnTo>
                  <a:lnTo>
                    <a:pt x="5596128" y="969264"/>
                  </a:lnTo>
                  <a:lnTo>
                    <a:pt x="0" y="969264"/>
                  </a:lnTo>
                  <a:close/>
                </a:path>
              </a:pathLst>
            </a:custGeom>
            <a:blipFill>
              <a:blip r:embed="rId3">
                <a:alphaModFix amt="0"/>
              </a:blip>
              <a:stretch>
                <a:fillRect l="0" t="-62498" r="0" b="-62498"/>
              </a:stretch>
            </a:blipFill>
          </p:spPr>
        </p:sp>
        <p:sp>
          <p:nvSpPr>
            <p:cNvPr name="TextBox 32" id="32"/>
            <p:cNvSpPr txBox="true"/>
            <p:nvPr/>
          </p:nvSpPr>
          <p:spPr>
            <a:xfrm>
              <a:off x="0" y="-19050"/>
              <a:ext cx="5596128" cy="988314"/>
            </a:xfrm>
            <a:prstGeom prst="rect">
              <a:avLst/>
            </a:prstGeom>
          </p:spPr>
          <p:txBody>
            <a:bodyPr anchor="ctr" rtlCol="false" tIns="0" lIns="0" bIns="0" rIns="0"/>
            <a:lstStyle/>
            <a:p>
              <a:pPr algn="l">
                <a:lnSpc>
                  <a:spcPts val="2700"/>
                </a:lnSpc>
              </a:pPr>
              <a:r>
                <a:rPr lang="en-US" sz="2250" b="true">
                  <a:solidFill>
                    <a:srgbClr val="182D42"/>
                  </a:solidFill>
                  <a:latin typeface="Arial Bold"/>
                  <a:ea typeface="Arial Bold"/>
                  <a:cs typeface="Arial Bold"/>
                  <a:sym typeface="Arial Bold"/>
                </a:rPr>
                <a:t>Quy trình cơ bản</a:t>
              </a:r>
            </a:p>
          </p:txBody>
        </p:sp>
      </p:grpSp>
      <p:sp>
        <p:nvSpPr>
          <p:cNvPr name="TextBox 33" id="33"/>
          <p:cNvSpPr txBox="true"/>
          <p:nvPr/>
        </p:nvSpPr>
        <p:spPr>
          <a:xfrm rot="0">
            <a:off x="1728216" y="4881753"/>
            <a:ext cx="4142232" cy="2730627"/>
          </a:xfrm>
          <a:prstGeom prst="rect">
            <a:avLst/>
          </a:prstGeom>
        </p:spPr>
        <p:txBody>
          <a:bodyPr anchor="t" rtlCol="false" tIns="0" lIns="0" bIns="0" rIns="0">
            <a:spAutoFit/>
          </a:bodyPr>
          <a:lstStyle/>
          <a:p>
            <a:pPr algn="l">
              <a:lnSpc>
                <a:spcPts val="2250"/>
              </a:lnSpc>
            </a:pPr>
            <a:r>
              <a:rPr lang="en-US" sz="1875">
                <a:solidFill>
                  <a:srgbClr val="50677D"/>
                </a:solidFill>
                <a:latin typeface="Arial"/>
                <a:ea typeface="Arial"/>
                <a:cs typeface="Arial"/>
                <a:sym typeface="Arial"/>
              </a:rPr>
              <a:t>Những quy trình thiết yếu cần có trong chương trình bảo mật.</a:t>
            </a:r>
          </a:p>
        </p:txBody>
      </p:sp>
      <p:grpSp>
        <p:nvGrpSpPr>
          <p:cNvPr name="Group 34" id="34"/>
          <p:cNvGrpSpPr/>
          <p:nvPr/>
        </p:nvGrpSpPr>
        <p:grpSpPr>
          <a:xfrm rot="0">
            <a:off x="6562344" y="2790444"/>
            <a:ext cx="5172456" cy="5049012"/>
            <a:chOff x="0" y="0"/>
            <a:chExt cx="6896608" cy="6732016"/>
          </a:xfrm>
        </p:grpSpPr>
        <p:sp>
          <p:nvSpPr>
            <p:cNvPr name="Freeform 35" id="35"/>
            <p:cNvSpPr/>
            <p:nvPr/>
          </p:nvSpPr>
          <p:spPr>
            <a:xfrm flipH="false" flipV="false" rot="0">
              <a:off x="0" y="0"/>
              <a:ext cx="6896608" cy="6732016"/>
            </a:xfrm>
            <a:custGeom>
              <a:avLst/>
              <a:gdLst/>
              <a:ahLst/>
              <a:cxnLst/>
              <a:rect r="r" b="b" t="t" l="l"/>
              <a:pathLst>
                <a:path h="6732016" w="6896608">
                  <a:moveTo>
                    <a:pt x="0" y="220091"/>
                  </a:moveTo>
                  <a:cubicBezTo>
                    <a:pt x="0" y="98552"/>
                    <a:pt x="98552" y="0"/>
                    <a:pt x="220091" y="0"/>
                  </a:cubicBezTo>
                  <a:lnTo>
                    <a:pt x="6676517" y="0"/>
                  </a:lnTo>
                  <a:cubicBezTo>
                    <a:pt x="6798056" y="0"/>
                    <a:pt x="6896608" y="98552"/>
                    <a:pt x="6896608" y="220091"/>
                  </a:cubicBezTo>
                  <a:lnTo>
                    <a:pt x="6896608" y="6511925"/>
                  </a:lnTo>
                  <a:cubicBezTo>
                    <a:pt x="6896608" y="6633464"/>
                    <a:pt x="6798056" y="6732016"/>
                    <a:pt x="6676517" y="6732016"/>
                  </a:cubicBezTo>
                  <a:lnTo>
                    <a:pt x="220091" y="6732016"/>
                  </a:lnTo>
                  <a:cubicBezTo>
                    <a:pt x="98552" y="6732016"/>
                    <a:pt x="0" y="6633464"/>
                    <a:pt x="0" y="6511925"/>
                  </a:cubicBezTo>
                  <a:close/>
                </a:path>
              </a:pathLst>
            </a:custGeom>
            <a:solidFill>
              <a:srgbClr val="FFFFFF"/>
            </a:solidFill>
            <a:ln w="15240" cap="sq">
              <a:solidFill>
                <a:srgbClr val="DEE7EE"/>
              </a:solidFill>
              <a:prstDash val="solid"/>
              <a:miter/>
            </a:ln>
          </p:spPr>
        </p:sp>
      </p:grpSp>
      <p:grpSp>
        <p:nvGrpSpPr>
          <p:cNvPr name="Group 36" id="36"/>
          <p:cNvGrpSpPr/>
          <p:nvPr/>
        </p:nvGrpSpPr>
        <p:grpSpPr>
          <a:xfrm rot="0">
            <a:off x="6807327" y="3117723"/>
            <a:ext cx="115062" cy="4394454"/>
            <a:chOff x="0" y="0"/>
            <a:chExt cx="153416" cy="5859272"/>
          </a:xfrm>
        </p:grpSpPr>
        <p:sp>
          <p:nvSpPr>
            <p:cNvPr name="Freeform 37" id="37"/>
            <p:cNvSpPr/>
            <p:nvPr/>
          </p:nvSpPr>
          <p:spPr>
            <a:xfrm flipH="false" flipV="false" rot="0">
              <a:off x="0" y="0"/>
              <a:ext cx="153416" cy="5859272"/>
            </a:xfrm>
            <a:custGeom>
              <a:avLst/>
              <a:gdLst/>
              <a:ahLst/>
              <a:cxnLst/>
              <a:rect r="r" b="b" t="t" l="l"/>
              <a:pathLst>
                <a:path h="5859272" w="153416">
                  <a:moveTo>
                    <a:pt x="0" y="0"/>
                  </a:moveTo>
                  <a:lnTo>
                    <a:pt x="153416" y="0"/>
                  </a:lnTo>
                  <a:lnTo>
                    <a:pt x="153416" y="5859272"/>
                  </a:lnTo>
                  <a:lnTo>
                    <a:pt x="0" y="5859272"/>
                  </a:lnTo>
                  <a:close/>
                </a:path>
              </a:pathLst>
            </a:custGeom>
            <a:solidFill>
              <a:srgbClr val="1C6183"/>
            </a:solidFill>
          </p:spPr>
        </p:sp>
      </p:grpSp>
      <p:grpSp>
        <p:nvGrpSpPr>
          <p:cNvPr name="Group 38" id="38"/>
          <p:cNvGrpSpPr/>
          <p:nvPr/>
        </p:nvGrpSpPr>
        <p:grpSpPr>
          <a:xfrm rot="0">
            <a:off x="7159752" y="3044952"/>
            <a:ext cx="4197096" cy="342900"/>
            <a:chOff x="0" y="0"/>
            <a:chExt cx="5596128" cy="457200"/>
          </a:xfrm>
        </p:grpSpPr>
        <p:sp>
          <p:nvSpPr>
            <p:cNvPr name="Freeform 39" id="39"/>
            <p:cNvSpPr/>
            <p:nvPr/>
          </p:nvSpPr>
          <p:spPr>
            <a:xfrm flipH="false" flipV="false" rot="0">
              <a:off x="0" y="0"/>
              <a:ext cx="5596128" cy="457200"/>
            </a:xfrm>
            <a:custGeom>
              <a:avLst/>
              <a:gdLst/>
              <a:ahLst/>
              <a:cxnLst/>
              <a:rect r="r" b="b" t="t" l="l"/>
              <a:pathLst>
                <a:path h="457200" w="5596128">
                  <a:moveTo>
                    <a:pt x="0" y="0"/>
                  </a:moveTo>
                  <a:lnTo>
                    <a:pt x="5596128" y="0"/>
                  </a:lnTo>
                  <a:lnTo>
                    <a:pt x="5596128" y="457200"/>
                  </a:lnTo>
                  <a:lnTo>
                    <a:pt x="0" y="457200"/>
                  </a:lnTo>
                  <a:close/>
                </a:path>
              </a:pathLst>
            </a:custGeom>
            <a:blipFill>
              <a:blip r:embed="rId3">
                <a:alphaModFix amt="0"/>
              </a:blip>
              <a:stretch>
                <a:fillRect l="0" t="-188496" r="0" b="-188496"/>
              </a:stretch>
            </a:blipFill>
          </p:spPr>
        </p:sp>
        <p:sp>
          <p:nvSpPr>
            <p:cNvPr name="TextBox 40" id="40"/>
            <p:cNvSpPr txBox="true"/>
            <p:nvPr/>
          </p:nvSpPr>
          <p:spPr>
            <a:xfrm>
              <a:off x="0" y="-19050"/>
              <a:ext cx="5596128" cy="476250"/>
            </a:xfrm>
            <a:prstGeom prst="rect">
              <a:avLst/>
            </a:prstGeom>
          </p:spPr>
          <p:txBody>
            <a:bodyPr anchor="ctr" rtlCol="false" tIns="0" lIns="0" bIns="0" rIns="0"/>
            <a:lstStyle/>
            <a:p>
              <a:pPr algn="l">
                <a:lnSpc>
                  <a:spcPts val="1817"/>
                </a:lnSpc>
              </a:pPr>
              <a:r>
                <a:rPr lang="en-US" sz="1514" b="true">
                  <a:solidFill>
                    <a:srgbClr val="1C6183"/>
                  </a:solidFill>
                  <a:latin typeface="Arial Bold"/>
                  <a:ea typeface="Arial Bold"/>
                  <a:cs typeface="Arial Bold"/>
                  <a:sym typeface="Arial Bold"/>
                </a:rPr>
                <a:t>RISK-INFORMED</a:t>
              </a:r>
            </a:p>
          </p:txBody>
        </p:sp>
      </p:grpSp>
      <p:grpSp>
        <p:nvGrpSpPr>
          <p:cNvPr name="Group 41" id="41"/>
          <p:cNvGrpSpPr/>
          <p:nvPr/>
        </p:nvGrpSpPr>
        <p:grpSpPr>
          <a:xfrm rot="0">
            <a:off x="7159752" y="3511296"/>
            <a:ext cx="4155948" cy="507492"/>
            <a:chOff x="0" y="0"/>
            <a:chExt cx="5541264" cy="676656"/>
          </a:xfrm>
        </p:grpSpPr>
        <p:sp>
          <p:nvSpPr>
            <p:cNvPr name="Freeform 42" id="42"/>
            <p:cNvSpPr/>
            <p:nvPr/>
          </p:nvSpPr>
          <p:spPr>
            <a:xfrm flipH="false" flipV="false" rot="0">
              <a:off x="0" y="0"/>
              <a:ext cx="5541264" cy="676656"/>
            </a:xfrm>
            <a:custGeom>
              <a:avLst/>
              <a:gdLst/>
              <a:ahLst/>
              <a:cxnLst/>
              <a:rect r="r" b="b" t="t" l="l"/>
              <a:pathLst>
                <a:path h="676656" w="5541264">
                  <a:moveTo>
                    <a:pt x="0" y="0"/>
                  </a:moveTo>
                  <a:lnTo>
                    <a:pt x="5541264" y="0"/>
                  </a:lnTo>
                  <a:lnTo>
                    <a:pt x="5541264" y="676656"/>
                  </a:lnTo>
                  <a:lnTo>
                    <a:pt x="0" y="676656"/>
                  </a:lnTo>
                  <a:close/>
                </a:path>
              </a:pathLst>
            </a:custGeom>
            <a:blipFill>
              <a:blip r:embed="rId3">
                <a:alphaModFix amt="0"/>
              </a:blip>
              <a:stretch>
                <a:fillRect l="0" t="-109566" r="0" b="-109566"/>
              </a:stretch>
            </a:blipFill>
          </p:spPr>
        </p:sp>
        <p:sp>
          <p:nvSpPr>
            <p:cNvPr name="TextBox 43" id="43"/>
            <p:cNvSpPr txBox="true"/>
            <p:nvPr/>
          </p:nvSpPr>
          <p:spPr>
            <a:xfrm>
              <a:off x="0" y="-9525"/>
              <a:ext cx="5541264" cy="686181"/>
            </a:xfrm>
            <a:prstGeom prst="rect">
              <a:avLst/>
            </a:prstGeom>
          </p:spPr>
          <p:txBody>
            <a:bodyPr anchor="ctr" rtlCol="false" tIns="0" lIns="0" bIns="0" rIns="0"/>
            <a:lstStyle/>
            <a:p>
              <a:pPr algn="l">
                <a:lnSpc>
                  <a:spcPts val="2970"/>
                </a:lnSpc>
              </a:pPr>
              <a:r>
                <a:rPr lang="en-US" sz="2475" b="true">
                  <a:solidFill>
                    <a:srgbClr val="12304C"/>
                  </a:solidFill>
                  <a:latin typeface="Arial Bold"/>
                  <a:ea typeface="Arial Bold"/>
                  <a:cs typeface="Arial Bold"/>
                  <a:sym typeface="Arial Bold"/>
                </a:rPr>
                <a:t>Risk-based processes</a:t>
              </a:r>
            </a:p>
          </p:txBody>
        </p:sp>
      </p:grpSp>
      <p:grpSp>
        <p:nvGrpSpPr>
          <p:cNvPr name="Group 44" id="44"/>
          <p:cNvGrpSpPr/>
          <p:nvPr/>
        </p:nvGrpSpPr>
        <p:grpSpPr>
          <a:xfrm rot="0">
            <a:off x="7159752" y="4073652"/>
            <a:ext cx="4197096" cy="726948"/>
            <a:chOff x="0" y="0"/>
            <a:chExt cx="5596128" cy="969264"/>
          </a:xfrm>
        </p:grpSpPr>
        <p:sp>
          <p:nvSpPr>
            <p:cNvPr name="Freeform 45" id="45"/>
            <p:cNvSpPr/>
            <p:nvPr/>
          </p:nvSpPr>
          <p:spPr>
            <a:xfrm flipH="false" flipV="false" rot="0">
              <a:off x="0" y="0"/>
              <a:ext cx="5596128" cy="969264"/>
            </a:xfrm>
            <a:custGeom>
              <a:avLst/>
              <a:gdLst/>
              <a:ahLst/>
              <a:cxnLst/>
              <a:rect r="r" b="b" t="t" l="l"/>
              <a:pathLst>
                <a:path h="969264" w="5596128">
                  <a:moveTo>
                    <a:pt x="0" y="0"/>
                  </a:moveTo>
                  <a:lnTo>
                    <a:pt x="5596128" y="0"/>
                  </a:lnTo>
                  <a:lnTo>
                    <a:pt x="5596128" y="969264"/>
                  </a:lnTo>
                  <a:lnTo>
                    <a:pt x="0" y="969264"/>
                  </a:lnTo>
                  <a:close/>
                </a:path>
              </a:pathLst>
            </a:custGeom>
            <a:blipFill>
              <a:blip r:embed="rId3">
                <a:alphaModFix amt="0"/>
              </a:blip>
              <a:stretch>
                <a:fillRect l="0" t="-62498" r="0" b="-62498"/>
              </a:stretch>
            </a:blipFill>
          </p:spPr>
        </p:sp>
        <p:sp>
          <p:nvSpPr>
            <p:cNvPr name="TextBox 46" id="46"/>
            <p:cNvSpPr txBox="true"/>
            <p:nvPr/>
          </p:nvSpPr>
          <p:spPr>
            <a:xfrm>
              <a:off x="0" y="-19050"/>
              <a:ext cx="5596128" cy="988314"/>
            </a:xfrm>
            <a:prstGeom prst="rect">
              <a:avLst/>
            </a:prstGeom>
          </p:spPr>
          <p:txBody>
            <a:bodyPr anchor="ctr" rtlCol="false" tIns="0" lIns="0" bIns="0" rIns="0"/>
            <a:lstStyle/>
            <a:p>
              <a:pPr algn="l">
                <a:lnSpc>
                  <a:spcPts val="2700"/>
                </a:lnSpc>
              </a:pPr>
              <a:r>
                <a:rPr lang="en-US" sz="2250" b="true">
                  <a:solidFill>
                    <a:srgbClr val="182D42"/>
                  </a:solidFill>
                  <a:latin typeface="Arial Bold"/>
                  <a:ea typeface="Arial Bold"/>
                  <a:cs typeface="Arial Bold"/>
                  <a:sym typeface="Arial Bold"/>
                </a:rPr>
                <a:t>Quy trình theo rủi ro</a:t>
              </a:r>
            </a:p>
          </p:txBody>
        </p:sp>
      </p:grpSp>
      <p:sp>
        <p:nvSpPr>
          <p:cNvPr name="TextBox 47" id="47"/>
          <p:cNvSpPr txBox="true"/>
          <p:nvPr/>
        </p:nvSpPr>
        <p:spPr>
          <a:xfrm rot="0">
            <a:off x="7173468" y="4881753"/>
            <a:ext cx="4142232" cy="2730627"/>
          </a:xfrm>
          <a:prstGeom prst="rect">
            <a:avLst/>
          </a:prstGeom>
        </p:spPr>
        <p:txBody>
          <a:bodyPr anchor="t" rtlCol="false" tIns="0" lIns="0" bIns="0" rIns="0">
            <a:spAutoFit/>
          </a:bodyPr>
          <a:lstStyle/>
          <a:p>
            <a:pPr algn="l">
              <a:lnSpc>
                <a:spcPts val="2250"/>
              </a:lnSpc>
            </a:pPr>
            <a:r>
              <a:rPr lang="en-US" sz="1875">
                <a:solidFill>
                  <a:srgbClr val="50677D"/>
                </a:solidFill>
                <a:latin typeface="Arial"/>
                <a:ea typeface="Arial"/>
                <a:cs typeface="Arial"/>
                <a:sym typeface="Arial"/>
              </a:rPr>
              <a:t>Thực hiện theo mức rủi ro đã xác định của tổ chức.</a:t>
            </a:r>
          </a:p>
        </p:txBody>
      </p:sp>
      <p:grpSp>
        <p:nvGrpSpPr>
          <p:cNvPr name="Group 48" id="48"/>
          <p:cNvGrpSpPr/>
          <p:nvPr/>
        </p:nvGrpSpPr>
        <p:grpSpPr>
          <a:xfrm rot="0">
            <a:off x="12021312" y="2790444"/>
            <a:ext cx="5172456" cy="5049012"/>
            <a:chOff x="0" y="0"/>
            <a:chExt cx="6896608" cy="6732016"/>
          </a:xfrm>
        </p:grpSpPr>
        <p:sp>
          <p:nvSpPr>
            <p:cNvPr name="Freeform 49" id="49"/>
            <p:cNvSpPr/>
            <p:nvPr/>
          </p:nvSpPr>
          <p:spPr>
            <a:xfrm flipH="false" flipV="false" rot="0">
              <a:off x="0" y="0"/>
              <a:ext cx="6896608" cy="6732016"/>
            </a:xfrm>
            <a:custGeom>
              <a:avLst/>
              <a:gdLst/>
              <a:ahLst/>
              <a:cxnLst/>
              <a:rect r="r" b="b" t="t" l="l"/>
              <a:pathLst>
                <a:path h="6732016" w="6896608">
                  <a:moveTo>
                    <a:pt x="0" y="220091"/>
                  </a:moveTo>
                  <a:cubicBezTo>
                    <a:pt x="0" y="98552"/>
                    <a:pt x="98552" y="0"/>
                    <a:pt x="220091" y="0"/>
                  </a:cubicBezTo>
                  <a:lnTo>
                    <a:pt x="6676517" y="0"/>
                  </a:lnTo>
                  <a:cubicBezTo>
                    <a:pt x="6798056" y="0"/>
                    <a:pt x="6896608" y="98552"/>
                    <a:pt x="6896608" y="220091"/>
                  </a:cubicBezTo>
                  <a:lnTo>
                    <a:pt x="6896608" y="6511925"/>
                  </a:lnTo>
                  <a:cubicBezTo>
                    <a:pt x="6896608" y="6633464"/>
                    <a:pt x="6798056" y="6732016"/>
                    <a:pt x="6676517" y="6732016"/>
                  </a:cubicBezTo>
                  <a:lnTo>
                    <a:pt x="220091" y="6732016"/>
                  </a:lnTo>
                  <a:cubicBezTo>
                    <a:pt x="98552" y="6732016"/>
                    <a:pt x="0" y="6633464"/>
                    <a:pt x="0" y="6511925"/>
                  </a:cubicBezTo>
                  <a:close/>
                </a:path>
              </a:pathLst>
            </a:custGeom>
            <a:solidFill>
              <a:srgbClr val="FFFFFF"/>
            </a:solidFill>
            <a:ln w="15240" cap="sq">
              <a:solidFill>
                <a:srgbClr val="DEE7EE"/>
              </a:solidFill>
              <a:prstDash val="solid"/>
              <a:miter/>
            </a:ln>
          </p:spPr>
        </p:sp>
      </p:grpSp>
      <p:grpSp>
        <p:nvGrpSpPr>
          <p:cNvPr name="Group 50" id="50"/>
          <p:cNvGrpSpPr/>
          <p:nvPr/>
        </p:nvGrpSpPr>
        <p:grpSpPr>
          <a:xfrm rot="0">
            <a:off x="12266295" y="3117723"/>
            <a:ext cx="115062" cy="4394454"/>
            <a:chOff x="0" y="0"/>
            <a:chExt cx="153416" cy="5859272"/>
          </a:xfrm>
        </p:grpSpPr>
        <p:sp>
          <p:nvSpPr>
            <p:cNvPr name="Freeform 51" id="51"/>
            <p:cNvSpPr/>
            <p:nvPr/>
          </p:nvSpPr>
          <p:spPr>
            <a:xfrm flipH="false" flipV="false" rot="0">
              <a:off x="0" y="0"/>
              <a:ext cx="153416" cy="5859272"/>
            </a:xfrm>
            <a:custGeom>
              <a:avLst/>
              <a:gdLst/>
              <a:ahLst/>
              <a:cxnLst/>
              <a:rect r="r" b="b" t="t" l="l"/>
              <a:pathLst>
                <a:path h="5859272" w="153416">
                  <a:moveTo>
                    <a:pt x="0" y="0"/>
                  </a:moveTo>
                  <a:lnTo>
                    <a:pt x="153416" y="0"/>
                  </a:lnTo>
                  <a:lnTo>
                    <a:pt x="153416" y="5859272"/>
                  </a:lnTo>
                  <a:lnTo>
                    <a:pt x="0" y="5859272"/>
                  </a:lnTo>
                  <a:close/>
                </a:path>
              </a:pathLst>
            </a:custGeom>
            <a:solidFill>
              <a:srgbClr val="BD7B3C"/>
            </a:solidFill>
          </p:spPr>
        </p:sp>
      </p:grpSp>
      <p:grpSp>
        <p:nvGrpSpPr>
          <p:cNvPr name="Group 52" id="52"/>
          <p:cNvGrpSpPr/>
          <p:nvPr/>
        </p:nvGrpSpPr>
        <p:grpSpPr>
          <a:xfrm rot="0">
            <a:off x="12618720" y="3044952"/>
            <a:ext cx="4197096" cy="342900"/>
            <a:chOff x="0" y="0"/>
            <a:chExt cx="5596128" cy="457200"/>
          </a:xfrm>
        </p:grpSpPr>
        <p:sp>
          <p:nvSpPr>
            <p:cNvPr name="Freeform 53" id="53"/>
            <p:cNvSpPr/>
            <p:nvPr/>
          </p:nvSpPr>
          <p:spPr>
            <a:xfrm flipH="false" flipV="false" rot="0">
              <a:off x="0" y="0"/>
              <a:ext cx="5596128" cy="457200"/>
            </a:xfrm>
            <a:custGeom>
              <a:avLst/>
              <a:gdLst/>
              <a:ahLst/>
              <a:cxnLst/>
              <a:rect r="r" b="b" t="t" l="l"/>
              <a:pathLst>
                <a:path h="457200" w="5596128">
                  <a:moveTo>
                    <a:pt x="0" y="0"/>
                  </a:moveTo>
                  <a:lnTo>
                    <a:pt x="5596128" y="0"/>
                  </a:lnTo>
                  <a:lnTo>
                    <a:pt x="5596128" y="457200"/>
                  </a:lnTo>
                  <a:lnTo>
                    <a:pt x="0" y="457200"/>
                  </a:lnTo>
                  <a:close/>
                </a:path>
              </a:pathLst>
            </a:custGeom>
            <a:blipFill>
              <a:blip r:embed="rId3">
                <a:alphaModFix amt="0"/>
              </a:blip>
              <a:stretch>
                <a:fillRect l="0" t="-188496" r="0" b="-188496"/>
              </a:stretch>
            </a:blipFill>
          </p:spPr>
        </p:sp>
        <p:sp>
          <p:nvSpPr>
            <p:cNvPr name="TextBox 54" id="54"/>
            <p:cNvSpPr txBox="true"/>
            <p:nvPr/>
          </p:nvSpPr>
          <p:spPr>
            <a:xfrm>
              <a:off x="0" y="-19050"/>
              <a:ext cx="5596128" cy="476250"/>
            </a:xfrm>
            <a:prstGeom prst="rect">
              <a:avLst/>
            </a:prstGeom>
          </p:spPr>
          <p:txBody>
            <a:bodyPr anchor="ctr" rtlCol="false" tIns="0" lIns="0" bIns="0" rIns="0"/>
            <a:lstStyle/>
            <a:p>
              <a:pPr algn="l">
                <a:lnSpc>
                  <a:spcPts val="1817"/>
                </a:lnSpc>
              </a:pPr>
              <a:r>
                <a:rPr lang="en-US" sz="1514" b="true">
                  <a:solidFill>
                    <a:srgbClr val="BD7B3C"/>
                  </a:solidFill>
                  <a:latin typeface="Arial Bold"/>
                  <a:ea typeface="Arial Bold"/>
                  <a:cs typeface="Arial Bold"/>
                  <a:sym typeface="Arial Bold"/>
                </a:rPr>
                <a:t>ENHANCED</a:t>
              </a:r>
            </a:p>
          </p:txBody>
        </p:sp>
      </p:grpSp>
      <p:grpSp>
        <p:nvGrpSpPr>
          <p:cNvPr name="Group 55" id="55"/>
          <p:cNvGrpSpPr/>
          <p:nvPr/>
        </p:nvGrpSpPr>
        <p:grpSpPr>
          <a:xfrm rot="0">
            <a:off x="12618720" y="3511296"/>
            <a:ext cx="4155948" cy="507492"/>
            <a:chOff x="0" y="0"/>
            <a:chExt cx="5541264" cy="676656"/>
          </a:xfrm>
        </p:grpSpPr>
        <p:sp>
          <p:nvSpPr>
            <p:cNvPr name="Freeform 56" id="56"/>
            <p:cNvSpPr/>
            <p:nvPr/>
          </p:nvSpPr>
          <p:spPr>
            <a:xfrm flipH="false" flipV="false" rot="0">
              <a:off x="0" y="0"/>
              <a:ext cx="5541264" cy="676656"/>
            </a:xfrm>
            <a:custGeom>
              <a:avLst/>
              <a:gdLst/>
              <a:ahLst/>
              <a:cxnLst/>
              <a:rect r="r" b="b" t="t" l="l"/>
              <a:pathLst>
                <a:path h="676656" w="5541264">
                  <a:moveTo>
                    <a:pt x="0" y="0"/>
                  </a:moveTo>
                  <a:lnTo>
                    <a:pt x="5541264" y="0"/>
                  </a:lnTo>
                  <a:lnTo>
                    <a:pt x="5541264" y="676656"/>
                  </a:lnTo>
                  <a:lnTo>
                    <a:pt x="0" y="676656"/>
                  </a:lnTo>
                  <a:close/>
                </a:path>
              </a:pathLst>
            </a:custGeom>
            <a:blipFill>
              <a:blip r:embed="rId3">
                <a:alphaModFix amt="0"/>
              </a:blip>
              <a:stretch>
                <a:fillRect l="0" t="-109566" r="0" b="-109566"/>
              </a:stretch>
            </a:blipFill>
          </p:spPr>
        </p:sp>
        <p:sp>
          <p:nvSpPr>
            <p:cNvPr name="TextBox 57" id="57"/>
            <p:cNvSpPr txBox="true"/>
            <p:nvPr/>
          </p:nvSpPr>
          <p:spPr>
            <a:xfrm>
              <a:off x="0" y="-9525"/>
              <a:ext cx="5541264" cy="686181"/>
            </a:xfrm>
            <a:prstGeom prst="rect">
              <a:avLst/>
            </a:prstGeom>
          </p:spPr>
          <p:txBody>
            <a:bodyPr anchor="ctr" rtlCol="false" tIns="0" lIns="0" bIns="0" rIns="0"/>
            <a:lstStyle/>
            <a:p>
              <a:pPr algn="l">
                <a:lnSpc>
                  <a:spcPts val="2970"/>
                </a:lnSpc>
              </a:pPr>
              <a:r>
                <a:rPr lang="en-US" sz="2475" b="true">
                  <a:solidFill>
                    <a:srgbClr val="12304C"/>
                  </a:solidFill>
                  <a:latin typeface="Arial Bold"/>
                  <a:ea typeface="Arial Bold"/>
                  <a:cs typeface="Arial Bold"/>
                  <a:sym typeface="Arial Bold"/>
                </a:rPr>
                <a:t>Advanced processes</a:t>
              </a:r>
            </a:p>
          </p:txBody>
        </p:sp>
      </p:grpSp>
      <p:grpSp>
        <p:nvGrpSpPr>
          <p:cNvPr name="Group 58" id="58"/>
          <p:cNvGrpSpPr/>
          <p:nvPr/>
        </p:nvGrpSpPr>
        <p:grpSpPr>
          <a:xfrm rot="0">
            <a:off x="12618720" y="4073652"/>
            <a:ext cx="4197096" cy="726948"/>
            <a:chOff x="0" y="0"/>
            <a:chExt cx="5596128" cy="969264"/>
          </a:xfrm>
        </p:grpSpPr>
        <p:sp>
          <p:nvSpPr>
            <p:cNvPr name="Freeform 59" id="59"/>
            <p:cNvSpPr/>
            <p:nvPr/>
          </p:nvSpPr>
          <p:spPr>
            <a:xfrm flipH="false" flipV="false" rot="0">
              <a:off x="0" y="0"/>
              <a:ext cx="5596128" cy="969264"/>
            </a:xfrm>
            <a:custGeom>
              <a:avLst/>
              <a:gdLst/>
              <a:ahLst/>
              <a:cxnLst/>
              <a:rect r="r" b="b" t="t" l="l"/>
              <a:pathLst>
                <a:path h="969264" w="5596128">
                  <a:moveTo>
                    <a:pt x="0" y="0"/>
                  </a:moveTo>
                  <a:lnTo>
                    <a:pt x="5596128" y="0"/>
                  </a:lnTo>
                  <a:lnTo>
                    <a:pt x="5596128" y="969264"/>
                  </a:lnTo>
                  <a:lnTo>
                    <a:pt x="0" y="969264"/>
                  </a:lnTo>
                  <a:close/>
                </a:path>
              </a:pathLst>
            </a:custGeom>
            <a:blipFill>
              <a:blip r:embed="rId3">
                <a:alphaModFix amt="0"/>
              </a:blip>
              <a:stretch>
                <a:fillRect l="0" t="-62498" r="0" b="-62498"/>
              </a:stretch>
            </a:blipFill>
          </p:spPr>
        </p:sp>
        <p:sp>
          <p:nvSpPr>
            <p:cNvPr name="TextBox 60" id="60"/>
            <p:cNvSpPr txBox="true"/>
            <p:nvPr/>
          </p:nvSpPr>
          <p:spPr>
            <a:xfrm>
              <a:off x="0" y="-19050"/>
              <a:ext cx="5596128" cy="988314"/>
            </a:xfrm>
            <a:prstGeom prst="rect">
              <a:avLst/>
            </a:prstGeom>
          </p:spPr>
          <p:txBody>
            <a:bodyPr anchor="ctr" rtlCol="false" tIns="0" lIns="0" bIns="0" rIns="0"/>
            <a:lstStyle/>
            <a:p>
              <a:pPr algn="l">
                <a:lnSpc>
                  <a:spcPts val="2700"/>
                </a:lnSpc>
              </a:pPr>
              <a:r>
                <a:rPr lang="en-US" sz="2250" b="true">
                  <a:solidFill>
                    <a:srgbClr val="182D42"/>
                  </a:solidFill>
                  <a:latin typeface="Arial Bold"/>
                  <a:ea typeface="Arial Bold"/>
                  <a:cs typeface="Arial Bold"/>
                  <a:sym typeface="Arial Bold"/>
                </a:rPr>
                <a:t>Quy trình nâng cao</a:t>
              </a:r>
            </a:p>
          </p:txBody>
        </p:sp>
      </p:grpSp>
      <p:sp>
        <p:nvSpPr>
          <p:cNvPr name="TextBox 61" id="61"/>
          <p:cNvSpPr txBox="true"/>
          <p:nvPr/>
        </p:nvSpPr>
        <p:spPr>
          <a:xfrm rot="0">
            <a:off x="12632436" y="4881753"/>
            <a:ext cx="4142232" cy="2730627"/>
          </a:xfrm>
          <a:prstGeom prst="rect">
            <a:avLst/>
          </a:prstGeom>
        </p:spPr>
        <p:txBody>
          <a:bodyPr anchor="t" rtlCol="false" tIns="0" lIns="0" bIns="0" rIns="0">
            <a:spAutoFit/>
          </a:bodyPr>
          <a:lstStyle/>
          <a:p>
            <a:pPr algn="l">
              <a:lnSpc>
                <a:spcPts val="2250"/>
              </a:lnSpc>
            </a:pPr>
            <a:r>
              <a:rPr lang="en-US" sz="1875">
                <a:solidFill>
                  <a:srgbClr val="50677D"/>
                </a:solidFill>
                <a:latin typeface="Arial"/>
                <a:ea typeface="Arial"/>
                <a:cs typeface="Arial"/>
                <a:sym typeface="Arial"/>
              </a:rPr>
              <a:t>Tăng bảo vệ trước các mối đe dọa tiên tiến, tùy năng lực tổ chức.</a:t>
            </a:r>
          </a:p>
        </p:txBody>
      </p:sp>
      <p:grpSp>
        <p:nvGrpSpPr>
          <p:cNvPr name="Group 62" id="62"/>
          <p:cNvGrpSpPr/>
          <p:nvPr/>
        </p:nvGrpSpPr>
        <p:grpSpPr>
          <a:xfrm rot="0">
            <a:off x="1254252" y="8235696"/>
            <a:ext cx="15829788" cy="687324"/>
            <a:chOff x="0" y="0"/>
            <a:chExt cx="21106384" cy="916432"/>
          </a:xfrm>
        </p:grpSpPr>
        <p:sp>
          <p:nvSpPr>
            <p:cNvPr name="Freeform 63" id="63"/>
            <p:cNvSpPr/>
            <p:nvPr/>
          </p:nvSpPr>
          <p:spPr>
            <a:xfrm flipH="false" flipV="false" rot="0">
              <a:off x="0" y="0"/>
              <a:ext cx="21106385" cy="916432"/>
            </a:xfrm>
            <a:custGeom>
              <a:avLst/>
              <a:gdLst/>
              <a:ahLst/>
              <a:cxnLst/>
              <a:rect r="r" b="b" t="t" l="l"/>
              <a:pathLst>
                <a:path h="916432" w="21106385">
                  <a:moveTo>
                    <a:pt x="0" y="224409"/>
                  </a:moveTo>
                  <a:cubicBezTo>
                    <a:pt x="0" y="100457"/>
                    <a:pt x="100457" y="0"/>
                    <a:pt x="224409" y="0"/>
                  </a:cubicBezTo>
                  <a:lnTo>
                    <a:pt x="20881975" y="0"/>
                  </a:lnTo>
                  <a:cubicBezTo>
                    <a:pt x="21005927" y="0"/>
                    <a:pt x="21106385" y="100457"/>
                    <a:pt x="21106385" y="224409"/>
                  </a:cubicBezTo>
                  <a:lnTo>
                    <a:pt x="21106385" y="692023"/>
                  </a:lnTo>
                  <a:cubicBezTo>
                    <a:pt x="21106385" y="815975"/>
                    <a:pt x="21005927" y="916432"/>
                    <a:pt x="20881975" y="916432"/>
                  </a:cubicBezTo>
                  <a:lnTo>
                    <a:pt x="224409" y="916432"/>
                  </a:lnTo>
                  <a:cubicBezTo>
                    <a:pt x="100457" y="916432"/>
                    <a:pt x="0" y="815975"/>
                    <a:pt x="0" y="692023"/>
                  </a:cubicBezTo>
                  <a:close/>
                </a:path>
              </a:pathLst>
            </a:custGeom>
            <a:solidFill>
              <a:srgbClr val="FDF1E5"/>
            </a:solidFill>
            <a:ln w="15240" cap="sq">
              <a:solidFill>
                <a:srgbClr val="FDF1E5"/>
              </a:solidFill>
              <a:prstDash val="solid"/>
              <a:miter/>
            </a:ln>
          </p:spPr>
        </p:sp>
      </p:grpSp>
      <p:grpSp>
        <p:nvGrpSpPr>
          <p:cNvPr name="Group 64" id="64"/>
          <p:cNvGrpSpPr/>
          <p:nvPr/>
        </p:nvGrpSpPr>
        <p:grpSpPr>
          <a:xfrm rot="0">
            <a:off x="1508760" y="8380476"/>
            <a:ext cx="15224760" cy="384048"/>
            <a:chOff x="0" y="0"/>
            <a:chExt cx="20299680" cy="512064"/>
          </a:xfrm>
        </p:grpSpPr>
        <p:sp>
          <p:nvSpPr>
            <p:cNvPr name="Freeform 65" id="65"/>
            <p:cNvSpPr/>
            <p:nvPr/>
          </p:nvSpPr>
          <p:spPr>
            <a:xfrm flipH="false" flipV="false" rot="0">
              <a:off x="0" y="0"/>
              <a:ext cx="20299680" cy="512064"/>
            </a:xfrm>
            <a:custGeom>
              <a:avLst/>
              <a:gdLst/>
              <a:ahLst/>
              <a:cxnLst/>
              <a:rect r="r" b="b" t="t" l="l"/>
              <a:pathLst>
                <a:path h="512064" w="20299680">
                  <a:moveTo>
                    <a:pt x="0" y="0"/>
                  </a:moveTo>
                  <a:lnTo>
                    <a:pt x="20299680" y="0"/>
                  </a:lnTo>
                  <a:lnTo>
                    <a:pt x="20299680" y="512064"/>
                  </a:lnTo>
                  <a:lnTo>
                    <a:pt x="0" y="512064"/>
                  </a:lnTo>
                  <a:close/>
                </a:path>
              </a:pathLst>
            </a:custGeom>
            <a:blipFill>
              <a:blip r:embed="rId3">
                <a:alphaModFix amt="0"/>
              </a:blip>
              <a:stretch>
                <a:fillRect l="0" t="-722442" r="0" b="-722442"/>
              </a:stretch>
            </a:blipFill>
          </p:spPr>
        </p:sp>
        <p:sp>
          <p:nvSpPr>
            <p:cNvPr name="TextBox 66" id="66"/>
            <p:cNvSpPr txBox="true"/>
            <p:nvPr/>
          </p:nvSpPr>
          <p:spPr>
            <a:xfrm>
              <a:off x="0" y="-9525"/>
              <a:ext cx="20299680" cy="521589"/>
            </a:xfrm>
            <a:prstGeom prst="rect">
              <a:avLst/>
            </a:prstGeom>
          </p:spPr>
          <p:txBody>
            <a:bodyPr anchor="ctr" rtlCol="false" tIns="0" lIns="0" bIns="0" rIns="0"/>
            <a:lstStyle/>
            <a:p>
              <a:pPr algn="ctr">
                <a:lnSpc>
                  <a:spcPts val="2285"/>
                </a:lnSpc>
              </a:pPr>
              <a:r>
                <a:rPr lang="en-US" sz="1904" b="true">
                  <a:solidFill>
                    <a:srgbClr val="BD7B3C"/>
                  </a:solidFill>
                  <a:latin typeface="Arial Bold"/>
                  <a:ea typeface="Arial Bold"/>
                  <a:cs typeface="Arial Bold"/>
                  <a:sym typeface="Arial Bold"/>
                </a:rPr>
                <a:t>Lưu ý: Baseline ở Bảng 3 KHÔNG phải thuật toán Baseline Python của bài thực hành DT015.</a:t>
              </a:r>
            </a:p>
          </p:txBody>
        </p:sp>
      </p:gr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5F8FB"/>
        </a:solidFill>
      </p:bgPr>
    </p:bg>
    <p:spTree>
      <p:nvGrpSpPr>
        <p:cNvPr id="1" name=""/>
        <p:cNvGrpSpPr/>
        <p:nvPr/>
      </p:nvGrpSpPr>
      <p:grpSpPr>
        <a:xfrm>
          <a:off x="0" y="0"/>
          <a:ext cx="0" cy="0"/>
          <a:chOff x="0" y="0"/>
          <a:chExt cx="0" cy="0"/>
        </a:xfrm>
      </p:grpSpPr>
      <p:grpSp>
        <p:nvGrpSpPr>
          <p:cNvPr name="Group 2" id="2"/>
          <p:cNvGrpSpPr/>
          <p:nvPr/>
        </p:nvGrpSpPr>
        <p:grpSpPr>
          <a:xfrm rot="0">
            <a:off x="-9525" y="-9525"/>
            <a:ext cx="163068" cy="10306050"/>
            <a:chOff x="0" y="0"/>
            <a:chExt cx="217424" cy="13741400"/>
          </a:xfrm>
        </p:grpSpPr>
        <p:sp>
          <p:nvSpPr>
            <p:cNvPr name="Freeform 3" id="3"/>
            <p:cNvSpPr/>
            <p:nvPr/>
          </p:nvSpPr>
          <p:spPr>
            <a:xfrm flipH="false" flipV="false" rot="0">
              <a:off x="0" y="0"/>
              <a:ext cx="217424" cy="13741400"/>
            </a:xfrm>
            <a:custGeom>
              <a:avLst/>
              <a:gdLst/>
              <a:ahLst/>
              <a:cxnLst/>
              <a:rect r="r" b="b" t="t" l="l"/>
              <a:pathLst>
                <a:path h="13741400" w="217424">
                  <a:moveTo>
                    <a:pt x="0" y="0"/>
                  </a:moveTo>
                  <a:lnTo>
                    <a:pt x="217424" y="0"/>
                  </a:lnTo>
                  <a:lnTo>
                    <a:pt x="217424" y="13741400"/>
                  </a:lnTo>
                  <a:lnTo>
                    <a:pt x="0" y="13741400"/>
                  </a:lnTo>
                  <a:close/>
                </a:path>
              </a:pathLst>
            </a:custGeom>
            <a:solidFill>
              <a:srgbClr val="137E82"/>
            </a:solidFill>
          </p:spPr>
        </p:sp>
      </p:grpSp>
      <p:grpSp>
        <p:nvGrpSpPr>
          <p:cNvPr name="Group 4" id="4"/>
          <p:cNvGrpSpPr/>
          <p:nvPr/>
        </p:nvGrpSpPr>
        <p:grpSpPr>
          <a:xfrm rot="0">
            <a:off x="987552" y="329184"/>
            <a:ext cx="15087600" cy="342900"/>
            <a:chOff x="0" y="0"/>
            <a:chExt cx="20116800" cy="457200"/>
          </a:xfrm>
        </p:grpSpPr>
        <p:sp>
          <p:nvSpPr>
            <p:cNvPr name="Freeform 5" id="5"/>
            <p:cNvSpPr/>
            <p:nvPr/>
          </p:nvSpPr>
          <p:spPr>
            <a:xfrm flipH="false" flipV="false" rot="0">
              <a:off x="0" y="0"/>
              <a:ext cx="20116800" cy="457200"/>
            </a:xfrm>
            <a:custGeom>
              <a:avLst/>
              <a:gdLst/>
              <a:ahLst/>
              <a:cxnLst/>
              <a:rect r="r" b="b" t="t" l="l"/>
              <a:pathLst>
                <a:path h="457200" w="20116800">
                  <a:moveTo>
                    <a:pt x="0" y="0"/>
                  </a:moveTo>
                  <a:lnTo>
                    <a:pt x="20116800" y="0"/>
                  </a:lnTo>
                  <a:lnTo>
                    <a:pt x="20116800" y="457200"/>
                  </a:lnTo>
                  <a:lnTo>
                    <a:pt x="0" y="457200"/>
                  </a:lnTo>
                  <a:close/>
                </a:path>
              </a:pathLst>
            </a:custGeom>
            <a:blipFill>
              <a:blip r:embed="rId3">
                <a:alphaModFix amt="0"/>
              </a:blip>
              <a:stretch>
                <a:fillRect l="0" t="-807341" r="0" b="-807341"/>
              </a:stretch>
            </a:blipFill>
          </p:spPr>
        </p:sp>
        <p:sp>
          <p:nvSpPr>
            <p:cNvPr name="TextBox 6" id="6"/>
            <p:cNvSpPr txBox="true"/>
            <p:nvPr/>
          </p:nvSpPr>
          <p:spPr>
            <a:xfrm>
              <a:off x="0" y="-9525"/>
              <a:ext cx="20116800" cy="466725"/>
            </a:xfrm>
            <a:prstGeom prst="rect">
              <a:avLst/>
            </a:prstGeom>
          </p:spPr>
          <p:txBody>
            <a:bodyPr anchor="ctr" rtlCol="false" tIns="0" lIns="0" bIns="0" rIns="0"/>
            <a:lstStyle/>
            <a:p>
              <a:pPr algn="l">
                <a:lnSpc>
                  <a:spcPts val="1745"/>
                </a:lnSpc>
              </a:pPr>
              <a:r>
                <a:rPr lang="en-US" b="true" sz="1455" spc="239">
                  <a:solidFill>
                    <a:srgbClr val="137E82"/>
                  </a:solidFill>
                  <a:latin typeface="Arial Bold"/>
                  <a:ea typeface="Arial Bold"/>
                  <a:cs typeface="Arial Bold"/>
                  <a:sym typeface="Arial Bold"/>
                </a:rPr>
                <a:t>TACTICAL / OPERATIONAL • APPENDIX B</a:t>
              </a:r>
            </a:p>
          </p:txBody>
        </p:sp>
      </p:grpSp>
      <p:grpSp>
        <p:nvGrpSpPr>
          <p:cNvPr name="Group 7" id="7"/>
          <p:cNvGrpSpPr/>
          <p:nvPr/>
        </p:nvGrpSpPr>
        <p:grpSpPr>
          <a:xfrm rot="0">
            <a:off x="987552" y="946404"/>
            <a:ext cx="16459200" cy="781812"/>
            <a:chOff x="0" y="0"/>
            <a:chExt cx="21945600" cy="1042416"/>
          </a:xfrm>
        </p:grpSpPr>
        <p:sp>
          <p:nvSpPr>
            <p:cNvPr name="Freeform 8" id="8"/>
            <p:cNvSpPr/>
            <p:nvPr/>
          </p:nvSpPr>
          <p:spPr>
            <a:xfrm flipH="false" flipV="false" rot="0">
              <a:off x="0" y="0"/>
              <a:ext cx="21945600" cy="1042416"/>
            </a:xfrm>
            <a:custGeom>
              <a:avLst/>
              <a:gdLst/>
              <a:ahLst/>
              <a:cxnLst/>
              <a:rect r="r" b="b" t="t" l="l"/>
              <a:pathLst>
                <a:path h="1042416" w="21945600">
                  <a:moveTo>
                    <a:pt x="0" y="0"/>
                  </a:moveTo>
                  <a:lnTo>
                    <a:pt x="21945600" y="0"/>
                  </a:lnTo>
                  <a:lnTo>
                    <a:pt x="21945600" y="1042416"/>
                  </a:lnTo>
                  <a:lnTo>
                    <a:pt x="0" y="1042416"/>
                  </a:lnTo>
                  <a:close/>
                </a:path>
              </a:pathLst>
            </a:custGeom>
            <a:blipFill>
              <a:blip r:embed="rId3">
                <a:alphaModFix amt="0"/>
              </a:blip>
              <a:stretch>
                <a:fillRect l="0" t="-360211" r="0" b="-360211"/>
              </a:stretch>
            </a:blipFill>
          </p:spPr>
        </p:sp>
        <p:sp>
          <p:nvSpPr>
            <p:cNvPr name="TextBox 9" id="9"/>
            <p:cNvSpPr txBox="true"/>
            <p:nvPr/>
          </p:nvSpPr>
          <p:spPr>
            <a:xfrm>
              <a:off x="0" y="-28575"/>
              <a:ext cx="21945600" cy="1070991"/>
            </a:xfrm>
            <a:prstGeom prst="rect">
              <a:avLst/>
            </a:prstGeom>
          </p:spPr>
          <p:txBody>
            <a:bodyPr anchor="ctr" rtlCol="false" tIns="0" lIns="0" bIns="0" rIns="0"/>
            <a:lstStyle/>
            <a:p>
              <a:pPr algn="l">
                <a:lnSpc>
                  <a:spcPts val="4410"/>
                </a:lnSpc>
              </a:pPr>
              <a:r>
                <a:rPr lang="en-US" sz="3675" b="true">
                  <a:solidFill>
                    <a:srgbClr val="12304C"/>
                  </a:solidFill>
                  <a:latin typeface="Arial Bold"/>
                  <a:ea typeface="Arial Bold"/>
                  <a:cs typeface="Arial Bold"/>
                  <a:sym typeface="Arial Bold"/>
                </a:rPr>
                <a:t>Các quy trình chiến thuật &amp; vận hành</a:t>
              </a:r>
            </a:p>
          </p:txBody>
        </p:sp>
      </p:grpSp>
      <p:grpSp>
        <p:nvGrpSpPr>
          <p:cNvPr name="Group 10" id="10"/>
          <p:cNvGrpSpPr/>
          <p:nvPr/>
        </p:nvGrpSpPr>
        <p:grpSpPr>
          <a:xfrm rot="0">
            <a:off x="1014984" y="1796796"/>
            <a:ext cx="16322040" cy="480060"/>
            <a:chOff x="0" y="0"/>
            <a:chExt cx="21762720" cy="640080"/>
          </a:xfrm>
        </p:grpSpPr>
        <p:sp>
          <p:nvSpPr>
            <p:cNvPr name="Freeform 11" id="11"/>
            <p:cNvSpPr/>
            <p:nvPr/>
          </p:nvSpPr>
          <p:spPr>
            <a:xfrm flipH="false" flipV="false" rot="0">
              <a:off x="0" y="0"/>
              <a:ext cx="21762720" cy="640080"/>
            </a:xfrm>
            <a:custGeom>
              <a:avLst/>
              <a:gdLst/>
              <a:ahLst/>
              <a:cxnLst/>
              <a:rect r="r" b="b" t="t" l="l"/>
              <a:pathLst>
                <a:path h="640080" w="21762720">
                  <a:moveTo>
                    <a:pt x="0" y="0"/>
                  </a:moveTo>
                  <a:lnTo>
                    <a:pt x="21762720" y="0"/>
                  </a:lnTo>
                  <a:lnTo>
                    <a:pt x="21762720" y="640080"/>
                  </a:lnTo>
                  <a:lnTo>
                    <a:pt x="0" y="640080"/>
                  </a:lnTo>
                  <a:close/>
                </a:path>
              </a:pathLst>
            </a:custGeom>
            <a:blipFill>
              <a:blip r:embed="rId3">
                <a:alphaModFix amt="0"/>
              </a:blip>
              <a:stretch>
                <a:fillRect l="0" t="-612491" r="0" b="-612491"/>
              </a:stretch>
            </a:blipFill>
          </p:spPr>
        </p:sp>
        <p:sp>
          <p:nvSpPr>
            <p:cNvPr name="TextBox 12" id="12"/>
            <p:cNvSpPr txBox="true"/>
            <p:nvPr/>
          </p:nvSpPr>
          <p:spPr>
            <a:xfrm>
              <a:off x="0" y="-19050"/>
              <a:ext cx="21762720" cy="659130"/>
            </a:xfrm>
            <a:prstGeom prst="rect">
              <a:avLst/>
            </a:prstGeom>
          </p:spPr>
          <p:txBody>
            <a:bodyPr anchor="ctr" rtlCol="false" tIns="0" lIns="0" bIns="0" rIns="0"/>
            <a:lstStyle/>
            <a:p>
              <a:pPr algn="l">
                <a:lnSpc>
                  <a:spcPts val="2322"/>
                </a:lnSpc>
              </a:pPr>
              <a:r>
                <a:rPr lang="en-US" sz="1935">
                  <a:solidFill>
                    <a:srgbClr val="50677D"/>
                  </a:solidFill>
                  <a:latin typeface="Arial"/>
                  <a:ea typeface="Arial"/>
                  <a:cs typeface="Arial"/>
                  <a:sym typeface="Arial"/>
                </a:rPr>
                <a:t>Cách các mục trong nghiên cứu gắn với quản trị bảo mật thực tế</a:t>
              </a:r>
            </a:p>
          </p:txBody>
        </p:sp>
      </p:grpSp>
      <p:sp>
        <p:nvSpPr>
          <p:cNvPr name="AutoShape 13" id="13"/>
          <p:cNvSpPr/>
          <p:nvPr/>
        </p:nvSpPr>
        <p:spPr>
          <a:xfrm rot="4020">
            <a:off x="991733" y="9692450"/>
            <a:ext cx="16272520" cy="0"/>
          </a:xfrm>
          <a:prstGeom prst="line">
            <a:avLst/>
          </a:prstGeom>
          <a:ln cap="rnd" w="9525">
            <a:solidFill>
              <a:srgbClr val="DEE7EE"/>
            </a:solidFill>
            <a:prstDash val="solid"/>
            <a:headEnd type="none" len="sm" w="sm"/>
            <a:tailEnd type="none" len="sm" w="sm"/>
          </a:ln>
        </p:spPr>
      </p:sp>
      <p:grpSp>
        <p:nvGrpSpPr>
          <p:cNvPr name="Group 14" id="14"/>
          <p:cNvGrpSpPr/>
          <p:nvPr/>
        </p:nvGrpSpPr>
        <p:grpSpPr>
          <a:xfrm rot="0">
            <a:off x="1014984" y="9779508"/>
            <a:ext cx="14703552" cy="274320"/>
            <a:chOff x="0" y="0"/>
            <a:chExt cx="19604736" cy="365760"/>
          </a:xfrm>
        </p:grpSpPr>
        <p:sp>
          <p:nvSpPr>
            <p:cNvPr name="Freeform 15" id="15"/>
            <p:cNvSpPr/>
            <p:nvPr/>
          </p:nvSpPr>
          <p:spPr>
            <a:xfrm flipH="false" flipV="false" rot="0">
              <a:off x="0" y="0"/>
              <a:ext cx="19604737" cy="365760"/>
            </a:xfrm>
            <a:custGeom>
              <a:avLst/>
              <a:gdLst/>
              <a:ahLst/>
              <a:cxnLst/>
              <a:rect r="r" b="b" t="t" l="l"/>
              <a:pathLst>
                <a:path h="365760" w="19604737">
                  <a:moveTo>
                    <a:pt x="0" y="0"/>
                  </a:moveTo>
                  <a:lnTo>
                    <a:pt x="19604737" y="0"/>
                  </a:lnTo>
                  <a:lnTo>
                    <a:pt x="19604737" y="365760"/>
                  </a:lnTo>
                  <a:lnTo>
                    <a:pt x="0" y="365760"/>
                  </a:lnTo>
                  <a:close/>
                </a:path>
              </a:pathLst>
            </a:custGeom>
            <a:blipFill>
              <a:blip r:embed="rId3">
                <a:alphaModFix amt="0"/>
              </a:blip>
              <a:stretch>
                <a:fillRect l="0" t="-994398" r="0" b="-994398"/>
              </a:stretch>
            </a:blipFill>
          </p:spPr>
        </p:sp>
        <p:sp>
          <p:nvSpPr>
            <p:cNvPr name="TextBox 16" id="16"/>
            <p:cNvSpPr txBox="true"/>
            <p:nvPr/>
          </p:nvSpPr>
          <p:spPr>
            <a:xfrm>
              <a:off x="0" y="-9525"/>
              <a:ext cx="19604736" cy="375285"/>
            </a:xfrm>
            <a:prstGeom prst="rect">
              <a:avLst/>
            </a:prstGeom>
          </p:spPr>
          <p:txBody>
            <a:bodyPr anchor="ctr" rtlCol="false" tIns="0" lIns="0" bIns="0" rIns="0"/>
            <a:lstStyle/>
            <a:p>
              <a:pPr algn="l">
                <a:lnSpc>
                  <a:spcPts val="1494"/>
                </a:lnSpc>
              </a:pPr>
              <a:r>
                <a:rPr lang="en-US" sz="1245">
                  <a:solidFill>
                    <a:srgbClr val="50677D"/>
                  </a:solidFill>
                  <a:latin typeface="Arial"/>
                  <a:ea typeface="Arial"/>
                  <a:cs typeface="Arial"/>
                  <a:sym typeface="Arial"/>
                </a:rPr>
                <a:t>Liu và cộng sự (2025)  |  doi.org/10.1093/cybsec/tyaf020</a:t>
              </a:r>
            </a:p>
          </p:txBody>
        </p:sp>
      </p:grpSp>
      <p:grpSp>
        <p:nvGrpSpPr>
          <p:cNvPr name="Group 17" id="17"/>
          <p:cNvGrpSpPr/>
          <p:nvPr/>
        </p:nvGrpSpPr>
        <p:grpSpPr>
          <a:xfrm rot="0">
            <a:off x="16184880" y="9779508"/>
            <a:ext cx="1001268" cy="274320"/>
            <a:chOff x="0" y="0"/>
            <a:chExt cx="1335024" cy="365760"/>
          </a:xfrm>
        </p:grpSpPr>
        <p:sp>
          <p:nvSpPr>
            <p:cNvPr name="Freeform 18" id="18"/>
            <p:cNvSpPr/>
            <p:nvPr/>
          </p:nvSpPr>
          <p:spPr>
            <a:xfrm flipH="false" flipV="false" rot="0">
              <a:off x="0" y="0"/>
              <a:ext cx="1335024" cy="365760"/>
            </a:xfrm>
            <a:custGeom>
              <a:avLst/>
              <a:gdLst/>
              <a:ahLst/>
              <a:cxnLst/>
              <a:rect r="r" b="b" t="t" l="l"/>
              <a:pathLst>
                <a:path h="365760" w="1335024">
                  <a:moveTo>
                    <a:pt x="0" y="0"/>
                  </a:moveTo>
                  <a:lnTo>
                    <a:pt x="1335024" y="0"/>
                  </a:lnTo>
                  <a:lnTo>
                    <a:pt x="1335024" y="365760"/>
                  </a:lnTo>
                  <a:lnTo>
                    <a:pt x="0" y="365760"/>
                  </a:lnTo>
                  <a:close/>
                </a:path>
              </a:pathLst>
            </a:custGeom>
            <a:blipFill>
              <a:blip r:embed="rId3">
                <a:alphaModFix amt="0"/>
              </a:blip>
              <a:stretch>
                <a:fillRect l="0" t="-21120" r="0" b="-21120"/>
              </a:stretch>
            </a:blipFill>
          </p:spPr>
        </p:sp>
        <p:sp>
          <p:nvSpPr>
            <p:cNvPr name="TextBox 19" id="19"/>
            <p:cNvSpPr txBox="true"/>
            <p:nvPr/>
          </p:nvSpPr>
          <p:spPr>
            <a:xfrm>
              <a:off x="0" y="-9525"/>
              <a:ext cx="1335024" cy="375285"/>
            </a:xfrm>
            <a:prstGeom prst="rect">
              <a:avLst/>
            </a:prstGeom>
          </p:spPr>
          <p:txBody>
            <a:bodyPr anchor="ctr" rtlCol="false" tIns="0" lIns="0" bIns="0" rIns="0"/>
            <a:lstStyle/>
            <a:p>
              <a:pPr algn="r">
                <a:lnSpc>
                  <a:spcPts val="1494"/>
                </a:lnSpc>
              </a:pPr>
              <a:r>
                <a:rPr lang="en-US" sz="1245">
                  <a:solidFill>
                    <a:srgbClr val="50677D"/>
                  </a:solidFill>
                  <a:latin typeface="Arial"/>
                  <a:ea typeface="Arial"/>
                  <a:cs typeface="Arial"/>
                  <a:sym typeface="Arial"/>
                </a:rPr>
                <a:t>08 / 14</a:t>
              </a:r>
            </a:p>
          </p:txBody>
        </p:sp>
      </p:grpSp>
      <p:grpSp>
        <p:nvGrpSpPr>
          <p:cNvPr name="Group 20" id="20"/>
          <p:cNvGrpSpPr/>
          <p:nvPr/>
        </p:nvGrpSpPr>
        <p:grpSpPr>
          <a:xfrm rot="0">
            <a:off x="1158240" y="2708148"/>
            <a:ext cx="7778496" cy="5268468"/>
            <a:chOff x="0" y="0"/>
            <a:chExt cx="10371328" cy="7024624"/>
          </a:xfrm>
        </p:grpSpPr>
        <p:sp>
          <p:nvSpPr>
            <p:cNvPr name="Freeform 21" id="21"/>
            <p:cNvSpPr/>
            <p:nvPr/>
          </p:nvSpPr>
          <p:spPr>
            <a:xfrm flipH="false" flipV="false" rot="0">
              <a:off x="0" y="0"/>
              <a:ext cx="10371328" cy="7024624"/>
            </a:xfrm>
            <a:custGeom>
              <a:avLst/>
              <a:gdLst/>
              <a:ahLst/>
              <a:cxnLst/>
              <a:rect r="r" b="b" t="t" l="l"/>
              <a:pathLst>
                <a:path h="7024624" w="10371328">
                  <a:moveTo>
                    <a:pt x="0" y="220091"/>
                  </a:moveTo>
                  <a:cubicBezTo>
                    <a:pt x="0" y="98552"/>
                    <a:pt x="98552" y="0"/>
                    <a:pt x="220091" y="0"/>
                  </a:cubicBezTo>
                  <a:lnTo>
                    <a:pt x="10151237" y="0"/>
                  </a:lnTo>
                  <a:cubicBezTo>
                    <a:pt x="10272776" y="0"/>
                    <a:pt x="10371328" y="98552"/>
                    <a:pt x="10371328" y="220091"/>
                  </a:cubicBezTo>
                  <a:lnTo>
                    <a:pt x="10371328" y="6804533"/>
                  </a:lnTo>
                  <a:cubicBezTo>
                    <a:pt x="10371328" y="6926072"/>
                    <a:pt x="10272776" y="7024624"/>
                    <a:pt x="10151237" y="7024624"/>
                  </a:cubicBezTo>
                  <a:lnTo>
                    <a:pt x="220091" y="7024624"/>
                  </a:lnTo>
                  <a:cubicBezTo>
                    <a:pt x="98552" y="7024624"/>
                    <a:pt x="0" y="6926072"/>
                    <a:pt x="0" y="6804533"/>
                  </a:cubicBezTo>
                  <a:close/>
                </a:path>
              </a:pathLst>
            </a:custGeom>
            <a:solidFill>
              <a:srgbClr val="FFFFFF"/>
            </a:solidFill>
            <a:ln w="15240" cap="sq">
              <a:solidFill>
                <a:srgbClr val="DEE7EE"/>
              </a:solidFill>
              <a:prstDash val="solid"/>
              <a:miter/>
            </a:ln>
          </p:spPr>
        </p:sp>
      </p:grpSp>
      <p:grpSp>
        <p:nvGrpSpPr>
          <p:cNvPr name="Group 22" id="22"/>
          <p:cNvGrpSpPr/>
          <p:nvPr/>
        </p:nvGrpSpPr>
        <p:grpSpPr>
          <a:xfrm rot="0">
            <a:off x="1536192" y="2990088"/>
            <a:ext cx="7036308" cy="370332"/>
            <a:chOff x="0" y="0"/>
            <a:chExt cx="9381744" cy="493776"/>
          </a:xfrm>
        </p:grpSpPr>
        <p:sp>
          <p:nvSpPr>
            <p:cNvPr name="Freeform 23" id="23"/>
            <p:cNvSpPr/>
            <p:nvPr/>
          </p:nvSpPr>
          <p:spPr>
            <a:xfrm flipH="false" flipV="false" rot="0">
              <a:off x="0" y="0"/>
              <a:ext cx="9381744" cy="493776"/>
            </a:xfrm>
            <a:custGeom>
              <a:avLst/>
              <a:gdLst/>
              <a:ahLst/>
              <a:cxnLst/>
              <a:rect r="r" b="b" t="t" l="l"/>
              <a:pathLst>
                <a:path h="493776" w="9381744">
                  <a:moveTo>
                    <a:pt x="0" y="0"/>
                  </a:moveTo>
                  <a:lnTo>
                    <a:pt x="9381744" y="0"/>
                  </a:lnTo>
                  <a:lnTo>
                    <a:pt x="9381744" y="493776"/>
                  </a:lnTo>
                  <a:lnTo>
                    <a:pt x="0" y="493776"/>
                  </a:lnTo>
                  <a:close/>
                </a:path>
              </a:pathLst>
            </a:custGeom>
            <a:blipFill>
              <a:blip r:embed="rId3">
                <a:alphaModFix amt="0"/>
              </a:blip>
              <a:stretch>
                <a:fillRect l="0" t="-320215" r="0" b="-320215"/>
              </a:stretch>
            </a:blipFill>
          </p:spPr>
        </p:sp>
        <p:sp>
          <p:nvSpPr>
            <p:cNvPr name="TextBox 24" id="24"/>
            <p:cNvSpPr txBox="true"/>
            <p:nvPr/>
          </p:nvSpPr>
          <p:spPr>
            <a:xfrm>
              <a:off x="0" y="-19050"/>
              <a:ext cx="9381744" cy="512826"/>
            </a:xfrm>
            <a:prstGeom prst="rect">
              <a:avLst/>
            </a:prstGeom>
          </p:spPr>
          <p:txBody>
            <a:bodyPr anchor="ctr" rtlCol="false" tIns="0" lIns="0" bIns="0" rIns="0"/>
            <a:lstStyle/>
            <a:p>
              <a:pPr algn="l">
                <a:lnSpc>
                  <a:spcPts val="1907"/>
                </a:lnSpc>
              </a:pPr>
              <a:r>
                <a:rPr lang="en-US" sz="1589" b="true">
                  <a:solidFill>
                    <a:srgbClr val="137E82"/>
                  </a:solidFill>
                  <a:latin typeface="Arial Bold"/>
                  <a:ea typeface="Arial Bold"/>
                  <a:cs typeface="Arial Bold"/>
                  <a:sym typeface="Arial Bold"/>
                </a:rPr>
                <a:t>TACTICAL PROCESSES</a:t>
              </a:r>
            </a:p>
          </p:txBody>
        </p:sp>
      </p:grpSp>
      <p:grpSp>
        <p:nvGrpSpPr>
          <p:cNvPr name="Group 25" id="25"/>
          <p:cNvGrpSpPr/>
          <p:nvPr/>
        </p:nvGrpSpPr>
        <p:grpSpPr>
          <a:xfrm rot="0">
            <a:off x="1536192" y="3374136"/>
            <a:ext cx="7036308" cy="630936"/>
            <a:chOff x="0" y="0"/>
            <a:chExt cx="9381744" cy="841248"/>
          </a:xfrm>
        </p:grpSpPr>
        <p:sp>
          <p:nvSpPr>
            <p:cNvPr name="Freeform 26" id="26"/>
            <p:cNvSpPr/>
            <p:nvPr/>
          </p:nvSpPr>
          <p:spPr>
            <a:xfrm flipH="false" flipV="false" rot="0">
              <a:off x="0" y="0"/>
              <a:ext cx="9381744" cy="841248"/>
            </a:xfrm>
            <a:custGeom>
              <a:avLst/>
              <a:gdLst/>
              <a:ahLst/>
              <a:cxnLst/>
              <a:rect r="r" b="b" t="t" l="l"/>
              <a:pathLst>
                <a:path h="841248" w="9381744">
                  <a:moveTo>
                    <a:pt x="0" y="0"/>
                  </a:moveTo>
                  <a:lnTo>
                    <a:pt x="9381744" y="0"/>
                  </a:lnTo>
                  <a:lnTo>
                    <a:pt x="9381744" y="841248"/>
                  </a:lnTo>
                  <a:lnTo>
                    <a:pt x="0" y="841248"/>
                  </a:lnTo>
                  <a:close/>
                </a:path>
              </a:pathLst>
            </a:custGeom>
            <a:blipFill>
              <a:blip r:embed="rId3">
                <a:alphaModFix amt="0"/>
              </a:blip>
              <a:stretch>
                <a:fillRect l="0" t="-167300" r="0" b="-167300"/>
              </a:stretch>
            </a:blipFill>
          </p:spPr>
        </p:sp>
        <p:sp>
          <p:nvSpPr>
            <p:cNvPr name="TextBox 27" id="27"/>
            <p:cNvSpPr txBox="true"/>
            <p:nvPr/>
          </p:nvSpPr>
          <p:spPr>
            <a:xfrm>
              <a:off x="0" y="-19050"/>
              <a:ext cx="9381744" cy="860298"/>
            </a:xfrm>
            <a:prstGeom prst="rect">
              <a:avLst/>
            </a:prstGeom>
          </p:spPr>
          <p:txBody>
            <a:bodyPr anchor="ctr" rtlCol="false" tIns="0" lIns="0" bIns="0" rIns="0"/>
            <a:lstStyle/>
            <a:p>
              <a:pPr algn="l">
                <a:lnSpc>
                  <a:spcPts val="3419"/>
                </a:lnSpc>
              </a:pPr>
              <a:r>
                <a:rPr lang="en-US" sz="2850" b="true">
                  <a:solidFill>
                    <a:srgbClr val="12304C"/>
                  </a:solidFill>
                  <a:latin typeface="Arial Bold"/>
                  <a:ea typeface="Arial Bold"/>
                  <a:cs typeface="Arial Bold"/>
                  <a:sym typeface="Arial Bold"/>
                </a:rPr>
                <a:t>Chiến thuật — tổ chức hoạt động</a:t>
              </a:r>
            </a:p>
          </p:txBody>
        </p:sp>
      </p:grpSp>
      <p:grpSp>
        <p:nvGrpSpPr>
          <p:cNvPr name="Group 28" id="28"/>
          <p:cNvGrpSpPr/>
          <p:nvPr/>
        </p:nvGrpSpPr>
        <p:grpSpPr>
          <a:xfrm rot="0">
            <a:off x="1549908" y="4306824"/>
            <a:ext cx="6789420" cy="480060"/>
            <a:chOff x="0" y="0"/>
            <a:chExt cx="9052560" cy="640080"/>
          </a:xfrm>
        </p:grpSpPr>
        <p:sp>
          <p:nvSpPr>
            <p:cNvPr name="Freeform 29" id="29"/>
            <p:cNvSpPr/>
            <p:nvPr/>
          </p:nvSpPr>
          <p:spPr>
            <a:xfrm flipH="false" flipV="false" rot="0">
              <a:off x="0" y="0"/>
              <a:ext cx="9052560" cy="640080"/>
            </a:xfrm>
            <a:custGeom>
              <a:avLst/>
              <a:gdLst/>
              <a:ahLst/>
              <a:cxnLst/>
              <a:rect r="r" b="b" t="t" l="l"/>
              <a:pathLst>
                <a:path h="640080" w="9052560">
                  <a:moveTo>
                    <a:pt x="0" y="0"/>
                  </a:moveTo>
                  <a:lnTo>
                    <a:pt x="9052560" y="0"/>
                  </a:lnTo>
                  <a:lnTo>
                    <a:pt x="9052560" y="640080"/>
                  </a:lnTo>
                  <a:lnTo>
                    <a:pt x="0" y="640080"/>
                  </a:lnTo>
                  <a:close/>
                </a:path>
              </a:pathLst>
            </a:custGeom>
            <a:blipFill>
              <a:blip r:embed="rId3">
                <a:alphaModFix amt="0"/>
              </a:blip>
              <a:stretch>
                <a:fillRect l="0" t="-225574" r="0" b="-225574"/>
              </a:stretch>
            </a:blipFill>
          </p:spPr>
        </p:sp>
        <p:sp>
          <p:nvSpPr>
            <p:cNvPr name="TextBox 30" id="30"/>
            <p:cNvSpPr txBox="true"/>
            <p:nvPr/>
          </p:nvSpPr>
          <p:spPr>
            <a:xfrm>
              <a:off x="0" y="-19050"/>
              <a:ext cx="9052560" cy="659130"/>
            </a:xfrm>
            <a:prstGeom prst="rect">
              <a:avLst/>
            </a:prstGeom>
          </p:spPr>
          <p:txBody>
            <a:bodyPr anchor="ctr" rtlCol="false" tIns="0" lIns="0" bIns="0" rIns="0"/>
            <a:lstStyle/>
            <a:p>
              <a:pPr algn="l">
                <a:lnSpc>
                  <a:spcPts val="2717"/>
                </a:lnSpc>
              </a:pPr>
              <a:r>
                <a:rPr lang="en-US" sz="2265" b="true">
                  <a:solidFill>
                    <a:srgbClr val="12304C"/>
                  </a:solidFill>
                  <a:latin typeface="Arial Bold"/>
                  <a:ea typeface="Arial Bold"/>
                  <a:cs typeface="Arial Bold"/>
                  <a:sym typeface="Arial Bold"/>
                </a:rPr>
                <a:t>Cybersecurity Audit</a:t>
              </a:r>
            </a:p>
          </p:txBody>
        </p:sp>
      </p:grpSp>
      <p:grpSp>
        <p:nvGrpSpPr>
          <p:cNvPr name="Group 31" id="31"/>
          <p:cNvGrpSpPr/>
          <p:nvPr/>
        </p:nvGrpSpPr>
        <p:grpSpPr>
          <a:xfrm rot="0">
            <a:off x="1549908" y="4828032"/>
            <a:ext cx="6720840" cy="397764"/>
            <a:chOff x="0" y="0"/>
            <a:chExt cx="8961120" cy="530352"/>
          </a:xfrm>
        </p:grpSpPr>
        <p:sp>
          <p:nvSpPr>
            <p:cNvPr name="Freeform 32" id="32"/>
            <p:cNvSpPr/>
            <p:nvPr/>
          </p:nvSpPr>
          <p:spPr>
            <a:xfrm flipH="false" flipV="false" rot="0">
              <a:off x="0" y="0"/>
              <a:ext cx="8961120" cy="530352"/>
            </a:xfrm>
            <a:custGeom>
              <a:avLst/>
              <a:gdLst/>
              <a:ahLst/>
              <a:cxnLst/>
              <a:rect r="r" b="b" t="t" l="l"/>
              <a:pathLst>
                <a:path h="530352" w="8961120">
                  <a:moveTo>
                    <a:pt x="0" y="0"/>
                  </a:moveTo>
                  <a:lnTo>
                    <a:pt x="8961120" y="0"/>
                  </a:lnTo>
                  <a:lnTo>
                    <a:pt x="8961120" y="530352"/>
                  </a:lnTo>
                  <a:lnTo>
                    <a:pt x="0" y="530352"/>
                  </a:lnTo>
                  <a:close/>
                </a:path>
              </a:pathLst>
            </a:custGeom>
            <a:blipFill>
              <a:blip r:embed="rId3">
                <a:alphaModFix amt="0"/>
              </a:blip>
              <a:stretch>
                <a:fillRect l="0" t="-279229" r="0" b="-279229"/>
              </a:stretch>
            </a:blipFill>
          </p:spPr>
        </p:sp>
        <p:sp>
          <p:nvSpPr>
            <p:cNvPr name="TextBox 33" id="33"/>
            <p:cNvSpPr txBox="true"/>
            <p:nvPr/>
          </p:nvSpPr>
          <p:spPr>
            <a:xfrm>
              <a:off x="0" y="-19050"/>
              <a:ext cx="8961120" cy="549402"/>
            </a:xfrm>
            <a:prstGeom prst="rect">
              <a:avLst/>
            </a:prstGeom>
          </p:spPr>
          <p:txBody>
            <a:bodyPr anchor="ctr" rtlCol="false" tIns="0" lIns="0" bIns="0" rIns="0"/>
            <a:lstStyle/>
            <a:p>
              <a:pPr algn="l">
                <a:lnSpc>
                  <a:spcPts val="2195"/>
                </a:lnSpc>
              </a:pPr>
              <a:r>
                <a:rPr lang="en-US" sz="1829">
                  <a:solidFill>
                    <a:srgbClr val="50677D"/>
                  </a:solidFill>
                  <a:latin typeface="Arial"/>
                  <a:ea typeface="Arial"/>
                  <a:cs typeface="Arial"/>
                  <a:sym typeface="Arial"/>
                </a:rPr>
                <a:t>Kiểm toán việc thực hiện các biện pháp bảo mật.</a:t>
              </a:r>
            </a:p>
          </p:txBody>
        </p:sp>
      </p:grpSp>
      <p:grpSp>
        <p:nvGrpSpPr>
          <p:cNvPr name="Group 34" id="34"/>
          <p:cNvGrpSpPr/>
          <p:nvPr/>
        </p:nvGrpSpPr>
        <p:grpSpPr>
          <a:xfrm rot="0">
            <a:off x="1549908" y="5362956"/>
            <a:ext cx="6789420" cy="480060"/>
            <a:chOff x="0" y="0"/>
            <a:chExt cx="9052560" cy="640080"/>
          </a:xfrm>
        </p:grpSpPr>
        <p:sp>
          <p:nvSpPr>
            <p:cNvPr name="Freeform 35" id="35"/>
            <p:cNvSpPr/>
            <p:nvPr/>
          </p:nvSpPr>
          <p:spPr>
            <a:xfrm flipH="false" flipV="false" rot="0">
              <a:off x="0" y="0"/>
              <a:ext cx="9052560" cy="640080"/>
            </a:xfrm>
            <a:custGeom>
              <a:avLst/>
              <a:gdLst/>
              <a:ahLst/>
              <a:cxnLst/>
              <a:rect r="r" b="b" t="t" l="l"/>
              <a:pathLst>
                <a:path h="640080" w="9052560">
                  <a:moveTo>
                    <a:pt x="0" y="0"/>
                  </a:moveTo>
                  <a:lnTo>
                    <a:pt x="9052560" y="0"/>
                  </a:lnTo>
                  <a:lnTo>
                    <a:pt x="9052560" y="640080"/>
                  </a:lnTo>
                  <a:lnTo>
                    <a:pt x="0" y="640080"/>
                  </a:lnTo>
                  <a:close/>
                </a:path>
              </a:pathLst>
            </a:custGeom>
            <a:blipFill>
              <a:blip r:embed="rId3">
                <a:alphaModFix amt="0"/>
              </a:blip>
              <a:stretch>
                <a:fillRect l="0" t="-225574" r="0" b="-225574"/>
              </a:stretch>
            </a:blipFill>
          </p:spPr>
        </p:sp>
        <p:sp>
          <p:nvSpPr>
            <p:cNvPr name="TextBox 36" id="36"/>
            <p:cNvSpPr txBox="true"/>
            <p:nvPr/>
          </p:nvSpPr>
          <p:spPr>
            <a:xfrm>
              <a:off x="0" y="-19050"/>
              <a:ext cx="9052560" cy="659130"/>
            </a:xfrm>
            <a:prstGeom prst="rect">
              <a:avLst/>
            </a:prstGeom>
          </p:spPr>
          <p:txBody>
            <a:bodyPr anchor="ctr" rtlCol="false" tIns="0" lIns="0" bIns="0" rIns="0"/>
            <a:lstStyle/>
            <a:p>
              <a:pPr algn="l">
                <a:lnSpc>
                  <a:spcPts val="2717"/>
                </a:lnSpc>
              </a:pPr>
              <a:r>
                <a:rPr lang="en-US" sz="2265" b="true">
                  <a:solidFill>
                    <a:srgbClr val="12304C"/>
                  </a:solidFill>
                  <a:latin typeface="Arial Bold"/>
                  <a:ea typeface="Arial Bold"/>
                  <a:cs typeface="Arial Bold"/>
                  <a:sym typeface="Arial Bold"/>
                </a:rPr>
                <a:t>Security Policy Management</a:t>
              </a:r>
            </a:p>
          </p:txBody>
        </p:sp>
      </p:grpSp>
      <p:grpSp>
        <p:nvGrpSpPr>
          <p:cNvPr name="Group 37" id="37"/>
          <p:cNvGrpSpPr/>
          <p:nvPr/>
        </p:nvGrpSpPr>
        <p:grpSpPr>
          <a:xfrm rot="0">
            <a:off x="1549908" y="5884164"/>
            <a:ext cx="6720840" cy="397764"/>
            <a:chOff x="0" y="0"/>
            <a:chExt cx="8961120" cy="530352"/>
          </a:xfrm>
        </p:grpSpPr>
        <p:sp>
          <p:nvSpPr>
            <p:cNvPr name="Freeform 38" id="38"/>
            <p:cNvSpPr/>
            <p:nvPr/>
          </p:nvSpPr>
          <p:spPr>
            <a:xfrm flipH="false" flipV="false" rot="0">
              <a:off x="0" y="0"/>
              <a:ext cx="8961120" cy="530352"/>
            </a:xfrm>
            <a:custGeom>
              <a:avLst/>
              <a:gdLst/>
              <a:ahLst/>
              <a:cxnLst/>
              <a:rect r="r" b="b" t="t" l="l"/>
              <a:pathLst>
                <a:path h="530352" w="8961120">
                  <a:moveTo>
                    <a:pt x="0" y="0"/>
                  </a:moveTo>
                  <a:lnTo>
                    <a:pt x="8961120" y="0"/>
                  </a:lnTo>
                  <a:lnTo>
                    <a:pt x="8961120" y="530352"/>
                  </a:lnTo>
                  <a:lnTo>
                    <a:pt x="0" y="530352"/>
                  </a:lnTo>
                  <a:close/>
                </a:path>
              </a:pathLst>
            </a:custGeom>
            <a:blipFill>
              <a:blip r:embed="rId3">
                <a:alphaModFix amt="0"/>
              </a:blip>
              <a:stretch>
                <a:fillRect l="0" t="-279229" r="0" b="-279229"/>
              </a:stretch>
            </a:blipFill>
          </p:spPr>
        </p:sp>
        <p:sp>
          <p:nvSpPr>
            <p:cNvPr name="TextBox 39" id="39"/>
            <p:cNvSpPr txBox="true"/>
            <p:nvPr/>
          </p:nvSpPr>
          <p:spPr>
            <a:xfrm>
              <a:off x="0" y="-19050"/>
              <a:ext cx="8961120" cy="549402"/>
            </a:xfrm>
            <a:prstGeom prst="rect">
              <a:avLst/>
            </a:prstGeom>
          </p:spPr>
          <p:txBody>
            <a:bodyPr anchor="ctr" rtlCol="false" tIns="0" lIns="0" bIns="0" rIns="0"/>
            <a:lstStyle/>
            <a:p>
              <a:pPr algn="l">
                <a:lnSpc>
                  <a:spcPts val="2195"/>
                </a:lnSpc>
              </a:pPr>
              <a:r>
                <a:rPr lang="en-US" sz="1829">
                  <a:solidFill>
                    <a:srgbClr val="50677D"/>
                  </a:solidFill>
                  <a:latin typeface="Arial"/>
                  <a:ea typeface="Arial"/>
                  <a:cs typeface="Arial"/>
                  <a:sym typeface="Arial"/>
                </a:rPr>
                <a:t>Xây dựng, cập nhật chính sách.</a:t>
              </a:r>
            </a:p>
          </p:txBody>
        </p:sp>
      </p:grpSp>
      <p:grpSp>
        <p:nvGrpSpPr>
          <p:cNvPr name="Group 40" id="40"/>
          <p:cNvGrpSpPr/>
          <p:nvPr/>
        </p:nvGrpSpPr>
        <p:grpSpPr>
          <a:xfrm rot="0">
            <a:off x="1549908" y="6419088"/>
            <a:ext cx="6789420" cy="480060"/>
            <a:chOff x="0" y="0"/>
            <a:chExt cx="9052560" cy="640080"/>
          </a:xfrm>
        </p:grpSpPr>
        <p:sp>
          <p:nvSpPr>
            <p:cNvPr name="Freeform 41" id="41"/>
            <p:cNvSpPr/>
            <p:nvPr/>
          </p:nvSpPr>
          <p:spPr>
            <a:xfrm flipH="false" flipV="false" rot="0">
              <a:off x="0" y="0"/>
              <a:ext cx="9052560" cy="640080"/>
            </a:xfrm>
            <a:custGeom>
              <a:avLst/>
              <a:gdLst/>
              <a:ahLst/>
              <a:cxnLst/>
              <a:rect r="r" b="b" t="t" l="l"/>
              <a:pathLst>
                <a:path h="640080" w="9052560">
                  <a:moveTo>
                    <a:pt x="0" y="0"/>
                  </a:moveTo>
                  <a:lnTo>
                    <a:pt x="9052560" y="0"/>
                  </a:lnTo>
                  <a:lnTo>
                    <a:pt x="9052560" y="640080"/>
                  </a:lnTo>
                  <a:lnTo>
                    <a:pt x="0" y="640080"/>
                  </a:lnTo>
                  <a:close/>
                </a:path>
              </a:pathLst>
            </a:custGeom>
            <a:blipFill>
              <a:blip r:embed="rId3">
                <a:alphaModFix amt="0"/>
              </a:blip>
              <a:stretch>
                <a:fillRect l="0" t="-225574" r="0" b="-225574"/>
              </a:stretch>
            </a:blipFill>
          </p:spPr>
        </p:sp>
        <p:sp>
          <p:nvSpPr>
            <p:cNvPr name="TextBox 42" id="42"/>
            <p:cNvSpPr txBox="true"/>
            <p:nvPr/>
          </p:nvSpPr>
          <p:spPr>
            <a:xfrm>
              <a:off x="0" y="-19050"/>
              <a:ext cx="9052560" cy="659130"/>
            </a:xfrm>
            <a:prstGeom prst="rect">
              <a:avLst/>
            </a:prstGeom>
          </p:spPr>
          <p:txBody>
            <a:bodyPr anchor="ctr" rtlCol="false" tIns="0" lIns="0" bIns="0" rIns="0"/>
            <a:lstStyle/>
            <a:p>
              <a:pPr algn="l">
                <a:lnSpc>
                  <a:spcPts val="2717"/>
                </a:lnSpc>
              </a:pPr>
              <a:r>
                <a:rPr lang="en-US" sz="2265" b="true">
                  <a:solidFill>
                    <a:srgbClr val="12304C"/>
                  </a:solidFill>
                  <a:latin typeface="Arial Bold"/>
                  <a:ea typeface="Arial Bold"/>
                  <a:cs typeface="Arial Bold"/>
                  <a:sym typeface="Arial Bold"/>
                </a:rPr>
                <a:t>Awareness Training</a:t>
              </a:r>
            </a:p>
          </p:txBody>
        </p:sp>
      </p:grpSp>
      <p:grpSp>
        <p:nvGrpSpPr>
          <p:cNvPr name="Group 43" id="43"/>
          <p:cNvGrpSpPr/>
          <p:nvPr/>
        </p:nvGrpSpPr>
        <p:grpSpPr>
          <a:xfrm rot="0">
            <a:off x="1549908" y="6940296"/>
            <a:ext cx="6720840" cy="397764"/>
            <a:chOff x="0" y="0"/>
            <a:chExt cx="8961120" cy="530352"/>
          </a:xfrm>
        </p:grpSpPr>
        <p:sp>
          <p:nvSpPr>
            <p:cNvPr name="Freeform 44" id="44"/>
            <p:cNvSpPr/>
            <p:nvPr/>
          </p:nvSpPr>
          <p:spPr>
            <a:xfrm flipH="false" flipV="false" rot="0">
              <a:off x="0" y="0"/>
              <a:ext cx="8961120" cy="530352"/>
            </a:xfrm>
            <a:custGeom>
              <a:avLst/>
              <a:gdLst/>
              <a:ahLst/>
              <a:cxnLst/>
              <a:rect r="r" b="b" t="t" l="l"/>
              <a:pathLst>
                <a:path h="530352" w="8961120">
                  <a:moveTo>
                    <a:pt x="0" y="0"/>
                  </a:moveTo>
                  <a:lnTo>
                    <a:pt x="8961120" y="0"/>
                  </a:lnTo>
                  <a:lnTo>
                    <a:pt x="8961120" y="530352"/>
                  </a:lnTo>
                  <a:lnTo>
                    <a:pt x="0" y="530352"/>
                  </a:lnTo>
                  <a:close/>
                </a:path>
              </a:pathLst>
            </a:custGeom>
            <a:blipFill>
              <a:blip r:embed="rId3">
                <a:alphaModFix amt="0"/>
              </a:blip>
              <a:stretch>
                <a:fillRect l="0" t="-279229" r="0" b="-279229"/>
              </a:stretch>
            </a:blipFill>
          </p:spPr>
        </p:sp>
        <p:sp>
          <p:nvSpPr>
            <p:cNvPr name="TextBox 45" id="45"/>
            <p:cNvSpPr txBox="true"/>
            <p:nvPr/>
          </p:nvSpPr>
          <p:spPr>
            <a:xfrm>
              <a:off x="0" y="-19050"/>
              <a:ext cx="8961120" cy="549402"/>
            </a:xfrm>
            <a:prstGeom prst="rect">
              <a:avLst/>
            </a:prstGeom>
          </p:spPr>
          <p:txBody>
            <a:bodyPr anchor="ctr" rtlCol="false" tIns="0" lIns="0" bIns="0" rIns="0"/>
            <a:lstStyle/>
            <a:p>
              <a:pPr algn="l">
                <a:lnSpc>
                  <a:spcPts val="2195"/>
                </a:lnSpc>
              </a:pPr>
              <a:r>
                <a:rPr lang="en-US" sz="1829">
                  <a:solidFill>
                    <a:srgbClr val="50677D"/>
                  </a:solidFill>
                  <a:latin typeface="Arial"/>
                  <a:ea typeface="Arial"/>
                  <a:cs typeface="Arial"/>
                  <a:sym typeface="Arial"/>
                </a:rPr>
                <a:t>Đào tạo nhận thức cho người dùng.</a:t>
              </a:r>
            </a:p>
          </p:txBody>
        </p:sp>
      </p:grpSp>
      <p:grpSp>
        <p:nvGrpSpPr>
          <p:cNvPr name="Group 46" id="46"/>
          <p:cNvGrpSpPr/>
          <p:nvPr/>
        </p:nvGrpSpPr>
        <p:grpSpPr>
          <a:xfrm rot="0">
            <a:off x="9291828" y="2708148"/>
            <a:ext cx="7792212" cy="5268468"/>
            <a:chOff x="0" y="0"/>
            <a:chExt cx="10389616" cy="7024624"/>
          </a:xfrm>
        </p:grpSpPr>
        <p:sp>
          <p:nvSpPr>
            <p:cNvPr name="Freeform 47" id="47"/>
            <p:cNvSpPr/>
            <p:nvPr/>
          </p:nvSpPr>
          <p:spPr>
            <a:xfrm flipH="false" flipV="false" rot="0">
              <a:off x="0" y="0"/>
              <a:ext cx="10389616" cy="7024624"/>
            </a:xfrm>
            <a:custGeom>
              <a:avLst/>
              <a:gdLst/>
              <a:ahLst/>
              <a:cxnLst/>
              <a:rect r="r" b="b" t="t" l="l"/>
              <a:pathLst>
                <a:path h="7024624" w="10389616">
                  <a:moveTo>
                    <a:pt x="0" y="220091"/>
                  </a:moveTo>
                  <a:cubicBezTo>
                    <a:pt x="0" y="98552"/>
                    <a:pt x="98552" y="0"/>
                    <a:pt x="220091" y="0"/>
                  </a:cubicBezTo>
                  <a:lnTo>
                    <a:pt x="10169525" y="0"/>
                  </a:lnTo>
                  <a:cubicBezTo>
                    <a:pt x="10291064" y="0"/>
                    <a:pt x="10389616" y="98552"/>
                    <a:pt x="10389616" y="220091"/>
                  </a:cubicBezTo>
                  <a:lnTo>
                    <a:pt x="10389616" y="6804533"/>
                  </a:lnTo>
                  <a:cubicBezTo>
                    <a:pt x="10389616" y="6926072"/>
                    <a:pt x="10291064" y="7024624"/>
                    <a:pt x="10169525" y="7024624"/>
                  </a:cubicBezTo>
                  <a:lnTo>
                    <a:pt x="220091" y="7024624"/>
                  </a:lnTo>
                  <a:cubicBezTo>
                    <a:pt x="98552" y="7024624"/>
                    <a:pt x="0" y="6926072"/>
                    <a:pt x="0" y="6804533"/>
                  </a:cubicBezTo>
                  <a:close/>
                </a:path>
              </a:pathLst>
            </a:custGeom>
            <a:solidFill>
              <a:srgbClr val="12304C"/>
            </a:solidFill>
            <a:ln w="15240" cap="sq">
              <a:solidFill>
                <a:srgbClr val="12304C"/>
              </a:solidFill>
              <a:prstDash val="solid"/>
              <a:miter/>
            </a:ln>
          </p:spPr>
        </p:sp>
      </p:grpSp>
      <p:grpSp>
        <p:nvGrpSpPr>
          <p:cNvPr name="Group 48" id="48"/>
          <p:cNvGrpSpPr/>
          <p:nvPr/>
        </p:nvGrpSpPr>
        <p:grpSpPr>
          <a:xfrm rot="0">
            <a:off x="9683496" y="3086100"/>
            <a:ext cx="6899148" cy="438912"/>
            <a:chOff x="0" y="0"/>
            <a:chExt cx="9198864" cy="585216"/>
          </a:xfrm>
        </p:grpSpPr>
        <p:sp>
          <p:nvSpPr>
            <p:cNvPr name="Freeform 49" id="49"/>
            <p:cNvSpPr/>
            <p:nvPr/>
          </p:nvSpPr>
          <p:spPr>
            <a:xfrm flipH="false" flipV="false" rot="0">
              <a:off x="0" y="0"/>
              <a:ext cx="9198864" cy="585216"/>
            </a:xfrm>
            <a:custGeom>
              <a:avLst/>
              <a:gdLst/>
              <a:ahLst/>
              <a:cxnLst/>
              <a:rect r="r" b="b" t="t" l="l"/>
              <a:pathLst>
                <a:path h="585216" w="9198864">
                  <a:moveTo>
                    <a:pt x="0" y="0"/>
                  </a:moveTo>
                  <a:lnTo>
                    <a:pt x="9198864" y="0"/>
                  </a:lnTo>
                  <a:lnTo>
                    <a:pt x="9198864" y="585216"/>
                  </a:lnTo>
                  <a:lnTo>
                    <a:pt x="0" y="585216"/>
                  </a:lnTo>
                  <a:close/>
                </a:path>
              </a:pathLst>
            </a:custGeom>
            <a:blipFill>
              <a:blip r:embed="rId3">
                <a:alphaModFix amt="0"/>
              </a:blip>
              <a:stretch>
                <a:fillRect l="0" t="-256280" r="0" b="-256280"/>
              </a:stretch>
            </a:blipFill>
          </p:spPr>
        </p:sp>
        <p:sp>
          <p:nvSpPr>
            <p:cNvPr name="TextBox 50" id="50"/>
            <p:cNvSpPr txBox="true"/>
            <p:nvPr/>
          </p:nvSpPr>
          <p:spPr>
            <a:xfrm>
              <a:off x="0" y="-19050"/>
              <a:ext cx="9198864" cy="604266"/>
            </a:xfrm>
            <a:prstGeom prst="rect">
              <a:avLst/>
            </a:prstGeom>
          </p:spPr>
          <p:txBody>
            <a:bodyPr anchor="ctr" rtlCol="false" tIns="0" lIns="0" bIns="0" rIns="0"/>
            <a:lstStyle/>
            <a:p>
              <a:pPr algn="l">
                <a:lnSpc>
                  <a:spcPts val="1925"/>
                </a:lnSpc>
              </a:pPr>
              <a:r>
                <a:rPr lang="en-US" sz="1604" b="true">
                  <a:solidFill>
                    <a:srgbClr val="9FDCD4"/>
                  </a:solidFill>
                  <a:latin typeface="Arial Bold"/>
                  <a:ea typeface="Arial Bold"/>
                  <a:cs typeface="Arial Bold"/>
                  <a:sym typeface="Arial Bold"/>
                </a:rPr>
                <a:t>OPERATIONAL PROCESSES</a:t>
              </a:r>
            </a:p>
          </p:txBody>
        </p:sp>
      </p:grpSp>
      <p:grpSp>
        <p:nvGrpSpPr>
          <p:cNvPr name="Group 51" id="51"/>
          <p:cNvGrpSpPr/>
          <p:nvPr/>
        </p:nvGrpSpPr>
        <p:grpSpPr>
          <a:xfrm rot="0">
            <a:off x="9683496" y="3621024"/>
            <a:ext cx="6912864" cy="877824"/>
            <a:chOff x="0" y="0"/>
            <a:chExt cx="9217152" cy="1170432"/>
          </a:xfrm>
        </p:grpSpPr>
        <p:sp>
          <p:nvSpPr>
            <p:cNvPr name="Freeform 52" id="52"/>
            <p:cNvSpPr/>
            <p:nvPr/>
          </p:nvSpPr>
          <p:spPr>
            <a:xfrm flipH="false" flipV="false" rot="0">
              <a:off x="0" y="0"/>
              <a:ext cx="9217152" cy="1170432"/>
            </a:xfrm>
            <a:custGeom>
              <a:avLst/>
              <a:gdLst/>
              <a:ahLst/>
              <a:cxnLst/>
              <a:rect r="r" b="b" t="t" l="l"/>
              <a:pathLst>
                <a:path h="1170432" w="9217152">
                  <a:moveTo>
                    <a:pt x="0" y="0"/>
                  </a:moveTo>
                  <a:lnTo>
                    <a:pt x="9217152" y="0"/>
                  </a:lnTo>
                  <a:lnTo>
                    <a:pt x="9217152" y="1170432"/>
                  </a:lnTo>
                  <a:lnTo>
                    <a:pt x="0" y="1170432"/>
                  </a:lnTo>
                  <a:close/>
                </a:path>
              </a:pathLst>
            </a:custGeom>
            <a:blipFill>
              <a:blip r:embed="rId3">
                <a:alphaModFix amt="0"/>
              </a:blip>
              <a:stretch>
                <a:fillRect l="0" t="-103444" r="0" b="-103444"/>
              </a:stretch>
            </a:blipFill>
          </p:spPr>
        </p:sp>
        <p:sp>
          <p:nvSpPr>
            <p:cNvPr name="TextBox 53" id="53"/>
            <p:cNvSpPr txBox="true"/>
            <p:nvPr/>
          </p:nvSpPr>
          <p:spPr>
            <a:xfrm>
              <a:off x="0" y="-19050"/>
              <a:ext cx="9217152" cy="1189482"/>
            </a:xfrm>
            <a:prstGeom prst="rect">
              <a:avLst/>
            </a:prstGeom>
          </p:spPr>
          <p:txBody>
            <a:bodyPr anchor="ctr" rtlCol="false" tIns="0" lIns="0" bIns="0" rIns="0"/>
            <a:lstStyle/>
            <a:p>
              <a:pPr algn="l">
                <a:lnSpc>
                  <a:spcPts val="3384"/>
                </a:lnSpc>
              </a:pPr>
              <a:r>
                <a:rPr lang="en-US" sz="2820" b="true">
                  <a:solidFill>
                    <a:srgbClr val="FFFFFF"/>
                  </a:solidFill>
                  <a:latin typeface="Arial Bold"/>
                  <a:ea typeface="Arial Bold"/>
                  <a:cs typeface="Arial Bold"/>
                  <a:sym typeface="Arial Bold"/>
                </a:rPr>
                <a:t>Vận hành — hoạt động thường xuyên</a:t>
              </a:r>
            </a:p>
          </p:txBody>
        </p:sp>
      </p:grpSp>
      <p:grpSp>
        <p:nvGrpSpPr>
          <p:cNvPr name="Group 54" id="54"/>
          <p:cNvGrpSpPr/>
          <p:nvPr/>
        </p:nvGrpSpPr>
        <p:grpSpPr>
          <a:xfrm rot="0">
            <a:off x="9710928" y="4896612"/>
            <a:ext cx="6720840" cy="521208"/>
            <a:chOff x="0" y="0"/>
            <a:chExt cx="8961120" cy="694944"/>
          </a:xfrm>
        </p:grpSpPr>
        <p:sp>
          <p:nvSpPr>
            <p:cNvPr name="Freeform 55" id="55"/>
            <p:cNvSpPr/>
            <p:nvPr/>
          </p:nvSpPr>
          <p:spPr>
            <a:xfrm flipH="false" flipV="false" rot="0">
              <a:off x="0" y="0"/>
              <a:ext cx="8961120" cy="694944"/>
            </a:xfrm>
            <a:custGeom>
              <a:avLst/>
              <a:gdLst/>
              <a:ahLst/>
              <a:cxnLst/>
              <a:rect r="r" b="b" t="t" l="l"/>
              <a:pathLst>
                <a:path h="694944" w="8961120">
                  <a:moveTo>
                    <a:pt x="0" y="0"/>
                  </a:moveTo>
                  <a:lnTo>
                    <a:pt x="8961120" y="0"/>
                  </a:lnTo>
                  <a:lnTo>
                    <a:pt x="8961120" y="694944"/>
                  </a:lnTo>
                  <a:lnTo>
                    <a:pt x="0" y="694944"/>
                  </a:lnTo>
                  <a:close/>
                </a:path>
              </a:pathLst>
            </a:custGeom>
            <a:blipFill>
              <a:blip r:embed="rId3">
                <a:alphaModFix amt="0"/>
              </a:blip>
              <a:stretch>
                <a:fillRect l="0" t="-201254" r="0" b="-201254"/>
              </a:stretch>
            </a:blipFill>
          </p:spPr>
        </p:sp>
        <p:sp>
          <p:nvSpPr>
            <p:cNvPr name="TextBox 56" id="56"/>
            <p:cNvSpPr txBox="true"/>
            <p:nvPr/>
          </p:nvSpPr>
          <p:spPr>
            <a:xfrm>
              <a:off x="0" y="-9525"/>
              <a:ext cx="8961120" cy="704469"/>
            </a:xfrm>
            <a:prstGeom prst="rect">
              <a:avLst/>
            </a:prstGeom>
          </p:spPr>
          <p:txBody>
            <a:bodyPr anchor="ctr" rtlCol="false" tIns="0" lIns="0" bIns="0" rIns="0"/>
            <a:lstStyle/>
            <a:p>
              <a:pPr algn="l">
                <a:lnSpc>
                  <a:spcPts val="2447"/>
                </a:lnSpc>
              </a:pPr>
              <a:r>
                <a:rPr lang="en-US" sz="2039">
                  <a:solidFill>
                    <a:srgbClr val="D4EDF0"/>
                  </a:solidFill>
                  <a:latin typeface="Arial"/>
                  <a:ea typeface="Arial"/>
                  <a:cs typeface="Arial"/>
                  <a:sym typeface="Arial"/>
                </a:rPr>
                <a:t>Backup &amp; Recovery  •  Sao lưu, khôi phục</a:t>
              </a:r>
            </a:p>
          </p:txBody>
        </p:sp>
      </p:grpSp>
      <p:grpSp>
        <p:nvGrpSpPr>
          <p:cNvPr name="Group 57" id="57"/>
          <p:cNvGrpSpPr/>
          <p:nvPr/>
        </p:nvGrpSpPr>
        <p:grpSpPr>
          <a:xfrm rot="0">
            <a:off x="9710928" y="5678424"/>
            <a:ext cx="6720840" cy="521208"/>
            <a:chOff x="0" y="0"/>
            <a:chExt cx="8961120" cy="694944"/>
          </a:xfrm>
        </p:grpSpPr>
        <p:sp>
          <p:nvSpPr>
            <p:cNvPr name="Freeform 58" id="58"/>
            <p:cNvSpPr/>
            <p:nvPr/>
          </p:nvSpPr>
          <p:spPr>
            <a:xfrm flipH="false" flipV="false" rot="0">
              <a:off x="0" y="0"/>
              <a:ext cx="8961120" cy="694944"/>
            </a:xfrm>
            <a:custGeom>
              <a:avLst/>
              <a:gdLst/>
              <a:ahLst/>
              <a:cxnLst/>
              <a:rect r="r" b="b" t="t" l="l"/>
              <a:pathLst>
                <a:path h="694944" w="8961120">
                  <a:moveTo>
                    <a:pt x="0" y="0"/>
                  </a:moveTo>
                  <a:lnTo>
                    <a:pt x="8961120" y="0"/>
                  </a:lnTo>
                  <a:lnTo>
                    <a:pt x="8961120" y="694944"/>
                  </a:lnTo>
                  <a:lnTo>
                    <a:pt x="0" y="694944"/>
                  </a:lnTo>
                  <a:close/>
                </a:path>
              </a:pathLst>
            </a:custGeom>
            <a:blipFill>
              <a:blip r:embed="rId3">
                <a:alphaModFix amt="0"/>
              </a:blip>
              <a:stretch>
                <a:fillRect l="0" t="-201254" r="0" b="-201254"/>
              </a:stretch>
            </a:blipFill>
          </p:spPr>
        </p:sp>
        <p:sp>
          <p:nvSpPr>
            <p:cNvPr name="TextBox 59" id="59"/>
            <p:cNvSpPr txBox="true"/>
            <p:nvPr/>
          </p:nvSpPr>
          <p:spPr>
            <a:xfrm>
              <a:off x="0" y="-9525"/>
              <a:ext cx="8961120" cy="704469"/>
            </a:xfrm>
            <a:prstGeom prst="rect">
              <a:avLst/>
            </a:prstGeom>
          </p:spPr>
          <p:txBody>
            <a:bodyPr anchor="ctr" rtlCol="false" tIns="0" lIns="0" bIns="0" rIns="0"/>
            <a:lstStyle/>
            <a:p>
              <a:pPr algn="l">
                <a:lnSpc>
                  <a:spcPts val="2447"/>
                </a:lnSpc>
              </a:pPr>
              <a:r>
                <a:rPr lang="en-US" sz="2039">
                  <a:solidFill>
                    <a:srgbClr val="D4EDF0"/>
                  </a:solidFill>
                  <a:latin typeface="Arial"/>
                  <a:ea typeface="Arial"/>
                  <a:cs typeface="Arial"/>
                  <a:sym typeface="Arial"/>
                </a:rPr>
                <a:t>System Hardening  •  Gia cố hệ thống</a:t>
              </a:r>
            </a:p>
          </p:txBody>
        </p:sp>
      </p:grpSp>
      <p:grpSp>
        <p:nvGrpSpPr>
          <p:cNvPr name="Group 60" id="60"/>
          <p:cNvGrpSpPr/>
          <p:nvPr/>
        </p:nvGrpSpPr>
        <p:grpSpPr>
          <a:xfrm rot="0">
            <a:off x="9710928" y="6460236"/>
            <a:ext cx="6720840" cy="521208"/>
            <a:chOff x="0" y="0"/>
            <a:chExt cx="8961120" cy="694944"/>
          </a:xfrm>
        </p:grpSpPr>
        <p:sp>
          <p:nvSpPr>
            <p:cNvPr name="Freeform 61" id="61"/>
            <p:cNvSpPr/>
            <p:nvPr/>
          </p:nvSpPr>
          <p:spPr>
            <a:xfrm flipH="false" flipV="false" rot="0">
              <a:off x="0" y="0"/>
              <a:ext cx="8961120" cy="694944"/>
            </a:xfrm>
            <a:custGeom>
              <a:avLst/>
              <a:gdLst/>
              <a:ahLst/>
              <a:cxnLst/>
              <a:rect r="r" b="b" t="t" l="l"/>
              <a:pathLst>
                <a:path h="694944" w="8961120">
                  <a:moveTo>
                    <a:pt x="0" y="0"/>
                  </a:moveTo>
                  <a:lnTo>
                    <a:pt x="8961120" y="0"/>
                  </a:lnTo>
                  <a:lnTo>
                    <a:pt x="8961120" y="694944"/>
                  </a:lnTo>
                  <a:lnTo>
                    <a:pt x="0" y="694944"/>
                  </a:lnTo>
                  <a:close/>
                </a:path>
              </a:pathLst>
            </a:custGeom>
            <a:blipFill>
              <a:blip r:embed="rId3">
                <a:alphaModFix amt="0"/>
              </a:blip>
              <a:stretch>
                <a:fillRect l="0" t="-201254" r="0" b="-201254"/>
              </a:stretch>
            </a:blipFill>
          </p:spPr>
        </p:sp>
        <p:sp>
          <p:nvSpPr>
            <p:cNvPr name="TextBox 62" id="62"/>
            <p:cNvSpPr txBox="true"/>
            <p:nvPr/>
          </p:nvSpPr>
          <p:spPr>
            <a:xfrm>
              <a:off x="0" y="-9525"/>
              <a:ext cx="8961120" cy="704469"/>
            </a:xfrm>
            <a:prstGeom prst="rect">
              <a:avLst/>
            </a:prstGeom>
          </p:spPr>
          <p:txBody>
            <a:bodyPr anchor="ctr" rtlCol="false" tIns="0" lIns="0" bIns="0" rIns="0"/>
            <a:lstStyle/>
            <a:p>
              <a:pPr algn="l">
                <a:lnSpc>
                  <a:spcPts val="2447"/>
                </a:lnSpc>
              </a:pPr>
              <a:r>
                <a:rPr lang="en-US" sz="2039">
                  <a:solidFill>
                    <a:srgbClr val="D4EDF0"/>
                  </a:solidFill>
                  <a:latin typeface="Arial"/>
                  <a:ea typeface="Arial"/>
                  <a:cs typeface="Arial"/>
                  <a:sym typeface="Arial"/>
                </a:rPr>
                <a:t>Security Monitoring  •  Giám sát</a:t>
              </a:r>
            </a:p>
          </p:txBody>
        </p:sp>
      </p:grpSp>
      <p:grpSp>
        <p:nvGrpSpPr>
          <p:cNvPr name="Group 63" id="63"/>
          <p:cNvGrpSpPr/>
          <p:nvPr/>
        </p:nvGrpSpPr>
        <p:grpSpPr>
          <a:xfrm rot="0">
            <a:off x="1254252" y="8317992"/>
            <a:ext cx="15720060" cy="605028"/>
            <a:chOff x="0" y="0"/>
            <a:chExt cx="20960080" cy="806704"/>
          </a:xfrm>
        </p:grpSpPr>
        <p:sp>
          <p:nvSpPr>
            <p:cNvPr name="Freeform 64" id="64"/>
            <p:cNvSpPr/>
            <p:nvPr/>
          </p:nvSpPr>
          <p:spPr>
            <a:xfrm flipH="false" flipV="false" rot="0">
              <a:off x="0" y="0"/>
              <a:ext cx="20960080" cy="806704"/>
            </a:xfrm>
            <a:custGeom>
              <a:avLst/>
              <a:gdLst/>
              <a:ahLst/>
              <a:cxnLst/>
              <a:rect r="r" b="b" t="t" l="l"/>
              <a:pathLst>
                <a:path h="806704" w="20960080">
                  <a:moveTo>
                    <a:pt x="0" y="225171"/>
                  </a:moveTo>
                  <a:cubicBezTo>
                    <a:pt x="0" y="100838"/>
                    <a:pt x="100838" y="0"/>
                    <a:pt x="225171" y="0"/>
                  </a:cubicBezTo>
                  <a:lnTo>
                    <a:pt x="20734910" y="0"/>
                  </a:lnTo>
                  <a:cubicBezTo>
                    <a:pt x="20859243" y="0"/>
                    <a:pt x="20960080" y="100838"/>
                    <a:pt x="20960080" y="225171"/>
                  </a:cubicBezTo>
                  <a:lnTo>
                    <a:pt x="20960080" y="581533"/>
                  </a:lnTo>
                  <a:cubicBezTo>
                    <a:pt x="20960080" y="705866"/>
                    <a:pt x="20859243" y="806704"/>
                    <a:pt x="20734910" y="806704"/>
                  </a:cubicBezTo>
                  <a:lnTo>
                    <a:pt x="225171" y="806704"/>
                  </a:lnTo>
                  <a:cubicBezTo>
                    <a:pt x="100838" y="806704"/>
                    <a:pt x="0" y="705866"/>
                    <a:pt x="0" y="581533"/>
                  </a:cubicBezTo>
                  <a:close/>
                </a:path>
              </a:pathLst>
            </a:custGeom>
            <a:solidFill>
              <a:srgbClr val="EAF5F5"/>
            </a:solidFill>
            <a:ln w="15240" cap="sq">
              <a:solidFill>
                <a:srgbClr val="EAF5F5"/>
              </a:solidFill>
              <a:prstDash val="solid"/>
              <a:miter/>
            </a:ln>
          </p:spPr>
        </p:sp>
      </p:grpSp>
      <p:grpSp>
        <p:nvGrpSpPr>
          <p:cNvPr name="Group 65" id="65"/>
          <p:cNvGrpSpPr/>
          <p:nvPr/>
        </p:nvGrpSpPr>
        <p:grpSpPr>
          <a:xfrm rot="0">
            <a:off x="1522476" y="8449056"/>
            <a:ext cx="15128748" cy="342900"/>
            <a:chOff x="0" y="0"/>
            <a:chExt cx="20171664" cy="457200"/>
          </a:xfrm>
        </p:grpSpPr>
        <p:sp>
          <p:nvSpPr>
            <p:cNvPr name="Freeform 66" id="66"/>
            <p:cNvSpPr/>
            <p:nvPr/>
          </p:nvSpPr>
          <p:spPr>
            <a:xfrm flipH="false" flipV="false" rot="0">
              <a:off x="0" y="0"/>
              <a:ext cx="20171665" cy="457200"/>
            </a:xfrm>
            <a:custGeom>
              <a:avLst/>
              <a:gdLst/>
              <a:ahLst/>
              <a:cxnLst/>
              <a:rect r="r" b="b" t="t" l="l"/>
              <a:pathLst>
                <a:path h="457200" w="20171665">
                  <a:moveTo>
                    <a:pt x="0" y="0"/>
                  </a:moveTo>
                  <a:lnTo>
                    <a:pt x="20171665" y="0"/>
                  </a:lnTo>
                  <a:lnTo>
                    <a:pt x="20171665" y="457200"/>
                  </a:lnTo>
                  <a:lnTo>
                    <a:pt x="0" y="457200"/>
                  </a:lnTo>
                  <a:close/>
                </a:path>
              </a:pathLst>
            </a:custGeom>
            <a:blipFill>
              <a:blip r:embed="rId3">
                <a:alphaModFix amt="0"/>
              </a:blip>
              <a:stretch>
                <a:fillRect l="0" t="-809679" r="0" b="-809679"/>
              </a:stretch>
            </a:blipFill>
          </p:spPr>
        </p:sp>
        <p:sp>
          <p:nvSpPr>
            <p:cNvPr name="TextBox 67" id="67"/>
            <p:cNvSpPr txBox="true"/>
            <p:nvPr/>
          </p:nvSpPr>
          <p:spPr>
            <a:xfrm>
              <a:off x="0" y="-19050"/>
              <a:ext cx="20171664" cy="476250"/>
            </a:xfrm>
            <a:prstGeom prst="rect">
              <a:avLst/>
            </a:prstGeom>
          </p:spPr>
          <p:txBody>
            <a:bodyPr anchor="ctr" rtlCol="false" tIns="0" lIns="0" bIns="0" rIns="0"/>
            <a:lstStyle/>
            <a:p>
              <a:pPr algn="ctr">
                <a:lnSpc>
                  <a:spcPts val="2340"/>
                </a:lnSpc>
              </a:pPr>
              <a:r>
                <a:rPr lang="en-US" sz="1950" b="true">
                  <a:solidFill>
                    <a:srgbClr val="137E82"/>
                  </a:solidFill>
                  <a:latin typeface="Arial Bold"/>
                  <a:ea typeface="Arial Bold"/>
                  <a:cs typeface="Arial Bold"/>
                  <a:sym typeface="Arial Bold"/>
                </a:rPr>
                <a:t>Appendix B: OP.5 — Access Administration = quản trị, cấp/thu hồi và rà soát quyền truy cập.</a:t>
              </a:r>
            </a:p>
          </p:txBody>
        </p:sp>
      </p:gr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5F8FB"/>
        </a:solidFill>
      </p:bgPr>
    </p:bg>
    <p:spTree>
      <p:nvGrpSpPr>
        <p:cNvPr id="1" name=""/>
        <p:cNvGrpSpPr/>
        <p:nvPr/>
      </p:nvGrpSpPr>
      <p:grpSpPr>
        <a:xfrm>
          <a:off x="0" y="0"/>
          <a:ext cx="0" cy="0"/>
          <a:chOff x="0" y="0"/>
          <a:chExt cx="0" cy="0"/>
        </a:xfrm>
      </p:grpSpPr>
      <p:grpSp>
        <p:nvGrpSpPr>
          <p:cNvPr name="Group 2" id="2"/>
          <p:cNvGrpSpPr/>
          <p:nvPr/>
        </p:nvGrpSpPr>
        <p:grpSpPr>
          <a:xfrm rot="0">
            <a:off x="-9525" y="-9525"/>
            <a:ext cx="163068" cy="10306050"/>
            <a:chOff x="0" y="0"/>
            <a:chExt cx="217424" cy="13741400"/>
          </a:xfrm>
        </p:grpSpPr>
        <p:sp>
          <p:nvSpPr>
            <p:cNvPr name="Freeform 3" id="3"/>
            <p:cNvSpPr/>
            <p:nvPr/>
          </p:nvSpPr>
          <p:spPr>
            <a:xfrm flipH="false" flipV="false" rot="0">
              <a:off x="0" y="0"/>
              <a:ext cx="217424" cy="13741400"/>
            </a:xfrm>
            <a:custGeom>
              <a:avLst/>
              <a:gdLst/>
              <a:ahLst/>
              <a:cxnLst/>
              <a:rect r="r" b="b" t="t" l="l"/>
              <a:pathLst>
                <a:path h="13741400" w="217424">
                  <a:moveTo>
                    <a:pt x="0" y="0"/>
                  </a:moveTo>
                  <a:lnTo>
                    <a:pt x="217424" y="0"/>
                  </a:lnTo>
                  <a:lnTo>
                    <a:pt x="217424" y="13741400"/>
                  </a:lnTo>
                  <a:lnTo>
                    <a:pt x="0" y="13741400"/>
                  </a:lnTo>
                  <a:close/>
                </a:path>
              </a:pathLst>
            </a:custGeom>
            <a:solidFill>
              <a:srgbClr val="137E82"/>
            </a:solidFill>
          </p:spPr>
        </p:sp>
      </p:grpSp>
      <p:grpSp>
        <p:nvGrpSpPr>
          <p:cNvPr name="Group 4" id="4"/>
          <p:cNvGrpSpPr/>
          <p:nvPr/>
        </p:nvGrpSpPr>
        <p:grpSpPr>
          <a:xfrm rot="0">
            <a:off x="987552" y="329184"/>
            <a:ext cx="15087600" cy="342900"/>
            <a:chOff x="0" y="0"/>
            <a:chExt cx="20116800" cy="457200"/>
          </a:xfrm>
        </p:grpSpPr>
        <p:sp>
          <p:nvSpPr>
            <p:cNvPr name="Freeform 5" id="5"/>
            <p:cNvSpPr/>
            <p:nvPr/>
          </p:nvSpPr>
          <p:spPr>
            <a:xfrm flipH="false" flipV="false" rot="0">
              <a:off x="0" y="0"/>
              <a:ext cx="20116800" cy="457200"/>
            </a:xfrm>
            <a:custGeom>
              <a:avLst/>
              <a:gdLst/>
              <a:ahLst/>
              <a:cxnLst/>
              <a:rect r="r" b="b" t="t" l="l"/>
              <a:pathLst>
                <a:path h="457200" w="20116800">
                  <a:moveTo>
                    <a:pt x="0" y="0"/>
                  </a:moveTo>
                  <a:lnTo>
                    <a:pt x="20116800" y="0"/>
                  </a:lnTo>
                  <a:lnTo>
                    <a:pt x="20116800" y="457200"/>
                  </a:lnTo>
                  <a:lnTo>
                    <a:pt x="0" y="457200"/>
                  </a:lnTo>
                  <a:close/>
                </a:path>
              </a:pathLst>
            </a:custGeom>
            <a:blipFill>
              <a:blip r:embed="rId3">
                <a:alphaModFix amt="0"/>
              </a:blip>
              <a:stretch>
                <a:fillRect l="0" t="-807341" r="0" b="-807341"/>
              </a:stretch>
            </a:blipFill>
          </p:spPr>
        </p:sp>
        <p:sp>
          <p:nvSpPr>
            <p:cNvPr name="TextBox 6" id="6"/>
            <p:cNvSpPr txBox="true"/>
            <p:nvPr/>
          </p:nvSpPr>
          <p:spPr>
            <a:xfrm>
              <a:off x="0" y="-9525"/>
              <a:ext cx="20116800" cy="466725"/>
            </a:xfrm>
            <a:prstGeom prst="rect">
              <a:avLst/>
            </a:prstGeom>
          </p:spPr>
          <p:txBody>
            <a:bodyPr anchor="ctr" rtlCol="false" tIns="0" lIns="0" bIns="0" rIns="0"/>
            <a:lstStyle/>
            <a:p>
              <a:pPr algn="l">
                <a:lnSpc>
                  <a:spcPts val="1745"/>
                </a:lnSpc>
              </a:pPr>
              <a:r>
                <a:rPr lang="en-US" b="true" sz="1455" spc="239">
                  <a:solidFill>
                    <a:srgbClr val="137E82"/>
                  </a:solidFill>
                  <a:latin typeface="Arial Bold"/>
                  <a:ea typeface="Arial Bold"/>
                  <a:cs typeface="Arial Bold"/>
                  <a:sym typeface="Arial Bold"/>
                </a:rPr>
                <a:t>CÔNG CỤ CỦA TÁC GIẢ</a:t>
              </a:r>
            </a:p>
          </p:txBody>
        </p:sp>
      </p:grpSp>
      <p:grpSp>
        <p:nvGrpSpPr>
          <p:cNvPr name="Group 7" id="7"/>
          <p:cNvGrpSpPr/>
          <p:nvPr/>
        </p:nvGrpSpPr>
        <p:grpSpPr>
          <a:xfrm rot="0">
            <a:off x="987552" y="946404"/>
            <a:ext cx="16459200" cy="781812"/>
            <a:chOff x="0" y="0"/>
            <a:chExt cx="21945600" cy="1042416"/>
          </a:xfrm>
        </p:grpSpPr>
        <p:sp>
          <p:nvSpPr>
            <p:cNvPr name="Freeform 8" id="8"/>
            <p:cNvSpPr/>
            <p:nvPr/>
          </p:nvSpPr>
          <p:spPr>
            <a:xfrm flipH="false" flipV="false" rot="0">
              <a:off x="0" y="0"/>
              <a:ext cx="21945600" cy="1042416"/>
            </a:xfrm>
            <a:custGeom>
              <a:avLst/>
              <a:gdLst/>
              <a:ahLst/>
              <a:cxnLst/>
              <a:rect r="r" b="b" t="t" l="l"/>
              <a:pathLst>
                <a:path h="1042416" w="21945600">
                  <a:moveTo>
                    <a:pt x="0" y="0"/>
                  </a:moveTo>
                  <a:lnTo>
                    <a:pt x="21945600" y="0"/>
                  </a:lnTo>
                  <a:lnTo>
                    <a:pt x="21945600" y="1042416"/>
                  </a:lnTo>
                  <a:lnTo>
                    <a:pt x="0" y="1042416"/>
                  </a:lnTo>
                  <a:close/>
                </a:path>
              </a:pathLst>
            </a:custGeom>
            <a:blipFill>
              <a:blip r:embed="rId3">
                <a:alphaModFix amt="0"/>
              </a:blip>
              <a:stretch>
                <a:fillRect l="0" t="-360211" r="0" b="-360211"/>
              </a:stretch>
            </a:blipFill>
          </p:spPr>
        </p:sp>
        <p:sp>
          <p:nvSpPr>
            <p:cNvPr name="TextBox 9" id="9"/>
            <p:cNvSpPr txBox="true"/>
            <p:nvPr/>
          </p:nvSpPr>
          <p:spPr>
            <a:xfrm>
              <a:off x="0" y="-28575"/>
              <a:ext cx="21945600" cy="1070991"/>
            </a:xfrm>
            <a:prstGeom prst="rect">
              <a:avLst/>
            </a:prstGeom>
          </p:spPr>
          <p:txBody>
            <a:bodyPr anchor="ctr" rtlCol="false" tIns="0" lIns="0" bIns="0" rIns="0"/>
            <a:lstStyle/>
            <a:p>
              <a:pPr algn="l">
                <a:lnSpc>
                  <a:spcPts val="4410"/>
                </a:lnSpc>
              </a:pPr>
              <a:r>
                <a:rPr lang="en-US" sz="3675" b="true">
                  <a:solidFill>
                    <a:srgbClr val="12304C"/>
                  </a:solidFill>
                  <a:latin typeface="Arial Bold"/>
                  <a:ea typeface="Arial Bold"/>
                  <a:cs typeface="Arial Bold"/>
                  <a:sym typeface="Arial Bold"/>
                </a:rPr>
                <a:t>CSMPA | Figure 2: Maturity</a:t>
              </a:r>
            </a:p>
          </p:txBody>
        </p:sp>
      </p:grpSp>
      <p:grpSp>
        <p:nvGrpSpPr>
          <p:cNvPr name="Group 10" id="10"/>
          <p:cNvGrpSpPr/>
          <p:nvPr/>
        </p:nvGrpSpPr>
        <p:grpSpPr>
          <a:xfrm rot="0">
            <a:off x="1014984" y="1796796"/>
            <a:ext cx="16322040" cy="480060"/>
            <a:chOff x="0" y="0"/>
            <a:chExt cx="21762720" cy="640080"/>
          </a:xfrm>
        </p:grpSpPr>
        <p:sp>
          <p:nvSpPr>
            <p:cNvPr name="Freeform 11" id="11"/>
            <p:cNvSpPr/>
            <p:nvPr/>
          </p:nvSpPr>
          <p:spPr>
            <a:xfrm flipH="false" flipV="false" rot="0">
              <a:off x="0" y="0"/>
              <a:ext cx="21762720" cy="640080"/>
            </a:xfrm>
            <a:custGeom>
              <a:avLst/>
              <a:gdLst/>
              <a:ahLst/>
              <a:cxnLst/>
              <a:rect r="r" b="b" t="t" l="l"/>
              <a:pathLst>
                <a:path h="640080" w="21762720">
                  <a:moveTo>
                    <a:pt x="0" y="0"/>
                  </a:moveTo>
                  <a:lnTo>
                    <a:pt x="21762720" y="0"/>
                  </a:lnTo>
                  <a:lnTo>
                    <a:pt x="21762720" y="640080"/>
                  </a:lnTo>
                  <a:lnTo>
                    <a:pt x="0" y="640080"/>
                  </a:lnTo>
                  <a:close/>
                </a:path>
              </a:pathLst>
            </a:custGeom>
            <a:blipFill>
              <a:blip r:embed="rId3">
                <a:alphaModFix amt="0"/>
              </a:blip>
              <a:stretch>
                <a:fillRect l="0" t="-612491" r="0" b="-612491"/>
              </a:stretch>
            </a:blipFill>
          </p:spPr>
        </p:sp>
        <p:sp>
          <p:nvSpPr>
            <p:cNvPr name="TextBox 12" id="12"/>
            <p:cNvSpPr txBox="true"/>
            <p:nvPr/>
          </p:nvSpPr>
          <p:spPr>
            <a:xfrm>
              <a:off x="0" y="-19050"/>
              <a:ext cx="21762720" cy="659130"/>
            </a:xfrm>
            <a:prstGeom prst="rect">
              <a:avLst/>
            </a:prstGeom>
          </p:spPr>
          <p:txBody>
            <a:bodyPr anchor="ctr" rtlCol="false" tIns="0" lIns="0" bIns="0" rIns="0"/>
            <a:lstStyle/>
            <a:p>
              <a:pPr algn="l">
                <a:lnSpc>
                  <a:spcPts val="2322"/>
                </a:lnSpc>
              </a:pPr>
              <a:r>
                <a:rPr lang="en-US" sz="1935">
                  <a:solidFill>
                    <a:srgbClr val="50677D"/>
                  </a:solidFill>
                  <a:latin typeface="Arial"/>
                  <a:ea typeface="Arial"/>
                  <a:cs typeface="Arial"/>
                  <a:sym typeface="Arial"/>
                </a:rPr>
                <a:t>Maturity = mức trưởng thành của quy trình quản trị bảo mật</a:t>
              </a:r>
            </a:p>
          </p:txBody>
        </p:sp>
      </p:grpSp>
      <p:sp>
        <p:nvSpPr>
          <p:cNvPr name="AutoShape 13" id="13"/>
          <p:cNvSpPr/>
          <p:nvPr/>
        </p:nvSpPr>
        <p:spPr>
          <a:xfrm rot="4020">
            <a:off x="991733" y="9692450"/>
            <a:ext cx="16272520" cy="0"/>
          </a:xfrm>
          <a:prstGeom prst="line">
            <a:avLst/>
          </a:prstGeom>
          <a:ln cap="rnd" w="9525">
            <a:solidFill>
              <a:srgbClr val="DEE7EE"/>
            </a:solidFill>
            <a:prstDash val="solid"/>
            <a:headEnd type="none" len="sm" w="sm"/>
            <a:tailEnd type="none" len="sm" w="sm"/>
          </a:ln>
        </p:spPr>
      </p:sp>
      <p:grpSp>
        <p:nvGrpSpPr>
          <p:cNvPr name="Group 14" id="14"/>
          <p:cNvGrpSpPr/>
          <p:nvPr/>
        </p:nvGrpSpPr>
        <p:grpSpPr>
          <a:xfrm rot="0">
            <a:off x="1014984" y="9779508"/>
            <a:ext cx="14703552" cy="274320"/>
            <a:chOff x="0" y="0"/>
            <a:chExt cx="19604736" cy="365760"/>
          </a:xfrm>
        </p:grpSpPr>
        <p:sp>
          <p:nvSpPr>
            <p:cNvPr name="Freeform 15" id="15"/>
            <p:cNvSpPr/>
            <p:nvPr/>
          </p:nvSpPr>
          <p:spPr>
            <a:xfrm flipH="false" flipV="false" rot="0">
              <a:off x="0" y="0"/>
              <a:ext cx="19604737" cy="365760"/>
            </a:xfrm>
            <a:custGeom>
              <a:avLst/>
              <a:gdLst/>
              <a:ahLst/>
              <a:cxnLst/>
              <a:rect r="r" b="b" t="t" l="l"/>
              <a:pathLst>
                <a:path h="365760" w="19604737">
                  <a:moveTo>
                    <a:pt x="0" y="0"/>
                  </a:moveTo>
                  <a:lnTo>
                    <a:pt x="19604737" y="0"/>
                  </a:lnTo>
                  <a:lnTo>
                    <a:pt x="19604737" y="365760"/>
                  </a:lnTo>
                  <a:lnTo>
                    <a:pt x="0" y="365760"/>
                  </a:lnTo>
                  <a:close/>
                </a:path>
              </a:pathLst>
            </a:custGeom>
            <a:blipFill>
              <a:blip r:embed="rId3">
                <a:alphaModFix amt="0"/>
              </a:blip>
              <a:stretch>
                <a:fillRect l="0" t="-994398" r="0" b="-994398"/>
              </a:stretch>
            </a:blipFill>
          </p:spPr>
        </p:sp>
        <p:sp>
          <p:nvSpPr>
            <p:cNvPr name="TextBox 16" id="16"/>
            <p:cNvSpPr txBox="true"/>
            <p:nvPr/>
          </p:nvSpPr>
          <p:spPr>
            <a:xfrm>
              <a:off x="0" y="-9525"/>
              <a:ext cx="19604736" cy="375285"/>
            </a:xfrm>
            <a:prstGeom prst="rect">
              <a:avLst/>
            </a:prstGeom>
          </p:spPr>
          <p:txBody>
            <a:bodyPr anchor="ctr" rtlCol="false" tIns="0" lIns="0" bIns="0" rIns="0"/>
            <a:lstStyle/>
            <a:p>
              <a:pPr algn="l">
                <a:lnSpc>
                  <a:spcPts val="1494"/>
                </a:lnSpc>
              </a:pPr>
              <a:r>
                <a:rPr lang="en-US" sz="1245">
                  <a:solidFill>
                    <a:srgbClr val="50677D"/>
                  </a:solidFill>
                  <a:latin typeface="Arial"/>
                  <a:ea typeface="Arial"/>
                  <a:cs typeface="Arial"/>
                  <a:sym typeface="Arial"/>
                </a:rPr>
                <a:t>Liu và cộng sự (2025)  |  doi.org/10.1093/cybsec/tyaf020</a:t>
              </a:r>
            </a:p>
          </p:txBody>
        </p:sp>
      </p:grpSp>
      <p:grpSp>
        <p:nvGrpSpPr>
          <p:cNvPr name="Group 17" id="17"/>
          <p:cNvGrpSpPr/>
          <p:nvPr/>
        </p:nvGrpSpPr>
        <p:grpSpPr>
          <a:xfrm rot="0">
            <a:off x="16184880" y="9779508"/>
            <a:ext cx="1001268" cy="274320"/>
            <a:chOff x="0" y="0"/>
            <a:chExt cx="1335024" cy="365760"/>
          </a:xfrm>
        </p:grpSpPr>
        <p:sp>
          <p:nvSpPr>
            <p:cNvPr name="Freeform 18" id="18"/>
            <p:cNvSpPr/>
            <p:nvPr/>
          </p:nvSpPr>
          <p:spPr>
            <a:xfrm flipH="false" flipV="false" rot="0">
              <a:off x="0" y="0"/>
              <a:ext cx="1335024" cy="365760"/>
            </a:xfrm>
            <a:custGeom>
              <a:avLst/>
              <a:gdLst/>
              <a:ahLst/>
              <a:cxnLst/>
              <a:rect r="r" b="b" t="t" l="l"/>
              <a:pathLst>
                <a:path h="365760" w="1335024">
                  <a:moveTo>
                    <a:pt x="0" y="0"/>
                  </a:moveTo>
                  <a:lnTo>
                    <a:pt x="1335024" y="0"/>
                  </a:lnTo>
                  <a:lnTo>
                    <a:pt x="1335024" y="365760"/>
                  </a:lnTo>
                  <a:lnTo>
                    <a:pt x="0" y="365760"/>
                  </a:lnTo>
                  <a:close/>
                </a:path>
              </a:pathLst>
            </a:custGeom>
            <a:blipFill>
              <a:blip r:embed="rId3">
                <a:alphaModFix amt="0"/>
              </a:blip>
              <a:stretch>
                <a:fillRect l="0" t="-21120" r="0" b="-21120"/>
              </a:stretch>
            </a:blipFill>
          </p:spPr>
        </p:sp>
        <p:sp>
          <p:nvSpPr>
            <p:cNvPr name="TextBox 19" id="19"/>
            <p:cNvSpPr txBox="true"/>
            <p:nvPr/>
          </p:nvSpPr>
          <p:spPr>
            <a:xfrm>
              <a:off x="0" y="-9525"/>
              <a:ext cx="1335024" cy="375285"/>
            </a:xfrm>
            <a:prstGeom prst="rect">
              <a:avLst/>
            </a:prstGeom>
          </p:spPr>
          <p:txBody>
            <a:bodyPr anchor="ctr" rtlCol="false" tIns="0" lIns="0" bIns="0" rIns="0"/>
            <a:lstStyle/>
            <a:p>
              <a:pPr algn="r">
                <a:lnSpc>
                  <a:spcPts val="1494"/>
                </a:lnSpc>
              </a:pPr>
              <a:r>
                <a:rPr lang="en-US" sz="1245">
                  <a:solidFill>
                    <a:srgbClr val="50677D"/>
                  </a:solidFill>
                  <a:latin typeface="Arial"/>
                  <a:ea typeface="Arial"/>
                  <a:cs typeface="Arial"/>
                  <a:sym typeface="Arial"/>
                </a:rPr>
                <a:t>09 / 14</a:t>
              </a:r>
            </a:p>
          </p:txBody>
        </p:sp>
      </p:grpSp>
      <p:grpSp>
        <p:nvGrpSpPr>
          <p:cNvPr name="Group 20" id="20"/>
          <p:cNvGrpSpPr/>
          <p:nvPr/>
        </p:nvGrpSpPr>
        <p:grpSpPr>
          <a:xfrm rot="0">
            <a:off x="1171956" y="2735580"/>
            <a:ext cx="10988040" cy="5049012"/>
            <a:chOff x="0" y="0"/>
            <a:chExt cx="14650720" cy="6732016"/>
          </a:xfrm>
        </p:grpSpPr>
        <p:sp>
          <p:nvSpPr>
            <p:cNvPr name="Freeform 21" id="21"/>
            <p:cNvSpPr/>
            <p:nvPr/>
          </p:nvSpPr>
          <p:spPr>
            <a:xfrm flipH="false" flipV="false" rot="0">
              <a:off x="0" y="0"/>
              <a:ext cx="14650720" cy="6732016"/>
            </a:xfrm>
            <a:custGeom>
              <a:avLst/>
              <a:gdLst/>
              <a:ahLst/>
              <a:cxnLst/>
              <a:rect r="r" b="b" t="t" l="l"/>
              <a:pathLst>
                <a:path h="6732016" w="14650720">
                  <a:moveTo>
                    <a:pt x="0" y="220091"/>
                  </a:moveTo>
                  <a:cubicBezTo>
                    <a:pt x="0" y="98552"/>
                    <a:pt x="98552" y="0"/>
                    <a:pt x="220091" y="0"/>
                  </a:cubicBezTo>
                  <a:lnTo>
                    <a:pt x="14430629" y="0"/>
                  </a:lnTo>
                  <a:cubicBezTo>
                    <a:pt x="14552168" y="0"/>
                    <a:pt x="14650720" y="98552"/>
                    <a:pt x="14650720" y="220091"/>
                  </a:cubicBezTo>
                  <a:lnTo>
                    <a:pt x="14650720" y="6511925"/>
                  </a:lnTo>
                  <a:cubicBezTo>
                    <a:pt x="14650720" y="6633464"/>
                    <a:pt x="14552168" y="6732016"/>
                    <a:pt x="14430629" y="6732016"/>
                  </a:cubicBezTo>
                  <a:lnTo>
                    <a:pt x="220091" y="6732016"/>
                  </a:lnTo>
                  <a:cubicBezTo>
                    <a:pt x="98552" y="6732016"/>
                    <a:pt x="0" y="6633464"/>
                    <a:pt x="0" y="6511925"/>
                  </a:cubicBezTo>
                  <a:close/>
                </a:path>
              </a:pathLst>
            </a:custGeom>
            <a:solidFill>
              <a:srgbClr val="FFFFFF"/>
            </a:solidFill>
            <a:ln w="15240" cap="sq">
              <a:solidFill>
                <a:srgbClr val="DEE7EE"/>
              </a:solidFill>
              <a:prstDash val="solid"/>
              <a:miter/>
            </a:ln>
          </p:spPr>
        </p:sp>
      </p:grpSp>
      <p:grpSp>
        <p:nvGrpSpPr>
          <p:cNvPr name="Group 22" id="22"/>
          <p:cNvGrpSpPr/>
          <p:nvPr/>
        </p:nvGrpSpPr>
        <p:grpSpPr>
          <a:xfrm rot="0">
            <a:off x="1918116" y="3072384"/>
            <a:ext cx="9550575" cy="4279392"/>
            <a:chOff x="0" y="0"/>
            <a:chExt cx="12734100" cy="5705856"/>
          </a:xfrm>
        </p:grpSpPr>
        <p:sp>
          <p:nvSpPr>
            <p:cNvPr name="Freeform 23" id="23" descr="/mnt/data/dt015_ppt_build/DT015_Bo_chuan_bi/sources/figure_2.jpeg"/>
            <p:cNvSpPr/>
            <p:nvPr/>
          </p:nvSpPr>
          <p:spPr>
            <a:xfrm flipH="false" flipV="false" rot="0">
              <a:off x="0" y="0"/>
              <a:ext cx="12734163" cy="5705856"/>
            </a:xfrm>
            <a:custGeom>
              <a:avLst/>
              <a:gdLst/>
              <a:ahLst/>
              <a:cxnLst/>
              <a:rect r="r" b="b" t="t" l="l"/>
              <a:pathLst>
                <a:path h="5705856" w="12734163">
                  <a:moveTo>
                    <a:pt x="0" y="0"/>
                  </a:moveTo>
                  <a:lnTo>
                    <a:pt x="12734163" y="0"/>
                  </a:lnTo>
                  <a:lnTo>
                    <a:pt x="12734163" y="5705856"/>
                  </a:lnTo>
                  <a:lnTo>
                    <a:pt x="0" y="5705856"/>
                  </a:lnTo>
                  <a:lnTo>
                    <a:pt x="0" y="0"/>
                  </a:lnTo>
                  <a:close/>
                </a:path>
              </a:pathLst>
            </a:custGeom>
            <a:blipFill>
              <a:blip r:embed="rId4"/>
              <a:stretch>
                <a:fillRect l="0" t="0" r="0" b="0"/>
              </a:stretch>
            </a:blipFill>
          </p:spPr>
        </p:sp>
      </p:grpSp>
      <p:grpSp>
        <p:nvGrpSpPr>
          <p:cNvPr name="Group 24" id="24"/>
          <p:cNvGrpSpPr/>
          <p:nvPr/>
        </p:nvGrpSpPr>
        <p:grpSpPr>
          <a:xfrm rot="0">
            <a:off x="12432792" y="2735580"/>
            <a:ext cx="4706112" cy="5049012"/>
            <a:chOff x="0" y="0"/>
            <a:chExt cx="6274816" cy="6732016"/>
          </a:xfrm>
        </p:grpSpPr>
        <p:sp>
          <p:nvSpPr>
            <p:cNvPr name="Freeform 25" id="25"/>
            <p:cNvSpPr/>
            <p:nvPr/>
          </p:nvSpPr>
          <p:spPr>
            <a:xfrm flipH="false" flipV="false" rot="0">
              <a:off x="0" y="0"/>
              <a:ext cx="6274816" cy="6732016"/>
            </a:xfrm>
            <a:custGeom>
              <a:avLst/>
              <a:gdLst/>
              <a:ahLst/>
              <a:cxnLst/>
              <a:rect r="r" b="b" t="t" l="l"/>
              <a:pathLst>
                <a:path h="6732016" w="6274816">
                  <a:moveTo>
                    <a:pt x="0" y="220218"/>
                  </a:moveTo>
                  <a:cubicBezTo>
                    <a:pt x="0" y="98552"/>
                    <a:pt x="98552" y="0"/>
                    <a:pt x="220218" y="0"/>
                  </a:cubicBezTo>
                  <a:lnTo>
                    <a:pt x="6054598" y="0"/>
                  </a:lnTo>
                  <a:cubicBezTo>
                    <a:pt x="6176264" y="0"/>
                    <a:pt x="6274816" y="98552"/>
                    <a:pt x="6274816" y="220218"/>
                  </a:cubicBezTo>
                  <a:lnTo>
                    <a:pt x="6274816" y="6511798"/>
                  </a:lnTo>
                  <a:cubicBezTo>
                    <a:pt x="6274816" y="6633464"/>
                    <a:pt x="6176264" y="6732016"/>
                    <a:pt x="6054598" y="6732016"/>
                  </a:cubicBezTo>
                  <a:lnTo>
                    <a:pt x="220218" y="6732016"/>
                  </a:lnTo>
                  <a:cubicBezTo>
                    <a:pt x="98552" y="6732016"/>
                    <a:pt x="0" y="6633464"/>
                    <a:pt x="0" y="6511798"/>
                  </a:cubicBezTo>
                  <a:close/>
                </a:path>
              </a:pathLst>
            </a:custGeom>
            <a:solidFill>
              <a:srgbClr val="12304C"/>
            </a:solidFill>
            <a:ln w="15240" cap="sq">
              <a:solidFill>
                <a:srgbClr val="12304C"/>
              </a:solidFill>
              <a:prstDash val="solid"/>
              <a:miter/>
            </a:ln>
          </p:spPr>
        </p:sp>
      </p:grpSp>
      <p:grpSp>
        <p:nvGrpSpPr>
          <p:cNvPr name="Group 26" id="26"/>
          <p:cNvGrpSpPr/>
          <p:nvPr/>
        </p:nvGrpSpPr>
        <p:grpSpPr>
          <a:xfrm rot="0">
            <a:off x="12810744" y="3113532"/>
            <a:ext cx="3950208" cy="493776"/>
            <a:chOff x="0" y="0"/>
            <a:chExt cx="5266944" cy="658368"/>
          </a:xfrm>
        </p:grpSpPr>
        <p:sp>
          <p:nvSpPr>
            <p:cNvPr name="Freeform 27" id="27"/>
            <p:cNvSpPr/>
            <p:nvPr/>
          </p:nvSpPr>
          <p:spPr>
            <a:xfrm flipH="false" flipV="false" rot="0">
              <a:off x="0" y="0"/>
              <a:ext cx="5266944" cy="658368"/>
            </a:xfrm>
            <a:custGeom>
              <a:avLst/>
              <a:gdLst/>
              <a:ahLst/>
              <a:cxnLst/>
              <a:rect r="r" b="b" t="t" l="l"/>
              <a:pathLst>
                <a:path h="658368" w="5266944">
                  <a:moveTo>
                    <a:pt x="0" y="0"/>
                  </a:moveTo>
                  <a:lnTo>
                    <a:pt x="5266944" y="0"/>
                  </a:lnTo>
                  <a:lnTo>
                    <a:pt x="5266944" y="658368"/>
                  </a:lnTo>
                  <a:lnTo>
                    <a:pt x="0" y="658368"/>
                  </a:lnTo>
                  <a:close/>
                </a:path>
              </a:pathLst>
            </a:custGeom>
            <a:blipFill>
              <a:blip r:embed="rId3">
                <a:alphaModFix amt="0"/>
              </a:blip>
              <a:stretch>
                <a:fillRect l="0" t="-105880" r="0" b="-105880"/>
              </a:stretch>
            </a:blipFill>
          </p:spPr>
        </p:sp>
        <p:sp>
          <p:nvSpPr>
            <p:cNvPr name="TextBox 28" id="28"/>
            <p:cNvSpPr txBox="true"/>
            <p:nvPr/>
          </p:nvSpPr>
          <p:spPr>
            <a:xfrm>
              <a:off x="0" y="-9525"/>
              <a:ext cx="5266944" cy="667893"/>
            </a:xfrm>
            <a:prstGeom prst="rect">
              <a:avLst/>
            </a:prstGeom>
          </p:spPr>
          <p:txBody>
            <a:bodyPr anchor="ctr" rtlCol="false" tIns="0" lIns="0" bIns="0" rIns="0"/>
            <a:lstStyle/>
            <a:p>
              <a:pPr algn="l">
                <a:lnSpc>
                  <a:spcPts val="2520"/>
                </a:lnSpc>
              </a:pPr>
              <a:r>
                <a:rPr lang="en-US" sz="2100" b="true">
                  <a:solidFill>
                    <a:srgbClr val="B6E5DF"/>
                  </a:solidFill>
                  <a:latin typeface="Arial Bold"/>
                  <a:ea typeface="Arial Bold"/>
                  <a:cs typeface="Arial Bold"/>
                  <a:sym typeface="Arial Bold"/>
                </a:rPr>
                <a:t>MATURITY</a:t>
              </a:r>
            </a:p>
          </p:txBody>
        </p:sp>
      </p:grpSp>
      <p:grpSp>
        <p:nvGrpSpPr>
          <p:cNvPr name="Group 29" id="29"/>
          <p:cNvGrpSpPr/>
          <p:nvPr/>
        </p:nvGrpSpPr>
        <p:grpSpPr>
          <a:xfrm rot="0">
            <a:off x="12865608" y="4018788"/>
            <a:ext cx="3703320" cy="1110996"/>
            <a:chOff x="0" y="0"/>
            <a:chExt cx="4937760" cy="1481328"/>
          </a:xfrm>
        </p:grpSpPr>
        <p:sp>
          <p:nvSpPr>
            <p:cNvPr name="Freeform 30" id="30"/>
            <p:cNvSpPr/>
            <p:nvPr/>
          </p:nvSpPr>
          <p:spPr>
            <a:xfrm flipH="false" flipV="false" rot="0">
              <a:off x="0" y="0"/>
              <a:ext cx="4937760" cy="1481328"/>
            </a:xfrm>
            <a:custGeom>
              <a:avLst/>
              <a:gdLst/>
              <a:ahLst/>
              <a:cxnLst/>
              <a:rect r="r" b="b" t="t" l="l"/>
              <a:pathLst>
                <a:path h="1481328" w="4937760">
                  <a:moveTo>
                    <a:pt x="0" y="0"/>
                  </a:moveTo>
                  <a:lnTo>
                    <a:pt x="4937760" y="0"/>
                  </a:lnTo>
                  <a:lnTo>
                    <a:pt x="4937760" y="1481328"/>
                  </a:lnTo>
                  <a:lnTo>
                    <a:pt x="0" y="1481328"/>
                  </a:lnTo>
                  <a:close/>
                </a:path>
              </a:pathLst>
            </a:custGeom>
            <a:blipFill>
              <a:blip r:embed="rId3">
                <a:alphaModFix amt="0"/>
              </a:blip>
              <a:stretch>
                <a:fillRect l="0" t="-14950" r="0" b="-14950"/>
              </a:stretch>
            </a:blipFill>
          </p:spPr>
        </p:sp>
        <p:sp>
          <p:nvSpPr>
            <p:cNvPr name="TextBox 31" id="31"/>
            <p:cNvSpPr txBox="true"/>
            <p:nvPr/>
          </p:nvSpPr>
          <p:spPr>
            <a:xfrm>
              <a:off x="0" y="-19050"/>
              <a:ext cx="4937760" cy="1500378"/>
            </a:xfrm>
            <a:prstGeom prst="rect">
              <a:avLst/>
            </a:prstGeom>
          </p:spPr>
          <p:txBody>
            <a:bodyPr anchor="ctr" rtlCol="false" tIns="0" lIns="0" bIns="0" rIns="0"/>
            <a:lstStyle/>
            <a:p>
              <a:pPr algn="ctr">
                <a:lnSpc>
                  <a:spcPts val="5759"/>
                </a:lnSpc>
              </a:pPr>
              <a:r>
                <a:rPr lang="en-US" sz="4800" b="true">
                  <a:solidFill>
                    <a:srgbClr val="FFFFFF"/>
                  </a:solidFill>
                  <a:latin typeface="Arial Bold"/>
                  <a:ea typeface="Arial Bold"/>
                  <a:cs typeface="Arial Bold"/>
                  <a:sym typeface="Arial Bold"/>
                </a:rPr>
                <a:t>0 – 5</a:t>
              </a:r>
            </a:p>
          </p:txBody>
        </p:sp>
      </p:grpSp>
      <p:sp>
        <p:nvSpPr>
          <p:cNvPr name="TextBox 32" id="32"/>
          <p:cNvSpPr txBox="true"/>
          <p:nvPr/>
        </p:nvSpPr>
        <p:spPr>
          <a:xfrm rot="0">
            <a:off x="12838176" y="5463159"/>
            <a:ext cx="3840480" cy="1586865"/>
          </a:xfrm>
          <a:prstGeom prst="rect">
            <a:avLst/>
          </a:prstGeom>
        </p:spPr>
        <p:txBody>
          <a:bodyPr anchor="t" rtlCol="false" tIns="0" lIns="0" bIns="0" rIns="0">
            <a:spAutoFit/>
          </a:bodyPr>
          <a:lstStyle/>
          <a:p>
            <a:pPr algn="l">
              <a:lnSpc>
                <a:spcPts val="2520"/>
              </a:lnSpc>
            </a:pPr>
            <a:r>
              <a:rPr lang="en-US" sz="2100">
                <a:solidFill>
                  <a:srgbClr val="D7EFF1"/>
                </a:solidFill>
                <a:latin typeface="Arial"/>
                <a:ea typeface="Arial"/>
                <a:cs typeface="Arial"/>
                <a:sym typeface="Arial"/>
              </a:rPr>
              <a:t>Mỗi quy trình có mức trưởng thành và trọng số quan trọng riêng.</a:t>
            </a:r>
          </a:p>
        </p:txBody>
      </p:sp>
      <p:grpSp>
        <p:nvGrpSpPr>
          <p:cNvPr name="Group 33" id="33"/>
          <p:cNvGrpSpPr/>
          <p:nvPr/>
        </p:nvGrpSpPr>
        <p:grpSpPr>
          <a:xfrm rot="0">
            <a:off x="1295400" y="8194548"/>
            <a:ext cx="15761208" cy="742188"/>
            <a:chOff x="0" y="0"/>
            <a:chExt cx="21014944" cy="989584"/>
          </a:xfrm>
        </p:grpSpPr>
        <p:sp>
          <p:nvSpPr>
            <p:cNvPr name="Freeform 34" id="34"/>
            <p:cNvSpPr/>
            <p:nvPr/>
          </p:nvSpPr>
          <p:spPr>
            <a:xfrm flipH="false" flipV="false" rot="0">
              <a:off x="0" y="0"/>
              <a:ext cx="21014944" cy="989584"/>
            </a:xfrm>
            <a:custGeom>
              <a:avLst/>
              <a:gdLst/>
              <a:ahLst/>
              <a:cxnLst/>
              <a:rect r="r" b="b" t="t" l="l"/>
              <a:pathLst>
                <a:path h="989584" w="21014944">
                  <a:moveTo>
                    <a:pt x="0" y="224028"/>
                  </a:moveTo>
                  <a:cubicBezTo>
                    <a:pt x="0" y="100330"/>
                    <a:pt x="100330" y="0"/>
                    <a:pt x="224028" y="0"/>
                  </a:cubicBezTo>
                  <a:lnTo>
                    <a:pt x="20790915" y="0"/>
                  </a:lnTo>
                  <a:cubicBezTo>
                    <a:pt x="20914613" y="0"/>
                    <a:pt x="21014944" y="100330"/>
                    <a:pt x="21014944" y="224028"/>
                  </a:cubicBezTo>
                  <a:lnTo>
                    <a:pt x="21014944" y="765556"/>
                  </a:lnTo>
                  <a:cubicBezTo>
                    <a:pt x="21014944" y="889254"/>
                    <a:pt x="20914613" y="989584"/>
                    <a:pt x="20790915" y="989584"/>
                  </a:cubicBezTo>
                  <a:lnTo>
                    <a:pt x="224028" y="989584"/>
                  </a:lnTo>
                  <a:cubicBezTo>
                    <a:pt x="100330" y="989584"/>
                    <a:pt x="0" y="889254"/>
                    <a:pt x="0" y="765556"/>
                  </a:cubicBezTo>
                  <a:close/>
                </a:path>
              </a:pathLst>
            </a:custGeom>
            <a:solidFill>
              <a:srgbClr val="EAF5F5"/>
            </a:solidFill>
            <a:ln w="15240" cap="sq">
              <a:solidFill>
                <a:srgbClr val="EAF5F5"/>
              </a:solidFill>
              <a:prstDash val="solid"/>
              <a:miter/>
            </a:ln>
          </p:spPr>
        </p:sp>
      </p:grpSp>
      <p:grpSp>
        <p:nvGrpSpPr>
          <p:cNvPr name="Group 35" id="35"/>
          <p:cNvGrpSpPr/>
          <p:nvPr/>
        </p:nvGrpSpPr>
        <p:grpSpPr>
          <a:xfrm rot="0">
            <a:off x="1522476" y="8339328"/>
            <a:ext cx="15169896" cy="452628"/>
            <a:chOff x="0" y="0"/>
            <a:chExt cx="20226528" cy="603504"/>
          </a:xfrm>
        </p:grpSpPr>
        <p:sp>
          <p:nvSpPr>
            <p:cNvPr name="Freeform 36" id="36"/>
            <p:cNvSpPr/>
            <p:nvPr/>
          </p:nvSpPr>
          <p:spPr>
            <a:xfrm flipH="false" flipV="false" rot="0">
              <a:off x="0" y="0"/>
              <a:ext cx="20226528" cy="603504"/>
            </a:xfrm>
            <a:custGeom>
              <a:avLst/>
              <a:gdLst/>
              <a:ahLst/>
              <a:cxnLst/>
              <a:rect r="r" b="b" t="t" l="l"/>
              <a:pathLst>
                <a:path h="603504" w="20226528">
                  <a:moveTo>
                    <a:pt x="0" y="0"/>
                  </a:moveTo>
                  <a:lnTo>
                    <a:pt x="20226528" y="0"/>
                  </a:lnTo>
                  <a:lnTo>
                    <a:pt x="20226528" y="603504"/>
                  </a:lnTo>
                  <a:lnTo>
                    <a:pt x="0" y="603504"/>
                  </a:lnTo>
                  <a:close/>
                </a:path>
              </a:pathLst>
            </a:custGeom>
            <a:blipFill>
              <a:blip r:embed="rId3">
                <a:alphaModFix amt="0"/>
              </a:blip>
              <a:stretch>
                <a:fillRect l="0" t="-603044" r="0" b="-603044"/>
              </a:stretch>
            </a:blipFill>
          </p:spPr>
        </p:sp>
        <p:sp>
          <p:nvSpPr>
            <p:cNvPr name="TextBox 37" id="37"/>
            <p:cNvSpPr txBox="true"/>
            <p:nvPr/>
          </p:nvSpPr>
          <p:spPr>
            <a:xfrm>
              <a:off x="0" y="-9525"/>
              <a:ext cx="20226528" cy="613029"/>
            </a:xfrm>
            <a:prstGeom prst="rect">
              <a:avLst/>
            </a:prstGeom>
          </p:spPr>
          <p:txBody>
            <a:bodyPr anchor="ctr" rtlCol="false" tIns="0" lIns="0" bIns="0" rIns="0"/>
            <a:lstStyle/>
            <a:p>
              <a:pPr algn="l">
                <a:lnSpc>
                  <a:spcPts val="2285"/>
                </a:lnSpc>
              </a:pPr>
              <a:r>
                <a:rPr lang="en-US" sz="1904">
                  <a:solidFill>
                    <a:srgbClr val="12304C"/>
                  </a:solidFill>
                  <a:latin typeface="Arial"/>
                  <a:ea typeface="Arial"/>
                  <a:cs typeface="Arial"/>
                  <a:sym typeface="Arial"/>
                </a:rPr>
                <a:t>Ví dụ: đã có quy trình, có người chịu trách nhiệm, được đo lường và cải tiến → mức trưởng thành cao hơn.</a:t>
              </a:r>
            </a:p>
          </p:txBody>
        </p:sp>
      </p:gr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5F8FB"/>
        </a:solidFill>
      </p:bgPr>
    </p:bg>
    <p:spTree>
      <p:nvGrpSpPr>
        <p:cNvPr id="1" name=""/>
        <p:cNvGrpSpPr/>
        <p:nvPr/>
      </p:nvGrpSpPr>
      <p:grpSpPr>
        <a:xfrm>
          <a:off x="0" y="0"/>
          <a:ext cx="0" cy="0"/>
          <a:chOff x="0" y="0"/>
          <a:chExt cx="0" cy="0"/>
        </a:xfrm>
      </p:grpSpPr>
      <p:grpSp>
        <p:nvGrpSpPr>
          <p:cNvPr name="Group 2" id="2"/>
          <p:cNvGrpSpPr/>
          <p:nvPr/>
        </p:nvGrpSpPr>
        <p:grpSpPr>
          <a:xfrm rot="0">
            <a:off x="-9525" y="-9525"/>
            <a:ext cx="163068" cy="10306050"/>
            <a:chOff x="0" y="0"/>
            <a:chExt cx="217424" cy="13741400"/>
          </a:xfrm>
        </p:grpSpPr>
        <p:sp>
          <p:nvSpPr>
            <p:cNvPr name="Freeform 3" id="3"/>
            <p:cNvSpPr/>
            <p:nvPr/>
          </p:nvSpPr>
          <p:spPr>
            <a:xfrm flipH="false" flipV="false" rot="0">
              <a:off x="0" y="0"/>
              <a:ext cx="217424" cy="13741400"/>
            </a:xfrm>
            <a:custGeom>
              <a:avLst/>
              <a:gdLst/>
              <a:ahLst/>
              <a:cxnLst/>
              <a:rect r="r" b="b" t="t" l="l"/>
              <a:pathLst>
                <a:path h="13741400" w="217424">
                  <a:moveTo>
                    <a:pt x="0" y="0"/>
                  </a:moveTo>
                  <a:lnTo>
                    <a:pt x="217424" y="0"/>
                  </a:lnTo>
                  <a:lnTo>
                    <a:pt x="217424" y="13741400"/>
                  </a:lnTo>
                  <a:lnTo>
                    <a:pt x="0" y="13741400"/>
                  </a:lnTo>
                  <a:close/>
                </a:path>
              </a:pathLst>
            </a:custGeom>
            <a:solidFill>
              <a:srgbClr val="137E82"/>
            </a:solidFill>
          </p:spPr>
        </p:sp>
      </p:grpSp>
      <p:grpSp>
        <p:nvGrpSpPr>
          <p:cNvPr name="Group 4" id="4"/>
          <p:cNvGrpSpPr/>
          <p:nvPr/>
        </p:nvGrpSpPr>
        <p:grpSpPr>
          <a:xfrm rot="0">
            <a:off x="987552" y="329184"/>
            <a:ext cx="15087600" cy="342900"/>
            <a:chOff x="0" y="0"/>
            <a:chExt cx="20116800" cy="457200"/>
          </a:xfrm>
        </p:grpSpPr>
        <p:sp>
          <p:nvSpPr>
            <p:cNvPr name="Freeform 5" id="5"/>
            <p:cNvSpPr/>
            <p:nvPr/>
          </p:nvSpPr>
          <p:spPr>
            <a:xfrm flipH="false" flipV="false" rot="0">
              <a:off x="0" y="0"/>
              <a:ext cx="20116800" cy="457200"/>
            </a:xfrm>
            <a:custGeom>
              <a:avLst/>
              <a:gdLst/>
              <a:ahLst/>
              <a:cxnLst/>
              <a:rect r="r" b="b" t="t" l="l"/>
              <a:pathLst>
                <a:path h="457200" w="20116800">
                  <a:moveTo>
                    <a:pt x="0" y="0"/>
                  </a:moveTo>
                  <a:lnTo>
                    <a:pt x="20116800" y="0"/>
                  </a:lnTo>
                  <a:lnTo>
                    <a:pt x="20116800" y="457200"/>
                  </a:lnTo>
                  <a:lnTo>
                    <a:pt x="0" y="457200"/>
                  </a:lnTo>
                  <a:close/>
                </a:path>
              </a:pathLst>
            </a:custGeom>
            <a:blipFill>
              <a:blip r:embed="rId3">
                <a:alphaModFix amt="0"/>
              </a:blip>
              <a:stretch>
                <a:fillRect l="0" t="-807341" r="0" b="-807341"/>
              </a:stretch>
            </a:blipFill>
          </p:spPr>
        </p:sp>
        <p:sp>
          <p:nvSpPr>
            <p:cNvPr name="TextBox 6" id="6"/>
            <p:cNvSpPr txBox="true"/>
            <p:nvPr/>
          </p:nvSpPr>
          <p:spPr>
            <a:xfrm>
              <a:off x="0" y="-9525"/>
              <a:ext cx="20116800" cy="466725"/>
            </a:xfrm>
            <a:prstGeom prst="rect">
              <a:avLst/>
            </a:prstGeom>
          </p:spPr>
          <p:txBody>
            <a:bodyPr anchor="ctr" rtlCol="false" tIns="0" lIns="0" bIns="0" rIns="0"/>
            <a:lstStyle/>
            <a:p>
              <a:pPr algn="l">
                <a:lnSpc>
                  <a:spcPts val="1745"/>
                </a:lnSpc>
              </a:pPr>
              <a:r>
                <a:rPr lang="en-US" b="true" sz="1455" spc="239">
                  <a:solidFill>
                    <a:srgbClr val="137E82"/>
                  </a:solidFill>
                  <a:latin typeface="Arial Bold"/>
                  <a:ea typeface="Arial Bold"/>
                  <a:cs typeface="Arial Bold"/>
                  <a:sym typeface="Arial Bold"/>
                </a:rPr>
                <a:t>CÔNG CỤ CỦA TÁC GIẢ</a:t>
              </a:r>
            </a:p>
          </p:txBody>
        </p:sp>
      </p:grpSp>
      <p:grpSp>
        <p:nvGrpSpPr>
          <p:cNvPr name="Group 7" id="7"/>
          <p:cNvGrpSpPr/>
          <p:nvPr/>
        </p:nvGrpSpPr>
        <p:grpSpPr>
          <a:xfrm rot="0">
            <a:off x="987552" y="946404"/>
            <a:ext cx="16459200" cy="781812"/>
            <a:chOff x="0" y="0"/>
            <a:chExt cx="21945600" cy="1042416"/>
          </a:xfrm>
        </p:grpSpPr>
        <p:sp>
          <p:nvSpPr>
            <p:cNvPr name="Freeform 8" id="8"/>
            <p:cNvSpPr/>
            <p:nvPr/>
          </p:nvSpPr>
          <p:spPr>
            <a:xfrm flipH="false" flipV="false" rot="0">
              <a:off x="0" y="0"/>
              <a:ext cx="21945600" cy="1042416"/>
            </a:xfrm>
            <a:custGeom>
              <a:avLst/>
              <a:gdLst/>
              <a:ahLst/>
              <a:cxnLst/>
              <a:rect r="r" b="b" t="t" l="l"/>
              <a:pathLst>
                <a:path h="1042416" w="21945600">
                  <a:moveTo>
                    <a:pt x="0" y="0"/>
                  </a:moveTo>
                  <a:lnTo>
                    <a:pt x="21945600" y="0"/>
                  </a:lnTo>
                  <a:lnTo>
                    <a:pt x="21945600" y="1042416"/>
                  </a:lnTo>
                  <a:lnTo>
                    <a:pt x="0" y="1042416"/>
                  </a:lnTo>
                  <a:close/>
                </a:path>
              </a:pathLst>
            </a:custGeom>
            <a:blipFill>
              <a:blip r:embed="rId3">
                <a:alphaModFix amt="0"/>
              </a:blip>
              <a:stretch>
                <a:fillRect l="0" t="-360211" r="0" b="-360211"/>
              </a:stretch>
            </a:blipFill>
          </p:spPr>
        </p:sp>
        <p:sp>
          <p:nvSpPr>
            <p:cNvPr name="TextBox 9" id="9"/>
            <p:cNvSpPr txBox="true"/>
            <p:nvPr/>
          </p:nvSpPr>
          <p:spPr>
            <a:xfrm>
              <a:off x="0" y="-28575"/>
              <a:ext cx="21945600" cy="1070991"/>
            </a:xfrm>
            <a:prstGeom prst="rect">
              <a:avLst/>
            </a:prstGeom>
          </p:spPr>
          <p:txBody>
            <a:bodyPr anchor="ctr" rtlCol="false" tIns="0" lIns="0" bIns="0" rIns="0"/>
            <a:lstStyle/>
            <a:p>
              <a:pPr algn="l">
                <a:lnSpc>
                  <a:spcPts val="4410"/>
                </a:lnSpc>
              </a:pPr>
              <a:r>
                <a:rPr lang="en-US" sz="3675" b="true">
                  <a:solidFill>
                    <a:srgbClr val="12304C"/>
                  </a:solidFill>
                  <a:latin typeface="Arial Bold"/>
                  <a:ea typeface="Arial Bold"/>
                  <a:cs typeface="Arial Bold"/>
                  <a:sym typeface="Arial Bold"/>
                </a:rPr>
                <a:t>CSMPA | Figure 3: Effectiveness</a:t>
              </a:r>
            </a:p>
          </p:txBody>
        </p:sp>
      </p:grpSp>
      <p:grpSp>
        <p:nvGrpSpPr>
          <p:cNvPr name="Group 10" id="10"/>
          <p:cNvGrpSpPr/>
          <p:nvPr/>
        </p:nvGrpSpPr>
        <p:grpSpPr>
          <a:xfrm rot="0">
            <a:off x="1014984" y="1796796"/>
            <a:ext cx="16322040" cy="480060"/>
            <a:chOff x="0" y="0"/>
            <a:chExt cx="21762720" cy="640080"/>
          </a:xfrm>
        </p:grpSpPr>
        <p:sp>
          <p:nvSpPr>
            <p:cNvPr name="Freeform 11" id="11"/>
            <p:cNvSpPr/>
            <p:nvPr/>
          </p:nvSpPr>
          <p:spPr>
            <a:xfrm flipH="false" flipV="false" rot="0">
              <a:off x="0" y="0"/>
              <a:ext cx="21762720" cy="640080"/>
            </a:xfrm>
            <a:custGeom>
              <a:avLst/>
              <a:gdLst/>
              <a:ahLst/>
              <a:cxnLst/>
              <a:rect r="r" b="b" t="t" l="l"/>
              <a:pathLst>
                <a:path h="640080" w="21762720">
                  <a:moveTo>
                    <a:pt x="0" y="0"/>
                  </a:moveTo>
                  <a:lnTo>
                    <a:pt x="21762720" y="0"/>
                  </a:lnTo>
                  <a:lnTo>
                    <a:pt x="21762720" y="640080"/>
                  </a:lnTo>
                  <a:lnTo>
                    <a:pt x="0" y="640080"/>
                  </a:lnTo>
                  <a:close/>
                </a:path>
              </a:pathLst>
            </a:custGeom>
            <a:blipFill>
              <a:blip r:embed="rId3">
                <a:alphaModFix amt="0"/>
              </a:blip>
              <a:stretch>
                <a:fillRect l="0" t="-612491" r="0" b="-612491"/>
              </a:stretch>
            </a:blipFill>
          </p:spPr>
        </p:sp>
        <p:sp>
          <p:nvSpPr>
            <p:cNvPr name="TextBox 12" id="12"/>
            <p:cNvSpPr txBox="true"/>
            <p:nvPr/>
          </p:nvSpPr>
          <p:spPr>
            <a:xfrm>
              <a:off x="0" y="-19050"/>
              <a:ext cx="21762720" cy="659130"/>
            </a:xfrm>
            <a:prstGeom prst="rect">
              <a:avLst/>
            </a:prstGeom>
          </p:spPr>
          <p:txBody>
            <a:bodyPr anchor="ctr" rtlCol="false" tIns="0" lIns="0" bIns="0" rIns="0"/>
            <a:lstStyle/>
            <a:p>
              <a:pPr algn="l">
                <a:lnSpc>
                  <a:spcPts val="2322"/>
                </a:lnSpc>
              </a:pPr>
              <a:r>
                <a:rPr lang="en-US" sz="1935">
                  <a:solidFill>
                    <a:srgbClr val="50677D"/>
                  </a:solidFill>
                  <a:latin typeface="Arial"/>
                  <a:ea typeface="Arial"/>
                  <a:cs typeface="Arial"/>
                  <a:sym typeface="Arial"/>
                </a:rPr>
                <a:t>Effectiveness = mức hiệu quả của những biện pháp kiểm soát an ninh</a:t>
              </a:r>
            </a:p>
          </p:txBody>
        </p:sp>
      </p:grpSp>
      <p:sp>
        <p:nvSpPr>
          <p:cNvPr name="AutoShape 13" id="13"/>
          <p:cNvSpPr/>
          <p:nvPr/>
        </p:nvSpPr>
        <p:spPr>
          <a:xfrm rot="4020">
            <a:off x="991733" y="9692450"/>
            <a:ext cx="16272520" cy="0"/>
          </a:xfrm>
          <a:prstGeom prst="line">
            <a:avLst/>
          </a:prstGeom>
          <a:ln cap="rnd" w="9525">
            <a:solidFill>
              <a:srgbClr val="DEE7EE"/>
            </a:solidFill>
            <a:prstDash val="solid"/>
            <a:headEnd type="none" len="sm" w="sm"/>
            <a:tailEnd type="none" len="sm" w="sm"/>
          </a:ln>
        </p:spPr>
      </p:sp>
      <p:grpSp>
        <p:nvGrpSpPr>
          <p:cNvPr name="Group 14" id="14"/>
          <p:cNvGrpSpPr/>
          <p:nvPr/>
        </p:nvGrpSpPr>
        <p:grpSpPr>
          <a:xfrm rot="0">
            <a:off x="1014984" y="9779508"/>
            <a:ext cx="14703552" cy="274320"/>
            <a:chOff x="0" y="0"/>
            <a:chExt cx="19604736" cy="365760"/>
          </a:xfrm>
        </p:grpSpPr>
        <p:sp>
          <p:nvSpPr>
            <p:cNvPr name="Freeform 15" id="15"/>
            <p:cNvSpPr/>
            <p:nvPr/>
          </p:nvSpPr>
          <p:spPr>
            <a:xfrm flipH="false" flipV="false" rot="0">
              <a:off x="0" y="0"/>
              <a:ext cx="19604737" cy="365760"/>
            </a:xfrm>
            <a:custGeom>
              <a:avLst/>
              <a:gdLst/>
              <a:ahLst/>
              <a:cxnLst/>
              <a:rect r="r" b="b" t="t" l="l"/>
              <a:pathLst>
                <a:path h="365760" w="19604737">
                  <a:moveTo>
                    <a:pt x="0" y="0"/>
                  </a:moveTo>
                  <a:lnTo>
                    <a:pt x="19604737" y="0"/>
                  </a:lnTo>
                  <a:lnTo>
                    <a:pt x="19604737" y="365760"/>
                  </a:lnTo>
                  <a:lnTo>
                    <a:pt x="0" y="365760"/>
                  </a:lnTo>
                  <a:close/>
                </a:path>
              </a:pathLst>
            </a:custGeom>
            <a:blipFill>
              <a:blip r:embed="rId3">
                <a:alphaModFix amt="0"/>
              </a:blip>
              <a:stretch>
                <a:fillRect l="0" t="-994398" r="0" b="-994398"/>
              </a:stretch>
            </a:blipFill>
          </p:spPr>
        </p:sp>
        <p:sp>
          <p:nvSpPr>
            <p:cNvPr name="TextBox 16" id="16"/>
            <p:cNvSpPr txBox="true"/>
            <p:nvPr/>
          </p:nvSpPr>
          <p:spPr>
            <a:xfrm>
              <a:off x="0" y="-9525"/>
              <a:ext cx="19604736" cy="375285"/>
            </a:xfrm>
            <a:prstGeom prst="rect">
              <a:avLst/>
            </a:prstGeom>
          </p:spPr>
          <p:txBody>
            <a:bodyPr anchor="ctr" rtlCol="false" tIns="0" lIns="0" bIns="0" rIns="0"/>
            <a:lstStyle/>
            <a:p>
              <a:pPr algn="l">
                <a:lnSpc>
                  <a:spcPts val="1494"/>
                </a:lnSpc>
              </a:pPr>
              <a:r>
                <a:rPr lang="en-US" sz="1245">
                  <a:solidFill>
                    <a:srgbClr val="50677D"/>
                  </a:solidFill>
                  <a:latin typeface="Arial"/>
                  <a:ea typeface="Arial"/>
                  <a:cs typeface="Arial"/>
                  <a:sym typeface="Arial"/>
                </a:rPr>
                <a:t>Liu và cộng sự (2025)  |  doi.org/10.1093/cybsec/tyaf020</a:t>
              </a:r>
            </a:p>
          </p:txBody>
        </p:sp>
      </p:grpSp>
      <p:grpSp>
        <p:nvGrpSpPr>
          <p:cNvPr name="Group 17" id="17"/>
          <p:cNvGrpSpPr/>
          <p:nvPr/>
        </p:nvGrpSpPr>
        <p:grpSpPr>
          <a:xfrm rot="0">
            <a:off x="16184880" y="9779508"/>
            <a:ext cx="1001268" cy="274320"/>
            <a:chOff x="0" y="0"/>
            <a:chExt cx="1335024" cy="365760"/>
          </a:xfrm>
        </p:grpSpPr>
        <p:sp>
          <p:nvSpPr>
            <p:cNvPr name="Freeform 18" id="18"/>
            <p:cNvSpPr/>
            <p:nvPr/>
          </p:nvSpPr>
          <p:spPr>
            <a:xfrm flipH="false" flipV="false" rot="0">
              <a:off x="0" y="0"/>
              <a:ext cx="1335024" cy="365760"/>
            </a:xfrm>
            <a:custGeom>
              <a:avLst/>
              <a:gdLst/>
              <a:ahLst/>
              <a:cxnLst/>
              <a:rect r="r" b="b" t="t" l="l"/>
              <a:pathLst>
                <a:path h="365760" w="1335024">
                  <a:moveTo>
                    <a:pt x="0" y="0"/>
                  </a:moveTo>
                  <a:lnTo>
                    <a:pt x="1335024" y="0"/>
                  </a:lnTo>
                  <a:lnTo>
                    <a:pt x="1335024" y="365760"/>
                  </a:lnTo>
                  <a:lnTo>
                    <a:pt x="0" y="365760"/>
                  </a:lnTo>
                  <a:close/>
                </a:path>
              </a:pathLst>
            </a:custGeom>
            <a:blipFill>
              <a:blip r:embed="rId3">
                <a:alphaModFix amt="0"/>
              </a:blip>
              <a:stretch>
                <a:fillRect l="0" t="-21120" r="0" b="-21120"/>
              </a:stretch>
            </a:blipFill>
          </p:spPr>
        </p:sp>
        <p:sp>
          <p:nvSpPr>
            <p:cNvPr name="TextBox 19" id="19"/>
            <p:cNvSpPr txBox="true"/>
            <p:nvPr/>
          </p:nvSpPr>
          <p:spPr>
            <a:xfrm>
              <a:off x="0" y="-9525"/>
              <a:ext cx="1335024" cy="375285"/>
            </a:xfrm>
            <a:prstGeom prst="rect">
              <a:avLst/>
            </a:prstGeom>
          </p:spPr>
          <p:txBody>
            <a:bodyPr anchor="ctr" rtlCol="false" tIns="0" lIns="0" bIns="0" rIns="0"/>
            <a:lstStyle/>
            <a:p>
              <a:pPr algn="r">
                <a:lnSpc>
                  <a:spcPts val="1494"/>
                </a:lnSpc>
              </a:pPr>
              <a:r>
                <a:rPr lang="en-US" sz="1245">
                  <a:solidFill>
                    <a:srgbClr val="50677D"/>
                  </a:solidFill>
                  <a:latin typeface="Arial"/>
                  <a:ea typeface="Arial"/>
                  <a:cs typeface="Arial"/>
                  <a:sym typeface="Arial"/>
                </a:rPr>
                <a:t>10 / 14</a:t>
              </a:r>
            </a:p>
          </p:txBody>
        </p:sp>
      </p:grpSp>
      <p:grpSp>
        <p:nvGrpSpPr>
          <p:cNvPr name="Group 20" id="20"/>
          <p:cNvGrpSpPr/>
          <p:nvPr/>
        </p:nvGrpSpPr>
        <p:grpSpPr>
          <a:xfrm rot="0">
            <a:off x="1171956" y="2721864"/>
            <a:ext cx="10754868" cy="5186172"/>
            <a:chOff x="0" y="0"/>
            <a:chExt cx="14339824" cy="6914896"/>
          </a:xfrm>
        </p:grpSpPr>
        <p:sp>
          <p:nvSpPr>
            <p:cNvPr name="Freeform 21" id="21"/>
            <p:cNvSpPr/>
            <p:nvPr/>
          </p:nvSpPr>
          <p:spPr>
            <a:xfrm flipH="false" flipV="false" rot="0">
              <a:off x="0" y="0"/>
              <a:ext cx="14339824" cy="6914897"/>
            </a:xfrm>
            <a:custGeom>
              <a:avLst/>
              <a:gdLst/>
              <a:ahLst/>
              <a:cxnLst/>
              <a:rect r="r" b="b" t="t" l="l"/>
              <a:pathLst>
                <a:path h="6914897" w="14339824">
                  <a:moveTo>
                    <a:pt x="0" y="220091"/>
                  </a:moveTo>
                  <a:cubicBezTo>
                    <a:pt x="0" y="98552"/>
                    <a:pt x="98552" y="0"/>
                    <a:pt x="220091" y="0"/>
                  </a:cubicBezTo>
                  <a:lnTo>
                    <a:pt x="14119733" y="0"/>
                  </a:lnTo>
                  <a:cubicBezTo>
                    <a:pt x="14241272" y="0"/>
                    <a:pt x="14339824" y="98552"/>
                    <a:pt x="14339824" y="220091"/>
                  </a:cubicBezTo>
                  <a:lnTo>
                    <a:pt x="14339824" y="6694805"/>
                  </a:lnTo>
                  <a:cubicBezTo>
                    <a:pt x="14339824" y="6816344"/>
                    <a:pt x="14241272" y="6914897"/>
                    <a:pt x="14119733" y="6914897"/>
                  </a:cubicBezTo>
                  <a:lnTo>
                    <a:pt x="220091" y="6914897"/>
                  </a:lnTo>
                  <a:cubicBezTo>
                    <a:pt x="98552" y="6914896"/>
                    <a:pt x="0" y="6816344"/>
                    <a:pt x="0" y="6694805"/>
                  </a:cubicBezTo>
                  <a:close/>
                </a:path>
              </a:pathLst>
            </a:custGeom>
            <a:solidFill>
              <a:srgbClr val="FFFFFF"/>
            </a:solidFill>
            <a:ln w="15240" cap="sq">
              <a:solidFill>
                <a:srgbClr val="DEE7EE"/>
              </a:solidFill>
              <a:prstDash val="solid"/>
              <a:miter/>
            </a:ln>
          </p:spPr>
        </p:sp>
      </p:grpSp>
      <p:grpSp>
        <p:nvGrpSpPr>
          <p:cNvPr name="Group 22" id="22"/>
          <p:cNvGrpSpPr/>
          <p:nvPr/>
        </p:nvGrpSpPr>
        <p:grpSpPr>
          <a:xfrm rot="0">
            <a:off x="2220554" y="3003804"/>
            <a:ext cx="8685114" cy="4526280"/>
            <a:chOff x="0" y="0"/>
            <a:chExt cx="11580152" cy="6035040"/>
          </a:xfrm>
        </p:grpSpPr>
        <p:sp>
          <p:nvSpPr>
            <p:cNvPr name="Freeform 23" id="23" descr="/mnt/data/dt015_ppt_build/DT015_Bo_chuan_bi/sources/figure_3.jpeg"/>
            <p:cNvSpPr/>
            <p:nvPr/>
          </p:nvSpPr>
          <p:spPr>
            <a:xfrm flipH="false" flipV="false" rot="0">
              <a:off x="0" y="0"/>
              <a:ext cx="11580114" cy="6035040"/>
            </a:xfrm>
            <a:custGeom>
              <a:avLst/>
              <a:gdLst/>
              <a:ahLst/>
              <a:cxnLst/>
              <a:rect r="r" b="b" t="t" l="l"/>
              <a:pathLst>
                <a:path h="6035040" w="11580114">
                  <a:moveTo>
                    <a:pt x="0" y="0"/>
                  </a:moveTo>
                  <a:lnTo>
                    <a:pt x="11580114" y="0"/>
                  </a:lnTo>
                  <a:lnTo>
                    <a:pt x="11580114" y="6035040"/>
                  </a:lnTo>
                  <a:lnTo>
                    <a:pt x="0" y="6035040"/>
                  </a:lnTo>
                  <a:lnTo>
                    <a:pt x="0" y="0"/>
                  </a:lnTo>
                  <a:close/>
                </a:path>
              </a:pathLst>
            </a:custGeom>
            <a:blipFill>
              <a:blip r:embed="rId4"/>
              <a:stretch>
                <a:fillRect l="0" t="0" r="0" b="0"/>
              </a:stretch>
            </a:blipFill>
          </p:spPr>
        </p:sp>
      </p:grpSp>
      <p:grpSp>
        <p:nvGrpSpPr>
          <p:cNvPr name="Group 24" id="24"/>
          <p:cNvGrpSpPr/>
          <p:nvPr/>
        </p:nvGrpSpPr>
        <p:grpSpPr>
          <a:xfrm rot="0">
            <a:off x="12227052" y="2721864"/>
            <a:ext cx="4884420" cy="5186172"/>
            <a:chOff x="0" y="0"/>
            <a:chExt cx="6512560" cy="6914896"/>
          </a:xfrm>
        </p:grpSpPr>
        <p:sp>
          <p:nvSpPr>
            <p:cNvPr name="Freeform 25" id="25"/>
            <p:cNvSpPr/>
            <p:nvPr/>
          </p:nvSpPr>
          <p:spPr>
            <a:xfrm flipH="false" flipV="false" rot="0">
              <a:off x="0" y="0"/>
              <a:ext cx="6512560" cy="6914897"/>
            </a:xfrm>
            <a:custGeom>
              <a:avLst/>
              <a:gdLst/>
              <a:ahLst/>
              <a:cxnLst/>
              <a:rect r="r" b="b" t="t" l="l"/>
              <a:pathLst>
                <a:path h="6914897" w="6512560">
                  <a:moveTo>
                    <a:pt x="0" y="220091"/>
                  </a:moveTo>
                  <a:cubicBezTo>
                    <a:pt x="0" y="98552"/>
                    <a:pt x="98552" y="0"/>
                    <a:pt x="220091" y="0"/>
                  </a:cubicBezTo>
                  <a:lnTo>
                    <a:pt x="6292469" y="0"/>
                  </a:lnTo>
                  <a:cubicBezTo>
                    <a:pt x="6414008" y="0"/>
                    <a:pt x="6512560" y="98552"/>
                    <a:pt x="6512560" y="220091"/>
                  </a:cubicBezTo>
                  <a:lnTo>
                    <a:pt x="6512560" y="6694805"/>
                  </a:lnTo>
                  <a:cubicBezTo>
                    <a:pt x="6512560" y="6816344"/>
                    <a:pt x="6414008" y="6914897"/>
                    <a:pt x="6292469" y="6914897"/>
                  </a:cubicBezTo>
                  <a:lnTo>
                    <a:pt x="220091" y="6914897"/>
                  </a:lnTo>
                  <a:cubicBezTo>
                    <a:pt x="98552" y="6914896"/>
                    <a:pt x="0" y="6816344"/>
                    <a:pt x="0" y="6694805"/>
                  </a:cubicBezTo>
                  <a:close/>
                </a:path>
              </a:pathLst>
            </a:custGeom>
            <a:solidFill>
              <a:srgbClr val="12304C"/>
            </a:solidFill>
            <a:ln w="15240" cap="sq">
              <a:solidFill>
                <a:srgbClr val="12304C"/>
              </a:solidFill>
              <a:prstDash val="solid"/>
              <a:miter/>
            </a:ln>
          </p:spPr>
        </p:sp>
      </p:grpSp>
      <p:grpSp>
        <p:nvGrpSpPr>
          <p:cNvPr name="Group 26" id="26"/>
          <p:cNvGrpSpPr/>
          <p:nvPr/>
        </p:nvGrpSpPr>
        <p:grpSpPr>
          <a:xfrm rot="0">
            <a:off x="12591288" y="3017520"/>
            <a:ext cx="4032504" cy="672084"/>
            <a:chOff x="0" y="0"/>
            <a:chExt cx="5376672" cy="896112"/>
          </a:xfrm>
        </p:grpSpPr>
        <p:sp>
          <p:nvSpPr>
            <p:cNvPr name="Freeform 27" id="27"/>
            <p:cNvSpPr/>
            <p:nvPr/>
          </p:nvSpPr>
          <p:spPr>
            <a:xfrm flipH="false" flipV="false" rot="0">
              <a:off x="0" y="0"/>
              <a:ext cx="5376672" cy="896112"/>
            </a:xfrm>
            <a:custGeom>
              <a:avLst/>
              <a:gdLst/>
              <a:ahLst/>
              <a:cxnLst/>
              <a:rect r="r" b="b" t="t" l="l"/>
              <a:pathLst>
                <a:path h="896112" w="5376672">
                  <a:moveTo>
                    <a:pt x="0" y="0"/>
                  </a:moveTo>
                  <a:lnTo>
                    <a:pt x="5376672" y="0"/>
                  </a:lnTo>
                  <a:lnTo>
                    <a:pt x="5376672" y="896112"/>
                  </a:lnTo>
                  <a:lnTo>
                    <a:pt x="0" y="896112"/>
                  </a:lnTo>
                  <a:close/>
                </a:path>
              </a:pathLst>
            </a:custGeom>
            <a:blipFill>
              <a:blip r:embed="rId3">
                <a:alphaModFix amt="0"/>
              </a:blip>
              <a:stretch>
                <a:fillRect l="0" t="-66910" r="0" b="-66910"/>
              </a:stretch>
            </a:blipFill>
          </p:spPr>
        </p:sp>
        <p:sp>
          <p:nvSpPr>
            <p:cNvPr name="TextBox 28" id="28"/>
            <p:cNvSpPr txBox="true"/>
            <p:nvPr/>
          </p:nvSpPr>
          <p:spPr>
            <a:xfrm>
              <a:off x="0" y="-19050"/>
              <a:ext cx="5376672" cy="915162"/>
            </a:xfrm>
            <a:prstGeom prst="rect">
              <a:avLst/>
            </a:prstGeom>
          </p:spPr>
          <p:txBody>
            <a:bodyPr anchor="ctr" rtlCol="false" tIns="0" lIns="0" bIns="0" rIns="0"/>
            <a:lstStyle/>
            <a:p>
              <a:pPr algn="l">
                <a:lnSpc>
                  <a:spcPts val="2195"/>
                </a:lnSpc>
              </a:pPr>
              <a:r>
                <a:rPr lang="en-US" sz="1829" b="true">
                  <a:solidFill>
                    <a:srgbClr val="9EE2D8"/>
                  </a:solidFill>
                  <a:latin typeface="Arial Bold"/>
                  <a:ea typeface="Arial Bold"/>
                  <a:cs typeface="Arial Bold"/>
                  <a:sym typeface="Arial Bold"/>
                </a:rPr>
                <a:t>DỊCH LUỒNG ĐÁNH GIÁ</a:t>
              </a:r>
            </a:p>
          </p:txBody>
        </p:sp>
      </p:grpSp>
      <p:grpSp>
        <p:nvGrpSpPr>
          <p:cNvPr name="Group 29" id="29"/>
          <p:cNvGrpSpPr/>
          <p:nvPr/>
        </p:nvGrpSpPr>
        <p:grpSpPr>
          <a:xfrm rot="0">
            <a:off x="12646152" y="4005072"/>
            <a:ext cx="4018788" cy="466344"/>
            <a:chOff x="0" y="0"/>
            <a:chExt cx="5358384" cy="621792"/>
          </a:xfrm>
        </p:grpSpPr>
        <p:sp>
          <p:nvSpPr>
            <p:cNvPr name="Freeform 30" id="30"/>
            <p:cNvSpPr/>
            <p:nvPr/>
          </p:nvSpPr>
          <p:spPr>
            <a:xfrm flipH="false" flipV="false" rot="0">
              <a:off x="0" y="0"/>
              <a:ext cx="5358384" cy="621792"/>
            </a:xfrm>
            <a:custGeom>
              <a:avLst/>
              <a:gdLst/>
              <a:ahLst/>
              <a:cxnLst/>
              <a:rect r="r" b="b" t="t" l="l"/>
              <a:pathLst>
                <a:path h="621792" w="5358384">
                  <a:moveTo>
                    <a:pt x="0" y="0"/>
                  </a:moveTo>
                  <a:lnTo>
                    <a:pt x="5358384" y="0"/>
                  </a:lnTo>
                  <a:lnTo>
                    <a:pt x="5358384" y="621792"/>
                  </a:lnTo>
                  <a:lnTo>
                    <a:pt x="0" y="621792"/>
                  </a:lnTo>
                  <a:close/>
                </a:path>
              </a:pathLst>
            </a:custGeom>
            <a:blipFill>
              <a:blip r:embed="rId3">
                <a:alphaModFix amt="0"/>
              </a:blip>
              <a:stretch>
                <a:fillRect l="0" t="-117915" r="0" b="-117915"/>
              </a:stretch>
            </a:blipFill>
          </p:spPr>
        </p:sp>
        <p:sp>
          <p:nvSpPr>
            <p:cNvPr name="TextBox 31" id="31"/>
            <p:cNvSpPr txBox="true"/>
            <p:nvPr/>
          </p:nvSpPr>
          <p:spPr>
            <a:xfrm>
              <a:off x="0" y="-19050"/>
              <a:ext cx="5358384" cy="640842"/>
            </a:xfrm>
            <a:prstGeom prst="rect">
              <a:avLst/>
            </a:prstGeom>
          </p:spPr>
          <p:txBody>
            <a:bodyPr anchor="ctr" rtlCol="false" tIns="0" lIns="0" bIns="0" rIns="0"/>
            <a:lstStyle/>
            <a:p>
              <a:pPr algn="ctr">
                <a:lnSpc>
                  <a:spcPts val="3240"/>
                </a:lnSpc>
              </a:pPr>
              <a:r>
                <a:rPr lang="en-US" sz="2700" b="true">
                  <a:solidFill>
                    <a:srgbClr val="FFFFFF"/>
                  </a:solidFill>
                  <a:latin typeface="Arial Bold"/>
                  <a:ea typeface="Arial Bold"/>
                  <a:cs typeface="Arial Bold"/>
                  <a:sym typeface="Arial Bold"/>
                </a:rPr>
                <a:t>PROCESS</a:t>
              </a:r>
            </a:p>
          </p:txBody>
        </p:sp>
      </p:grpSp>
      <p:grpSp>
        <p:nvGrpSpPr>
          <p:cNvPr name="Group 32" id="32"/>
          <p:cNvGrpSpPr/>
          <p:nvPr/>
        </p:nvGrpSpPr>
        <p:grpSpPr>
          <a:xfrm rot="0">
            <a:off x="14360652" y="4539996"/>
            <a:ext cx="466344" cy="384048"/>
            <a:chOff x="0" y="0"/>
            <a:chExt cx="621792" cy="512064"/>
          </a:xfrm>
        </p:grpSpPr>
        <p:sp>
          <p:nvSpPr>
            <p:cNvPr name="Freeform 33" id="33"/>
            <p:cNvSpPr/>
            <p:nvPr/>
          </p:nvSpPr>
          <p:spPr>
            <a:xfrm flipH="false" flipV="false" rot="0">
              <a:off x="0" y="0"/>
              <a:ext cx="621792" cy="512064"/>
            </a:xfrm>
            <a:custGeom>
              <a:avLst/>
              <a:gdLst/>
              <a:ahLst/>
              <a:cxnLst/>
              <a:rect r="r" b="b" t="t" l="l"/>
              <a:pathLst>
                <a:path h="512064" w="621792">
                  <a:moveTo>
                    <a:pt x="0" y="0"/>
                  </a:moveTo>
                  <a:lnTo>
                    <a:pt x="621792" y="0"/>
                  </a:lnTo>
                  <a:lnTo>
                    <a:pt x="621792" y="512064"/>
                  </a:lnTo>
                  <a:lnTo>
                    <a:pt x="0" y="512064"/>
                  </a:lnTo>
                  <a:close/>
                </a:path>
              </a:pathLst>
            </a:custGeom>
            <a:blipFill>
              <a:blip r:embed="rId3">
                <a:alphaModFix amt="0"/>
              </a:blip>
              <a:stretch>
                <a:fillRect l="-55661" t="0" r="-55661" b="0"/>
              </a:stretch>
            </a:blipFill>
          </p:spPr>
        </p:sp>
        <p:sp>
          <p:nvSpPr>
            <p:cNvPr name="TextBox 34" id="34"/>
            <p:cNvSpPr txBox="true"/>
            <p:nvPr/>
          </p:nvSpPr>
          <p:spPr>
            <a:xfrm>
              <a:off x="0" y="-19050"/>
              <a:ext cx="621792" cy="531114"/>
            </a:xfrm>
            <a:prstGeom prst="rect">
              <a:avLst/>
            </a:prstGeom>
          </p:spPr>
          <p:txBody>
            <a:bodyPr anchor="ctr" rtlCol="false" tIns="0" lIns="0" bIns="0" rIns="0"/>
            <a:lstStyle/>
            <a:p>
              <a:pPr algn="l">
                <a:lnSpc>
                  <a:spcPts val="3240"/>
                </a:lnSpc>
              </a:pPr>
              <a:r>
                <a:rPr lang="en-US" sz="2700">
                  <a:solidFill>
                    <a:srgbClr val="A5DED6"/>
                  </a:solidFill>
                  <a:latin typeface="Arial"/>
                  <a:ea typeface="Arial"/>
                  <a:cs typeface="Arial"/>
                  <a:sym typeface="Arial"/>
                </a:rPr>
                <a:t>↓</a:t>
              </a:r>
            </a:p>
          </p:txBody>
        </p:sp>
      </p:grpSp>
      <p:grpSp>
        <p:nvGrpSpPr>
          <p:cNvPr name="Group 35" id="35"/>
          <p:cNvGrpSpPr/>
          <p:nvPr/>
        </p:nvGrpSpPr>
        <p:grpSpPr>
          <a:xfrm rot="0">
            <a:off x="12646152" y="5129784"/>
            <a:ext cx="4018788" cy="466344"/>
            <a:chOff x="0" y="0"/>
            <a:chExt cx="5358384" cy="621792"/>
          </a:xfrm>
        </p:grpSpPr>
        <p:sp>
          <p:nvSpPr>
            <p:cNvPr name="Freeform 36" id="36"/>
            <p:cNvSpPr/>
            <p:nvPr/>
          </p:nvSpPr>
          <p:spPr>
            <a:xfrm flipH="false" flipV="false" rot="0">
              <a:off x="0" y="0"/>
              <a:ext cx="5358384" cy="621792"/>
            </a:xfrm>
            <a:custGeom>
              <a:avLst/>
              <a:gdLst/>
              <a:ahLst/>
              <a:cxnLst/>
              <a:rect r="r" b="b" t="t" l="l"/>
              <a:pathLst>
                <a:path h="621792" w="5358384">
                  <a:moveTo>
                    <a:pt x="0" y="0"/>
                  </a:moveTo>
                  <a:lnTo>
                    <a:pt x="5358384" y="0"/>
                  </a:lnTo>
                  <a:lnTo>
                    <a:pt x="5358384" y="621792"/>
                  </a:lnTo>
                  <a:lnTo>
                    <a:pt x="0" y="621792"/>
                  </a:lnTo>
                  <a:close/>
                </a:path>
              </a:pathLst>
            </a:custGeom>
            <a:blipFill>
              <a:blip r:embed="rId3">
                <a:alphaModFix amt="0"/>
              </a:blip>
              <a:stretch>
                <a:fillRect l="0" t="-117915" r="0" b="-117915"/>
              </a:stretch>
            </a:blipFill>
          </p:spPr>
        </p:sp>
        <p:sp>
          <p:nvSpPr>
            <p:cNvPr name="TextBox 37" id="37"/>
            <p:cNvSpPr txBox="true"/>
            <p:nvPr/>
          </p:nvSpPr>
          <p:spPr>
            <a:xfrm>
              <a:off x="0" y="-19050"/>
              <a:ext cx="5358384" cy="640842"/>
            </a:xfrm>
            <a:prstGeom prst="rect">
              <a:avLst/>
            </a:prstGeom>
          </p:spPr>
          <p:txBody>
            <a:bodyPr anchor="ctr" rtlCol="false" tIns="0" lIns="0" bIns="0" rIns="0"/>
            <a:lstStyle/>
            <a:p>
              <a:pPr algn="ctr">
                <a:lnSpc>
                  <a:spcPts val="3240"/>
                </a:lnSpc>
              </a:pPr>
              <a:r>
                <a:rPr lang="en-US" sz="2700" b="true">
                  <a:solidFill>
                    <a:srgbClr val="FFFFFF"/>
                  </a:solidFill>
                  <a:latin typeface="Arial Bold"/>
                  <a:ea typeface="Arial Bold"/>
                  <a:cs typeface="Arial Bold"/>
                  <a:sym typeface="Arial Bold"/>
                </a:rPr>
                <a:t>CONTROL</a:t>
              </a:r>
            </a:p>
          </p:txBody>
        </p:sp>
      </p:grpSp>
      <p:grpSp>
        <p:nvGrpSpPr>
          <p:cNvPr name="Group 38" id="38"/>
          <p:cNvGrpSpPr/>
          <p:nvPr/>
        </p:nvGrpSpPr>
        <p:grpSpPr>
          <a:xfrm rot="0">
            <a:off x="14360652" y="5637276"/>
            <a:ext cx="466344" cy="397764"/>
            <a:chOff x="0" y="0"/>
            <a:chExt cx="621792" cy="530352"/>
          </a:xfrm>
        </p:grpSpPr>
        <p:sp>
          <p:nvSpPr>
            <p:cNvPr name="Freeform 39" id="39"/>
            <p:cNvSpPr/>
            <p:nvPr/>
          </p:nvSpPr>
          <p:spPr>
            <a:xfrm flipH="false" flipV="false" rot="0">
              <a:off x="0" y="0"/>
              <a:ext cx="621792" cy="530352"/>
            </a:xfrm>
            <a:custGeom>
              <a:avLst/>
              <a:gdLst/>
              <a:ahLst/>
              <a:cxnLst/>
              <a:rect r="r" b="b" t="t" l="l"/>
              <a:pathLst>
                <a:path h="530352" w="621792">
                  <a:moveTo>
                    <a:pt x="0" y="0"/>
                  </a:moveTo>
                  <a:lnTo>
                    <a:pt x="621792" y="0"/>
                  </a:lnTo>
                  <a:lnTo>
                    <a:pt x="621792" y="530352"/>
                  </a:lnTo>
                  <a:lnTo>
                    <a:pt x="0" y="530352"/>
                  </a:lnTo>
                  <a:close/>
                </a:path>
              </a:pathLst>
            </a:custGeom>
            <a:blipFill>
              <a:blip r:embed="rId3">
                <a:alphaModFix amt="0"/>
              </a:blip>
              <a:stretch>
                <a:fillRect l="-59435" t="0" r="-59435" b="0"/>
              </a:stretch>
            </a:blipFill>
          </p:spPr>
        </p:sp>
        <p:sp>
          <p:nvSpPr>
            <p:cNvPr name="TextBox 40" id="40"/>
            <p:cNvSpPr txBox="true"/>
            <p:nvPr/>
          </p:nvSpPr>
          <p:spPr>
            <a:xfrm>
              <a:off x="0" y="-19050"/>
              <a:ext cx="621792" cy="549402"/>
            </a:xfrm>
            <a:prstGeom prst="rect">
              <a:avLst/>
            </a:prstGeom>
          </p:spPr>
          <p:txBody>
            <a:bodyPr anchor="ctr" rtlCol="false" tIns="0" lIns="0" bIns="0" rIns="0"/>
            <a:lstStyle/>
            <a:p>
              <a:pPr algn="l">
                <a:lnSpc>
                  <a:spcPts val="3240"/>
                </a:lnSpc>
              </a:pPr>
              <a:r>
                <a:rPr lang="en-US" sz="2700">
                  <a:solidFill>
                    <a:srgbClr val="A5DED6"/>
                  </a:solidFill>
                  <a:latin typeface="Arial"/>
                  <a:ea typeface="Arial"/>
                  <a:cs typeface="Arial"/>
                  <a:sym typeface="Arial"/>
                </a:rPr>
                <a:t>↓</a:t>
              </a:r>
            </a:p>
          </p:txBody>
        </p:sp>
      </p:grpSp>
      <p:grpSp>
        <p:nvGrpSpPr>
          <p:cNvPr name="Group 41" id="41"/>
          <p:cNvGrpSpPr/>
          <p:nvPr/>
        </p:nvGrpSpPr>
        <p:grpSpPr>
          <a:xfrm rot="0">
            <a:off x="12646152" y="6213348"/>
            <a:ext cx="4018788" cy="466344"/>
            <a:chOff x="0" y="0"/>
            <a:chExt cx="5358384" cy="621792"/>
          </a:xfrm>
        </p:grpSpPr>
        <p:sp>
          <p:nvSpPr>
            <p:cNvPr name="Freeform 42" id="42"/>
            <p:cNvSpPr/>
            <p:nvPr/>
          </p:nvSpPr>
          <p:spPr>
            <a:xfrm flipH="false" flipV="false" rot="0">
              <a:off x="0" y="0"/>
              <a:ext cx="5358384" cy="621792"/>
            </a:xfrm>
            <a:custGeom>
              <a:avLst/>
              <a:gdLst/>
              <a:ahLst/>
              <a:cxnLst/>
              <a:rect r="r" b="b" t="t" l="l"/>
              <a:pathLst>
                <a:path h="621792" w="5358384">
                  <a:moveTo>
                    <a:pt x="0" y="0"/>
                  </a:moveTo>
                  <a:lnTo>
                    <a:pt x="5358384" y="0"/>
                  </a:lnTo>
                  <a:lnTo>
                    <a:pt x="5358384" y="621792"/>
                  </a:lnTo>
                  <a:lnTo>
                    <a:pt x="0" y="621792"/>
                  </a:lnTo>
                  <a:close/>
                </a:path>
              </a:pathLst>
            </a:custGeom>
            <a:blipFill>
              <a:blip r:embed="rId3">
                <a:alphaModFix amt="0"/>
              </a:blip>
              <a:stretch>
                <a:fillRect l="0" t="-117915" r="0" b="-117915"/>
              </a:stretch>
            </a:blipFill>
          </p:spPr>
        </p:sp>
        <p:sp>
          <p:nvSpPr>
            <p:cNvPr name="TextBox 43" id="43"/>
            <p:cNvSpPr txBox="true"/>
            <p:nvPr/>
          </p:nvSpPr>
          <p:spPr>
            <a:xfrm>
              <a:off x="0" y="-19050"/>
              <a:ext cx="5358384" cy="640842"/>
            </a:xfrm>
            <a:prstGeom prst="rect">
              <a:avLst/>
            </a:prstGeom>
          </p:spPr>
          <p:txBody>
            <a:bodyPr anchor="ctr" rtlCol="false" tIns="0" lIns="0" bIns="0" rIns="0"/>
            <a:lstStyle/>
            <a:p>
              <a:pPr algn="ctr">
                <a:lnSpc>
                  <a:spcPts val="3240"/>
                </a:lnSpc>
              </a:pPr>
              <a:r>
                <a:rPr lang="en-US" sz="2700" b="true">
                  <a:solidFill>
                    <a:srgbClr val="FFFFFF"/>
                  </a:solidFill>
                  <a:latin typeface="Arial Bold"/>
                  <a:ea typeface="Arial Bold"/>
                  <a:cs typeface="Arial Bold"/>
                  <a:sym typeface="Arial Bold"/>
                </a:rPr>
                <a:t>ATTRIBUTE</a:t>
              </a:r>
            </a:p>
          </p:txBody>
        </p:sp>
      </p:grpSp>
      <p:grpSp>
        <p:nvGrpSpPr>
          <p:cNvPr name="Group 44" id="44"/>
          <p:cNvGrpSpPr/>
          <p:nvPr/>
        </p:nvGrpSpPr>
        <p:grpSpPr>
          <a:xfrm rot="0">
            <a:off x="1399032" y="8380476"/>
            <a:ext cx="15540228" cy="658368"/>
            <a:chOff x="0" y="0"/>
            <a:chExt cx="20720304" cy="877824"/>
          </a:xfrm>
        </p:grpSpPr>
        <p:sp>
          <p:nvSpPr>
            <p:cNvPr name="Freeform 45" id="45"/>
            <p:cNvSpPr/>
            <p:nvPr/>
          </p:nvSpPr>
          <p:spPr>
            <a:xfrm flipH="false" flipV="false" rot="0">
              <a:off x="0" y="0"/>
              <a:ext cx="20720304" cy="877824"/>
            </a:xfrm>
            <a:custGeom>
              <a:avLst/>
              <a:gdLst/>
              <a:ahLst/>
              <a:cxnLst/>
              <a:rect r="r" b="b" t="t" l="l"/>
              <a:pathLst>
                <a:path h="877824" w="20720304">
                  <a:moveTo>
                    <a:pt x="0" y="0"/>
                  </a:moveTo>
                  <a:lnTo>
                    <a:pt x="20720304" y="0"/>
                  </a:lnTo>
                  <a:lnTo>
                    <a:pt x="20720304" y="877824"/>
                  </a:lnTo>
                  <a:lnTo>
                    <a:pt x="0" y="877824"/>
                  </a:lnTo>
                  <a:close/>
                </a:path>
              </a:pathLst>
            </a:custGeom>
            <a:blipFill>
              <a:blip r:embed="rId3">
                <a:alphaModFix amt="0"/>
              </a:blip>
              <a:stretch>
                <a:fillRect l="0" t="-409928" r="0" b="-409928"/>
              </a:stretch>
            </a:blipFill>
          </p:spPr>
        </p:sp>
        <p:sp>
          <p:nvSpPr>
            <p:cNvPr name="TextBox 46" id="46"/>
            <p:cNvSpPr txBox="true"/>
            <p:nvPr/>
          </p:nvSpPr>
          <p:spPr>
            <a:xfrm>
              <a:off x="0" y="-9525"/>
              <a:ext cx="20720304" cy="887349"/>
            </a:xfrm>
            <a:prstGeom prst="rect">
              <a:avLst/>
            </a:prstGeom>
          </p:spPr>
          <p:txBody>
            <a:bodyPr anchor="ctr" rtlCol="false" tIns="0" lIns="0" bIns="0" rIns="0"/>
            <a:lstStyle/>
            <a:p>
              <a:pPr algn="l">
                <a:lnSpc>
                  <a:spcPts val="2682"/>
                </a:lnSpc>
              </a:pPr>
              <a:r>
                <a:rPr lang="en-US" sz="2235" b="true">
                  <a:solidFill>
                    <a:srgbClr val="137E82"/>
                  </a:solidFill>
                  <a:latin typeface="Arial Bold"/>
                  <a:ea typeface="Arial Bold"/>
                  <a:cs typeface="Arial Bold"/>
                  <a:sym typeface="Arial Bold"/>
                </a:rPr>
                <a:t>Maturity hỏi: quy trình có bài bản?   |   Effectiveness hỏi: biện pháp bảo vệ có hiệu quả?</a:t>
              </a:r>
            </a:p>
          </p:txBody>
        </p:sp>
      </p:gr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F5F8FB"/>
        </a:solidFill>
      </p:bgPr>
    </p:bg>
    <p:spTree>
      <p:nvGrpSpPr>
        <p:cNvPr id="1" name=""/>
        <p:cNvGrpSpPr/>
        <p:nvPr/>
      </p:nvGrpSpPr>
      <p:grpSpPr>
        <a:xfrm>
          <a:off x="0" y="0"/>
          <a:ext cx="0" cy="0"/>
          <a:chOff x="0" y="0"/>
          <a:chExt cx="0" cy="0"/>
        </a:xfrm>
      </p:grpSpPr>
      <p:grpSp>
        <p:nvGrpSpPr>
          <p:cNvPr name="Group 2" id="2"/>
          <p:cNvGrpSpPr/>
          <p:nvPr/>
        </p:nvGrpSpPr>
        <p:grpSpPr>
          <a:xfrm rot="0">
            <a:off x="-9525" y="-9525"/>
            <a:ext cx="163068" cy="10306050"/>
            <a:chOff x="0" y="0"/>
            <a:chExt cx="217424" cy="13741400"/>
          </a:xfrm>
        </p:grpSpPr>
        <p:sp>
          <p:nvSpPr>
            <p:cNvPr name="Freeform 3" id="3"/>
            <p:cNvSpPr/>
            <p:nvPr/>
          </p:nvSpPr>
          <p:spPr>
            <a:xfrm flipH="false" flipV="false" rot="0">
              <a:off x="0" y="0"/>
              <a:ext cx="217424" cy="13741400"/>
            </a:xfrm>
            <a:custGeom>
              <a:avLst/>
              <a:gdLst/>
              <a:ahLst/>
              <a:cxnLst/>
              <a:rect r="r" b="b" t="t" l="l"/>
              <a:pathLst>
                <a:path h="13741400" w="217424">
                  <a:moveTo>
                    <a:pt x="0" y="0"/>
                  </a:moveTo>
                  <a:lnTo>
                    <a:pt x="217424" y="0"/>
                  </a:lnTo>
                  <a:lnTo>
                    <a:pt x="217424" y="13741400"/>
                  </a:lnTo>
                  <a:lnTo>
                    <a:pt x="0" y="13741400"/>
                  </a:lnTo>
                  <a:close/>
                </a:path>
              </a:pathLst>
            </a:custGeom>
            <a:solidFill>
              <a:srgbClr val="137E82"/>
            </a:solidFill>
          </p:spPr>
        </p:sp>
      </p:grpSp>
      <p:grpSp>
        <p:nvGrpSpPr>
          <p:cNvPr name="Group 4" id="4"/>
          <p:cNvGrpSpPr/>
          <p:nvPr/>
        </p:nvGrpSpPr>
        <p:grpSpPr>
          <a:xfrm rot="0">
            <a:off x="987552" y="329184"/>
            <a:ext cx="15087600" cy="342900"/>
            <a:chOff x="0" y="0"/>
            <a:chExt cx="20116800" cy="457200"/>
          </a:xfrm>
        </p:grpSpPr>
        <p:sp>
          <p:nvSpPr>
            <p:cNvPr name="Freeform 5" id="5"/>
            <p:cNvSpPr/>
            <p:nvPr/>
          </p:nvSpPr>
          <p:spPr>
            <a:xfrm flipH="false" flipV="false" rot="0">
              <a:off x="0" y="0"/>
              <a:ext cx="20116800" cy="457200"/>
            </a:xfrm>
            <a:custGeom>
              <a:avLst/>
              <a:gdLst/>
              <a:ahLst/>
              <a:cxnLst/>
              <a:rect r="r" b="b" t="t" l="l"/>
              <a:pathLst>
                <a:path h="457200" w="20116800">
                  <a:moveTo>
                    <a:pt x="0" y="0"/>
                  </a:moveTo>
                  <a:lnTo>
                    <a:pt x="20116800" y="0"/>
                  </a:lnTo>
                  <a:lnTo>
                    <a:pt x="20116800" y="457200"/>
                  </a:lnTo>
                  <a:lnTo>
                    <a:pt x="0" y="457200"/>
                  </a:lnTo>
                  <a:close/>
                </a:path>
              </a:pathLst>
            </a:custGeom>
            <a:blipFill>
              <a:blip r:embed="rId3">
                <a:alphaModFix amt="0"/>
              </a:blip>
              <a:stretch>
                <a:fillRect l="0" t="-807341" r="0" b="-807341"/>
              </a:stretch>
            </a:blipFill>
          </p:spPr>
        </p:sp>
        <p:sp>
          <p:nvSpPr>
            <p:cNvPr name="TextBox 6" id="6"/>
            <p:cNvSpPr txBox="true"/>
            <p:nvPr/>
          </p:nvSpPr>
          <p:spPr>
            <a:xfrm>
              <a:off x="0" y="-9525"/>
              <a:ext cx="20116800" cy="466725"/>
            </a:xfrm>
            <a:prstGeom prst="rect">
              <a:avLst/>
            </a:prstGeom>
          </p:spPr>
          <p:txBody>
            <a:bodyPr anchor="ctr" rtlCol="false" tIns="0" lIns="0" bIns="0" rIns="0"/>
            <a:lstStyle/>
            <a:p>
              <a:pPr algn="l">
                <a:lnSpc>
                  <a:spcPts val="1745"/>
                </a:lnSpc>
              </a:pPr>
              <a:r>
                <a:rPr lang="en-US" b="true" sz="1455" spc="239">
                  <a:solidFill>
                    <a:srgbClr val="137E82"/>
                  </a:solidFill>
                  <a:latin typeface="Arial Bold"/>
                  <a:ea typeface="Arial Bold"/>
                  <a:cs typeface="Arial Bold"/>
                  <a:sym typeface="Arial Bold"/>
                </a:rPr>
                <a:t>DỊCH Ý PHẦN THẢO LUẬN &amp; KẾT LUẬN</a:t>
              </a:r>
            </a:p>
          </p:txBody>
        </p:sp>
      </p:grpSp>
      <p:grpSp>
        <p:nvGrpSpPr>
          <p:cNvPr name="Group 7" id="7"/>
          <p:cNvGrpSpPr/>
          <p:nvPr/>
        </p:nvGrpSpPr>
        <p:grpSpPr>
          <a:xfrm rot="0">
            <a:off x="987552" y="946404"/>
            <a:ext cx="16459200" cy="781812"/>
            <a:chOff x="0" y="0"/>
            <a:chExt cx="21945600" cy="1042416"/>
          </a:xfrm>
        </p:grpSpPr>
        <p:sp>
          <p:nvSpPr>
            <p:cNvPr name="Freeform 8" id="8"/>
            <p:cNvSpPr/>
            <p:nvPr/>
          </p:nvSpPr>
          <p:spPr>
            <a:xfrm flipH="false" flipV="false" rot="0">
              <a:off x="0" y="0"/>
              <a:ext cx="21945600" cy="1042416"/>
            </a:xfrm>
            <a:custGeom>
              <a:avLst/>
              <a:gdLst/>
              <a:ahLst/>
              <a:cxnLst/>
              <a:rect r="r" b="b" t="t" l="l"/>
              <a:pathLst>
                <a:path h="1042416" w="21945600">
                  <a:moveTo>
                    <a:pt x="0" y="0"/>
                  </a:moveTo>
                  <a:lnTo>
                    <a:pt x="21945600" y="0"/>
                  </a:lnTo>
                  <a:lnTo>
                    <a:pt x="21945600" y="1042416"/>
                  </a:lnTo>
                  <a:lnTo>
                    <a:pt x="0" y="1042416"/>
                  </a:lnTo>
                  <a:close/>
                </a:path>
              </a:pathLst>
            </a:custGeom>
            <a:blipFill>
              <a:blip r:embed="rId3">
                <a:alphaModFix amt="0"/>
              </a:blip>
              <a:stretch>
                <a:fillRect l="0" t="-360211" r="0" b="-360211"/>
              </a:stretch>
            </a:blipFill>
          </p:spPr>
        </p:sp>
        <p:sp>
          <p:nvSpPr>
            <p:cNvPr name="TextBox 9" id="9"/>
            <p:cNvSpPr txBox="true"/>
            <p:nvPr/>
          </p:nvSpPr>
          <p:spPr>
            <a:xfrm>
              <a:off x="0" y="-28575"/>
              <a:ext cx="21945600" cy="1070991"/>
            </a:xfrm>
            <a:prstGeom prst="rect">
              <a:avLst/>
            </a:prstGeom>
          </p:spPr>
          <p:txBody>
            <a:bodyPr anchor="ctr" rtlCol="false" tIns="0" lIns="0" bIns="0" rIns="0"/>
            <a:lstStyle/>
            <a:p>
              <a:pPr algn="l">
                <a:lnSpc>
                  <a:spcPts val="4410"/>
                </a:lnSpc>
              </a:pPr>
              <a:r>
                <a:rPr lang="en-US" sz="3675" b="true">
                  <a:solidFill>
                    <a:srgbClr val="12304C"/>
                  </a:solidFill>
                  <a:latin typeface="Arial Bold"/>
                  <a:ea typeface="Arial Bold"/>
                  <a:cs typeface="Arial Bold"/>
                  <a:sym typeface="Arial Bold"/>
                </a:rPr>
                <a:t>Discussions &amp; Conclusion</a:t>
              </a:r>
            </a:p>
          </p:txBody>
        </p:sp>
      </p:grpSp>
      <p:grpSp>
        <p:nvGrpSpPr>
          <p:cNvPr name="Group 10" id="10"/>
          <p:cNvGrpSpPr/>
          <p:nvPr/>
        </p:nvGrpSpPr>
        <p:grpSpPr>
          <a:xfrm rot="0">
            <a:off x="1014984" y="1796796"/>
            <a:ext cx="16322040" cy="480060"/>
            <a:chOff x="0" y="0"/>
            <a:chExt cx="21762720" cy="640080"/>
          </a:xfrm>
        </p:grpSpPr>
        <p:sp>
          <p:nvSpPr>
            <p:cNvPr name="Freeform 11" id="11"/>
            <p:cNvSpPr/>
            <p:nvPr/>
          </p:nvSpPr>
          <p:spPr>
            <a:xfrm flipH="false" flipV="false" rot="0">
              <a:off x="0" y="0"/>
              <a:ext cx="21762720" cy="640080"/>
            </a:xfrm>
            <a:custGeom>
              <a:avLst/>
              <a:gdLst/>
              <a:ahLst/>
              <a:cxnLst/>
              <a:rect r="r" b="b" t="t" l="l"/>
              <a:pathLst>
                <a:path h="640080" w="21762720">
                  <a:moveTo>
                    <a:pt x="0" y="0"/>
                  </a:moveTo>
                  <a:lnTo>
                    <a:pt x="21762720" y="0"/>
                  </a:lnTo>
                  <a:lnTo>
                    <a:pt x="21762720" y="640080"/>
                  </a:lnTo>
                  <a:lnTo>
                    <a:pt x="0" y="640080"/>
                  </a:lnTo>
                  <a:close/>
                </a:path>
              </a:pathLst>
            </a:custGeom>
            <a:blipFill>
              <a:blip r:embed="rId3">
                <a:alphaModFix amt="0"/>
              </a:blip>
              <a:stretch>
                <a:fillRect l="0" t="-612491" r="0" b="-612491"/>
              </a:stretch>
            </a:blipFill>
          </p:spPr>
        </p:sp>
        <p:sp>
          <p:nvSpPr>
            <p:cNvPr name="TextBox 12" id="12"/>
            <p:cNvSpPr txBox="true"/>
            <p:nvPr/>
          </p:nvSpPr>
          <p:spPr>
            <a:xfrm>
              <a:off x="0" y="-19050"/>
              <a:ext cx="21762720" cy="659130"/>
            </a:xfrm>
            <a:prstGeom prst="rect">
              <a:avLst/>
            </a:prstGeom>
          </p:spPr>
          <p:txBody>
            <a:bodyPr anchor="ctr" rtlCol="false" tIns="0" lIns="0" bIns="0" rIns="0"/>
            <a:lstStyle/>
            <a:p>
              <a:pPr algn="l">
                <a:lnSpc>
                  <a:spcPts val="2322"/>
                </a:lnSpc>
              </a:pPr>
              <a:r>
                <a:rPr lang="en-US" sz="1935">
                  <a:solidFill>
                    <a:srgbClr val="50677D"/>
                  </a:solidFill>
                  <a:latin typeface="Arial"/>
                  <a:ea typeface="Arial"/>
                  <a:cs typeface="Arial"/>
                  <a:sym typeface="Arial"/>
                </a:rPr>
                <a:t>Đóng góp, hạn chế và kết luận chính từ bài báo</a:t>
              </a:r>
            </a:p>
          </p:txBody>
        </p:sp>
      </p:grpSp>
      <p:sp>
        <p:nvSpPr>
          <p:cNvPr name="AutoShape 13" id="13"/>
          <p:cNvSpPr/>
          <p:nvPr/>
        </p:nvSpPr>
        <p:spPr>
          <a:xfrm rot="4020">
            <a:off x="991733" y="9692450"/>
            <a:ext cx="16272520" cy="0"/>
          </a:xfrm>
          <a:prstGeom prst="line">
            <a:avLst/>
          </a:prstGeom>
          <a:ln cap="rnd" w="9525">
            <a:solidFill>
              <a:srgbClr val="DEE7EE"/>
            </a:solidFill>
            <a:prstDash val="solid"/>
            <a:headEnd type="none" len="sm" w="sm"/>
            <a:tailEnd type="none" len="sm" w="sm"/>
          </a:ln>
        </p:spPr>
      </p:sp>
      <p:grpSp>
        <p:nvGrpSpPr>
          <p:cNvPr name="Group 14" id="14"/>
          <p:cNvGrpSpPr/>
          <p:nvPr/>
        </p:nvGrpSpPr>
        <p:grpSpPr>
          <a:xfrm rot="0">
            <a:off x="1014984" y="9779508"/>
            <a:ext cx="14703552" cy="274320"/>
            <a:chOff x="0" y="0"/>
            <a:chExt cx="19604736" cy="365760"/>
          </a:xfrm>
        </p:grpSpPr>
        <p:sp>
          <p:nvSpPr>
            <p:cNvPr name="Freeform 15" id="15"/>
            <p:cNvSpPr/>
            <p:nvPr/>
          </p:nvSpPr>
          <p:spPr>
            <a:xfrm flipH="false" flipV="false" rot="0">
              <a:off x="0" y="0"/>
              <a:ext cx="19604737" cy="365760"/>
            </a:xfrm>
            <a:custGeom>
              <a:avLst/>
              <a:gdLst/>
              <a:ahLst/>
              <a:cxnLst/>
              <a:rect r="r" b="b" t="t" l="l"/>
              <a:pathLst>
                <a:path h="365760" w="19604737">
                  <a:moveTo>
                    <a:pt x="0" y="0"/>
                  </a:moveTo>
                  <a:lnTo>
                    <a:pt x="19604737" y="0"/>
                  </a:lnTo>
                  <a:lnTo>
                    <a:pt x="19604737" y="365760"/>
                  </a:lnTo>
                  <a:lnTo>
                    <a:pt x="0" y="365760"/>
                  </a:lnTo>
                  <a:close/>
                </a:path>
              </a:pathLst>
            </a:custGeom>
            <a:blipFill>
              <a:blip r:embed="rId3">
                <a:alphaModFix amt="0"/>
              </a:blip>
              <a:stretch>
                <a:fillRect l="0" t="-994398" r="0" b="-994398"/>
              </a:stretch>
            </a:blipFill>
          </p:spPr>
        </p:sp>
        <p:sp>
          <p:nvSpPr>
            <p:cNvPr name="TextBox 16" id="16"/>
            <p:cNvSpPr txBox="true"/>
            <p:nvPr/>
          </p:nvSpPr>
          <p:spPr>
            <a:xfrm>
              <a:off x="0" y="-9525"/>
              <a:ext cx="19604736" cy="375285"/>
            </a:xfrm>
            <a:prstGeom prst="rect">
              <a:avLst/>
            </a:prstGeom>
          </p:spPr>
          <p:txBody>
            <a:bodyPr anchor="ctr" rtlCol="false" tIns="0" lIns="0" bIns="0" rIns="0"/>
            <a:lstStyle/>
            <a:p>
              <a:pPr algn="l">
                <a:lnSpc>
                  <a:spcPts val="1494"/>
                </a:lnSpc>
              </a:pPr>
              <a:r>
                <a:rPr lang="en-US" sz="1245">
                  <a:solidFill>
                    <a:srgbClr val="50677D"/>
                  </a:solidFill>
                  <a:latin typeface="Arial"/>
                  <a:ea typeface="Arial"/>
                  <a:cs typeface="Arial"/>
                  <a:sym typeface="Arial"/>
                </a:rPr>
                <a:t>Liu và cộng sự (2025)  |  doi.org/10.1093/cybsec/tyaf020</a:t>
              </a:r>
            </a:p>
          </p:txBody>
        </p:sp>
      </p:grpSp>
      <p:grpSp>
        <p:nvGrpSpPr>
          <p:cNvPr name="Group 17" id="17"/>
          <p:cNvGrpSpPr/>
          <p:nvPr/>
        </p:nvGrpSpPr>
        <p:grpSpPr>
          <a:xfrm rot="0">
            <a:off x="16184880" y="9779508"/>
            <a:ext cx="1001268" cy="274320"/>
            <a:chOff x="0" y="0"/>
            <a:chExt cx="1335024" cy="365760"/>
          </a:xfrm>
        </p:grpSpPr>
        <p:sp>
          <p:nvSpPr>
            <p:cNvPr name="Freeform 18" id="18"/>
            <p:cNvSpPr/>
            <p:nvPr/>
          </p:nvSpPr>
          <p:spPr>
            <a:xfrm flipH="false" flipV="false" rot="0">
              <a:off x="0" y="0"/>
              <a:ext cx="1335024" cy="365760"/>
            </a:xfrm>
            <a:custGeom>
              <a:avLst/>
              <a:gdLst/>
              <a:ahLst/>
              <a:cxnLst/>
              <a:rect r="r" b="b" t="t" l="l"/>
              <a:pathLst>
                <a:path h="365760" w="1335024">
                  <a:moveTo>
                    <a:pt x="0" y="0"/>
                  </a:moveTo>
                  <a:lnTo>
                    <a:pt x="1335024" y="0"/>
                  </a:lnTo>
                  <a:lnTo>
                    <a:pt x="1335024" y="365760"/>
                  </a:lnTo>
                  <a:lnTo>
                    <a:pt x="0" y="365760"/>
                  </a:lnTo>
                  <a:close/>
                </a:path>
              </a:pathLst>
            </a:custGeom>
            <a:blipFill>
              <a:blip r:embed="rId3">
                <a:alphaModFix amt="0"/>
              </a:blip>
              <a:stretch>
                <a:fillRect l="0" t="-21120" r="0" b="-21120"/>
              </a:stretch>
            </a:blipFill>
          </p:spPr>
        </p:sp>
        <p:sp>
          <p:nvSpPr>
            <p:cNvPr name="TextBox 19" id="19"/>
            <p:cNvSpPr txBox="true"/>
            <p:nvPr/>
          </p:nvSpPr>
          <p:spPr>
            <a:xfrm>
              <a:off x="0" y="-9525"/>
              <a:ext cx="1335024" cy="375285"/>
            </a:xfrm>
            <a:prstGeom prst="rect">
              <a:avLst/>
            </a:prstGeom>
          </p:spPr>
          <p:txBody>
            <a:bodyPr anchor="ctr" rtlCol="false" tIns="0" lIns="0" bIns="0" rIns="0"/>
            <a:lstStyle/>
            <a:p>
              <a:pPr algn="r">
                <a:lnSpc>
                  <a:spcPts val="1494"/>
                </a:lnSpc>
              </a:pPr>
              <a:r>
                <a:rPr lang="en-US" sz="1245">
                  <a:solidFill>
                    <a:srgbClr val="50677D"/>
                  </a:solidFill>
                  <a:latin typeface="Arial"/>
                  <a:ea typeface="Arial"/>
                  <a:cs typeface="Arial"/>
                  <a:sym typeface="Arial"/>
                </a:rPr>
                <a:t>11 / 14</a:t>
              </a:r>
            </a:p>
          </p:txBody>
        </p:sp>
      </p:grpSp>
      <p:grpSp>
        <p:nvGrpSpPr>
          <p:cNvPr name="Group 20" id="20"/>
          <p:cNvGrpSpPr/>
          <p:nvPr/>
        </p:nvGrpSpPr>
        <p:grpSpPr>
          <a:xfrm rot="0">
            <a:off x="1199388" y="2776728"/>
            <a:ext cx="7627620" cy="5145024"/>
            <a:chOff x="0" y="0"/>
            <a:chExt cx="10170160" cy="6860032"/>
          </a:xfrm>
        </p:grpSpPr>
        <p:sp>
          <p:nvSpPr>
            <p:cNvPr name="Freeform 21" id="21"/>
            <p:cNvSpPr/>
            <p:nvPr/>
          </p:nvSpPr>
          <p:spPr>
            <a:xfrm flipH="false" flipV="false" rot="0">
              <a:off x="0" y="0"/>
              <a:ext cx="10170160" cy="6860032"/>
            </a:xfrm>
            <a:custGeom>
              <a:avLst/>
              <a:gdLst/>
              <a:ahLst/>
              <a:cxnLst/>
              <a:rect r="r" b="b" t="t" l="l"/>
              <a:pathLst>
                <a:path h="6860032" w="10170160">
                  <a:moveTo>
                    <a:pt x="0" y="220091"/>
                  </a:moveTo>
                  <a:cubicBezTo>
                    <a:pt x="0" y="98552"/>
                    <a:pt x="98552" y="0"/>
                    <a:pt x="220091" y="0"/>
                  </a:cubicBezTo>
                  <a:lnTo>
                    <a:pt x="9950069" y="0"/>
                  </a:lnTo>
                  <a:cubicBezTo>
                    <a:pt x="10071608" y="0"/>
                    <a:pt x="10170160" y="98552"/>
                    <a:pt x="10170160" y="220091"/>
                  </a:cubicBezTo>
                  <a:lnTo>
                    <a:pt x="10170160" y="6639941"/>
                  </a:lnTo>
                  <a:cubicBezTo>
                    <a:pt x="10170160" y="6761480"/>
                    <a:pt x="10071608" y="6860032"/>
                    <a:pt x="9950069" y="6860032"/>
                  </a:cubicBezTo>
                  <a:lnTo>
                    <a:pt x="220091" y="6860032"/>
                  </a:lnTo>
                  <a:cubicBezTo>
                    <a:pt x="98552" y="6860032"/>
                    <a:pt x="0" y="6761480"/>
                    <a:pt x="0" y="6639941"/>
                  </a:cubicBezTo>
                  <a:close/>
                </a:path>
              </a:pathLst>
            </a:custGeom>
            <a:solidFill>
              <a:srgbClr val="FFFFFF"/>
            </a:solidFill>
            <a:ln w="15240" cap="sq">
              <a:solidFill>
                <a:srgbClr val="DEE7EE"/>
              </a:solidFill>
              <a:prstDash val="solid"/>
              <a:miter/>
            </a:ln>
          </p:spPr>
        </p:sp>
      </p:grpSp>
      <p:grpSp>
        <p:nvGrpSpPr>
          <p:cNvPr name="Group 22" id="22"/>
          <p:cNvGrpSpPr/>
          <p:nvPr/>
        </p:nvGrpSpPr>
        <p:grpSpPr>
          <a:xfrm rot="0">
            <a:off x="1618488" y="3113532"/>
            <a:ext cx="6748272" cy="370332"/>
            <a:chOff x="0" y="0"/>
            <a:chExt cx="8997696" cy="493776"/>
          </a:xfrm>
        </p:grpSpPr>
        <p:sp>
          <p:nvSpPr>
            <p:cNvPr name="Freeform 23" id="23"/>
            <p:cNvSpPr/>
            <p:nvPr/>
          </p:nvSpPr>
          <p:spPr>
            <a:xfrm flipH="false" flipV="false" rot="0">
              <a:off x="0" y="0"/>
              <a:ext cx="8997696" cy="493776"/>
            </a:xfrm>
            <a:custGeom>
              <a:avLst/>
              <a:gdLst/>
              <a:ahLst/>
              <a:cxnLst/>
              <a:rect r="r" b="b" t="t" l="l"/>
              <a:pathLst>
                <a:path h="493776" w="8997696">
                  <a:moveTo>
                    <a:pt x="0" y="0"/>
                  </a:moveTo>
                  <a:lnTo>
                    <a:pt x="8997696" y="0"/>
                  </a:lnTo>
                  <a:lnTo>
                    <a:pt x="8997696" y="493776"/>
                  </a:lnTo>
                  <a:lnTo>
                    <a:pt x="0" y="493776"/>
                  </a:lnTo>
                  <a:close/>
                </a:path>
              </a:pathLst>
            </a:custGeom>
            <a:blipFill>
              <a:blip r:embed="rId3">
                <a:alphaModFix amt="0"/>
              </a:blip>
              <a:stretch>
                <a:fillRect l="0" t="-305060" r="0" b="-305060"/>
              </a:stretch>
            </a:blipFill>
          </p:spPr>
        </p:sp>
        <p:sp>
          <p:nvSpPr>
            <p:cNvPr name="TextBox 24" id="24"/>
            <p:cNvSpPr txBox="true"/>
            <p:nvPr/>
          </p:nvSpPr>
          <p:spPr>
            <a:xfrm>
              <a:off x="0" y="-19050"/>
              <a:ext cx="8997696" cy="512826"/>
            </a:xfrm>
            <a:prstGeom prst="rect">
              <a:avLst/>
            </a:prstGeom>
          </p:spPr>
          <p:txBody>
            <a:bodyPr anchor="ctr" rtlCol="false" tIns="0" lIns="0" bIns="0" rIns="0"/>
            <a:lstStyle/>
            <a:p>
              <a:pPr algn="l">
                <a:lnSpc>
                  <a:spcPts val="1907"/>
                </a:lnSpc>
              </a:pPr>
              <a:r>
                <a:rPr lang="en-US" sz="1589" b="true">
                  <a:solidFill>
                    <a:srgbClr val="137E82"/>
                  </a:solidFill>
                  <a:latin typeface="Arial Bold"/>
                  <a:ea typeface="Arial Bold"/>
                  <a:cs typeface="Arial Bold"/>
                  <a:sym typeface="Arial Bold"/>
                </a:rPr>
                <a:t>CONTRIBUTIONS</a:t>
              </a:r>
            </a:p>
          </p:txBody>
        </p:sp>
      </p:grpSp>
      <p:grpSp>
        <p:nvGrpSpPr>
          <p:cNvPr name="Group 25" id="25"/>
          <p:cNvGrpSpPr/>
          <p:nvPr/>
        </p:nvGrpSpPr>
        <p:grpSpPr>
          <a:xfrm rot="0">
            <a:off x="1618488" y="3497580"/>
            <a:ext cx="6748272" cy="630936"/>
            <a:chOff x="0" y="0"/>
            <a:chExt cx="8997696" cy="841248"/>
          </a:xfrm>
        </p:grpSpPr>
        <p:sp>
          <p:nvSpPr>
            <p:cNvPr name="Freeform 26" id="26"/>
            <p:cNvSpPr/>
            <p:nvPr/>
          </p:nvSpPr>
          <p:spPr>
            <a:xfrm flipH="false" flipV="false" rot="0">
              <a:off x="0" y="0"/>
              <a:ext cx="8997696" cy="841248"/>
            </a:xfrm>
            <a:custGeom>
              <a:avLst/>
              <a:gdLst/>
              <a:ahLst/>
              <a:cxnLst/>
              <a:rect r="r" b="b" t="t" l="l"/>
              <a:pathLst>
                <a:path h="841248" w="8997696">
                  <a:moveTo>
                    <a:pt x="0" y="0"/>
                  </a:moveTo>
                  <a:lnTo>
                    <a:pt x="8997696" y="0"/>
                  </a:lnTo>
                  <a:lnTo>
                    <a:pt x="8997696" y="841248"/>
                  </a:lnTo>
                  <a:lnTo>
                    <a:pt x="0" y="841248"/>
                  </a:lnTo>
                  <a:close/>
                </a:path>
              </a:pathLst>
            </a:custGeom>
            <a:blipFill>
              <a:blip r:embed="rId3">
                <a:alphaModFix amt="0"/>
              </a:blip>
              <a:stretch>
                <a:fillRect l="0" t="-158405" r="0" b="-158405"/>
              </a:stretch>
            </a:blipFill>
          </p:spPr>
        </p:sp>
        <p:sp>
          <p:nvSpPr>
            <p:cNvPr name="TextBox 27" id="27"/>
            <p:cNvSpPr txBox="true"/>
            <p:nvPr/>
          </p:nvSpPr>
          <p:spPr>
            <a:xfrm>
              <a:off x="0" y="-19050"/>
              <a:ext cx="8997696" cy="860298"/>
            </a:xfrm>
            <a:prstGeom prst="rect">
              <a:avLst/>
            </a:prstGeom>
          </p:spPr>
          <p:txBody>
            <a:bodyPr anchor="ctr" rtlCol="false" tIns="0" lIns="0" bIns="0" rIns="0"/>
            <a:lstStyle/>
            <a:p>
              <a:pPr algn="l">
                <a:lnSpc>
                  <a:spcPts val="3419"/>
                </a:lnSpc>
              </a:pPr>
              <a:r>
                <a:rPr lang="en-US" sz="2850" b="true">
                  <a:solidFill>
                    <a:srgbClr val="12304C"/>
                  </a:solidFill>
                  <a:latin typeface="Arial Bold"/>
                  <a:ea typeface="Arial Bold"/>
                  <a:cs typeface="Arial Bold"/>
                  <a:sym typeface="Arial Bold"/>
                </a:rPr>
                <a:t>Đóng góp của nghiên cứu</a:t>
              </a:r>
            </a:p>
          </p:txBody>
        </p:sp>
      </p:grpSp>
      <p:grpSp>
        <p:nvGrpSpPr>
          <p:cNvPr name="Group 28" id="28"/>
          <p:cNvGrpSpPr/>
          <p:nvPr/>
        </p:nvGrpSpPr>
        <p:grpSpPr>
          <a:xfrm rot="0">
            <a:off x="1591056" y="4430268"/>
            <a:ext cx="6885432" cy="726948"/>
            <a:chOff x="0" y="0"/>
            <a:chExt cx="9180576" cy="969264"/>
          </a:xfrm>
        </p:grpSpPr>
        <p:sp>
          <p:nvSpPr>
            <p:cNvPr name="Freeform 29" id="29"/>
            <p:cNvSpPr/>
            <p:nvPr/>
          </p:nvSpPr>
          <p:spPr>
            <a:xfrm flipH="false" flipV="false" rot="0">
              <a:off x="0" y="0"/>
              <a:ext cx="9180576" cy="969264"/>
            </a:xfrm>
            <a:custGeom>
              <a:avLst/>
              <a:gdLst/>
              <a:ahLst/>
              <a:cxnLst/>
              <a:rect r="r" b="b" t="t" l="l"/>
              <a:pathLst>
                <a:path h="969264" w="9180576">
                  <a:moveTo>
                    <a:pt x="0" y="0"/>
                  </a:moveTo>
                  <a:lnTo>
                    <a:pt x="9180576" y="0"/>
                  </a:lnTo>
                  <a:lnTo>
                    <a:pt x="9180576" y="969264"/>
                  </a:lnTo>
                  <a:lnTo>
                    <a:pt x="0" y="969264"/>
                  </a:lnTo>
                  <a:close/>
                </a:path>
              </a:pathLst>
            </a:custGeom>
            <a:blipFill>
              <a:blip r:embed="rId3">
                <a:alphaModFix amt="0"/>
              </a:blip>
              <a:stretch>
                <a:fillRect l="0" t="-134556" r="0" b="-134556"/>
              </a:stretch>
            </a:blipFill>
          </p:spPr>
        </p:sp>
        <p:sp>
          <p:nvSpPr>
            <p:cNvPr name="TextBox 30" id="30"/>
            <p:cNvSpPr txBox="true"/>
            <p:nvPr/>
          </p:nvSpPr>
          <p:spPr>
            <a:xfrm>
              <a:off x="0" y="-19050"/>
              <a:ext cx="9180576" cy="988314"/>
            </a:xfrm>
            <a:prstGeom prst="rect">
              <a:avLst/>
            </a:prstGeom>
          </p:spPr>
          <p:txBody>
            <a:bodyPr anchor="ctr" rtlCol="false" tIns="0" lIns="0" bIns="0" rIns="0"/>
            <a:lstStyle/>
            <a:p>
              <a:pPr algn="l">
                <a:lnSpc>
                  <a:spcPts val="2717"/>
                </a:lnSpc>
              </a:pPr>
              <a:r>
                <a:rPr lang="en-US" sz="2265" b="true">
                  <a:solidFill>
                    <a:srgbClr val="12304C"/>
                  </a:solidFill>
                  <a:latin typeface="Arial Bold"/>
                  <a:ea typeface="Arial Bold"/>
                  <a:cs typeface="Arial Bold"/>
                  <a:sym typeface="Arial Bold"/>
                </a:rPr>
                <a:t>01  Mô hình quản trị phân cấp 36 quy trình</a:t>
              </a:r>
            </a:p>
          </p:txBody>
        </p:sp>
      </p:grpSp>
      <p:grpSp>
        <p:nvGrpSpPr>
          <p:cNvPr name="Group 31" id="31"/>
          <p:cNvGrpSpPr/>
          <p:nvPr/>
        </p:nvGrpSpPr>
        <p:grpSpPr>
          <a:xfrm rot="0">
            <a:off x="1591056" y="5527548"/>
            <a:ext cx="6871716" cy="672084"/>
            <a:chOff x="0" y="0"/>
            <a:chExt cx="9162288" cy="896112"/>
          </a:xfrm>
        </p:grpSpPr>
        <p:sp>
          <p:nvSpPr>
            <p:cNvPr name="Freeform 32" id="32"/>
            <p:cNvSpPr/>
            <p:nvPr/>
          </p:nvSpPr>
          <p:spPr>
            <a:xfrm flipH="false" flipV="false" rot="0">
              <a:off x="0" y="0"/>
              <a:ext cx="9162288" cy="896112"/>
            </a:xfrm>
            <a:custGeom>
              <a:avLst/>
              <a:gdLst/>
              <a:ahLst/>
              <a:cxnLst/>
              <a:rect r="r" b="b" t="t" l="l"/>
              <a:pathLst>
                <a:path h="896112" w="9162288">
                  <a:moveTo>
                    <a:pt x="0" y="0"/>
                  </a:moveTo>
                  <a:lnTo>
                    <a:pt x="9162288" y="0"/>
                  </a:lnTo>
                  <a:lnTo>
                    <a:pt x="9162288" y="896112"/>
                  </a:lnTo>
                  <a:lnTo>
                    <a:pt x="0" y="896112"/>
                  </a:lnTo>
                  <a:close/>
                </a:path>
              </a:pathLst>
            </a:custGeom>
            <a:blipFill>
              <a:blip r:embed="rId3">
                <a:alphaModFix amt="0"/>
              </a:blip>
              <a:stretch>
                <a:fillRect l="0" t="-149224" r="0" b="-149224"/>
              </a:stretch>
            </a:blipFill>
          </p:spPr>
        </p:sp>
        <p:sp>
          <p:nvSpPr>
            <p:cNvPr name="TextBox 33" id="33"/>
            <p:cNvSpPr txBox="true"/>
            <p:nvPr/>
          </p:nvSpPr>
          <p:spPr>
            <a:xfrm>
              <a:off x="0" y="-19050"/>
              <a:ext cx="9162288" cy="915162"/>
            </a:xfrm>
            <a:prstGeom prst="rect">
              <a:avLst/>
            </a:prstGeom>
          </p:spPr>
          <p:txBody>
            <a:bodyPr anchor="ctr" rtlCol="false" tIns="0" lIns="0" bIns="0" rIns="0"/>
            <a:lstStyle/>
            <a:p>
              <a:pPr algn="l">
                <a:lnSpc>
                  <a:spcPts val="2717"/>
                </a:lnSpc>
              </a:pPr>
              <a:r>
                <a:rPr lang="en-US" sz="2265" b="true">
                  <a:solidFill>
                    <a:srgbClr val="12304C"/>
                  </a:solidFill>
                  <a:latin typeface="Arial Bold"/>
                  <a:ea typeface="Arial Bold"/>
                  <a:cs typeface="Arial Bold"/>
                  <a:sym typeface="Arial Bold"/>
                </a:rPr>
                <a:t>02  Tổng hợp, liên hệ nhiều tiêu chuẩn</a:t>
              </a:r>
            </a:p>
          </p:txBody>
        </p:sp>
      </p:grpSp>
      <p:grpSp>
        <p:nvGrpSpPr>
          <p:cNvPr name="Group 34" id="34"/>
          <p:cNvGrpSpPr/>
          <p:nvPr/>
        </p:nvGrpSpPr>
        <p:grpSpPr>
          <a:xfrm rot="0">
            <a:off x="1591056" y="6624828"/>
            <a:ext cx="6899148" cy="726948"/>
            <a:chOff x="0" y="0"/>
            <a:chExt cx="9198864" cy="969264"/>
          </a:xfrm>
        </p:grpSpPr>
        <p:sp>
          <p:nvSpPr>
            <p:cNvPr name="Freeform 35" id="35"/>
            <p:cNvSpPr/>
            <p:nvPr/>
          </p:nvSpPr>
          <p:spPr>
            <a:xfrm flipH="false" flipV="false" rot="0">
              <a:off x="0" y="0"/>
              <a:ext cx="9198864" cy="969264"/>
            </a:xfrm>
            <a:custGeom>
              <a:avLst/>
              <a:gdLst/>
              <a:ahLst/>
              <a:cxnLst/>
              <a:rect r="r" b="b" t="t" l="l"/>
              <a:pathLst>
                <a:path h="969264" w="9198864">
                  <a:moveTo>
                    <a:pt x="0" y="0"/>
                  </a:moveTo>
                  <a:lnTo>
                    <a:pt x="9198864" y="0"/>
                  </a:lnTo>
                  <a:lnTo>
                    <a:pt x="9198864" y="969264"/>
                  </a:lnTo>
                  <a:lnTo>
                    <a:pt x="0" y="969264"/>
                  </a:lnTo>
                  <a:close/>
                </a:path>
              </a:pathLst>
            </a:custGeom>
            <a:blipFill>
              <a:blip r:embed="rId3">
                <a:alphaModFix amt="0"/>
              </a:blip>
              <a:stretch>
                <a:fillRect l="0" t="-134924" r="0" b="-134924"/>
              </a:stretch>
            </a:blipFill>
          </p:spPr>
        </p:sp>
        <p:sp>
          <p:nvSpPr>
            <p:cNvPr name="TextBox 36" id="36"/>
            <p:cNvSpPr txBox="true"/>
            <p:nvPr/>
          </p:nvSpPr>
          <p:spPr>
            <a:xfrm>
              <a:off x="0" y="-19050"/>
              <a:ext cx="9198864" cy="988314"/>
            </a:xfrm>
            <a:prstGeom prst="rect">
              <a:avLst/>
            </a:prstGeom>
          </p:spPr>
          <p:txBody>
            <a:bodyPr anchor="ctr" rtlCol="false" tIns="0" lIns="0" bIns="0" rIns="0"/>
            <a:lstStyle/>
            <a:p>
              <a:pPr algn="l">
                <a:lnSpc>
                  <a:spcPts val="2717"/>
                </a:lnSpc>
              </a:pPr>
              <a:r>
                <a:rPr lang="en-US" sz="2265" b="true">
                  <a:solidFill>
                    <a:srgbClr val="12304C"/>
                  </a:solidFill>
                  <a:latin typeface="Arial Bold"/>
                  <a:ea typeface="Arial Bold"/>
                  <a:cs typeface="Arial Bold"/>
                  <a:sym typeface="Arial Bold"/>
                </a:rPr>
                <a:t>03  CSMPA: đo Maturity + Effectiveness</a:t>
              </a:r>
            </a:p>
          </p:txBody>
        </p:sp>
      </p:grpSp>
      <p:grpSp>
        <p:nvGrpSpPr>
          <p:cNvPr name="Group 37" id="37"/>
          <p:cNvGrpSpPr/>
          <p:nvPr/>
        </p:nvGrpSpPr>
        <p:grpSpPr>
          <a:xfrm rot="0">
            <a:off x="9278112" y="2776728"/>
            <a:ext cx="7751064" cy="5145024"/>
            <a:chOff x="0" y="0"/>
            <a:chExt cx="10334752" cy="6860032"/>
          </a:xfrm>
        </p:grpSpPr>
        <p:sp>
          <p:nvSpPr>
            <p:cNvPr name="Freeform 38" id="38"/>
            <p:cNvSpPr/>
            <p:nvPr/>
          </p:nvSpPr>
          <p:spPr>
            <a:xfrm flipH="false" flipV="false" rot="0">
              <a:off x="0" y="0"/>
              <a:ext cx="10334752" cy="6860032"/>
            </a:xfrm>
            <a:custGeom>
              <a:avLst/>
              <a:gdLst/>
              <a:ahLst/>
              <a:cxnLst/>
              <a:rect r="r" b="b" t="t" l="l"/>
              <a:pathLst>
                <a:path h="6860032" w="10334752">
                  <a:moveTo>
                    <a:pt x="0" y="220091"/>
                  </a:moveTo>
                  <a:cubicBezTo>
                    <a:pt x="0" y="98552"/>
                    <a:pt x="98552" y="0"/>
                    <a:pt x="220091" y="0"/>
                  </a:cubicBezTo>
                  <a:lnTo>
                    <a:pt x="10114661" y="0"/>
                  </a:lnTo>
                  <a:cubicBezTo>
                    <a:pt x="10236200" y="0"/>
                    <a:pt x="10334752" y="98552"/>
                    <a:pt x="10334752" y="220091"/>
                  </a:cubicBezTo>
                  <a:lnTo>
                    <a:pt x="10334752" y="6639941"/>
                  </a:lnTo>
                  <a:cubicBezTo>
                    <a:pt x="10334752" y="6761480"/>
                    <a:pt x="10236200" y="6860032"/>
                    <a:pt x="10114661" y="6860032"/>
                  </a:cubicBezTo>
                  <a:lnTo>
                    <a:pt x="220091" y="6860032"/>
                  </a:lnTo>
                  <a:cubicBezTo>
                    <a:pt x="98552" y="6860032"/>
                    <a:pt x="0" y="6761480"/>
                    <a:pt x="0" y="6639941"/>
                  </a:cubicBezTo>
                  <a:close/>
                </a:path>
              </a:pathLst>
            </a:custGeom>
            <a:solidFill>
              <a:srgbClr val="12304C"/>
            </a:solidFill>
            <a:ln w="15240" cap="sq">
              <a:solidFill>
                <a:srgbClr val="12304C"/>
              </a:solidFill>
              <a:prstDash val="solid"/>
              <a:miter/>
            </a:ln>
          </p:spPr>
        </p:sp>
      </p:grpSp>
      <p:grpSp>
        <p:nvGrpSpPr>
          <p:cNvPr name="Group 39" id="39"/>
          <p:cNvGrpSpPr/>
          <p:nvPr/>
        </p:nvGrpSpPr>
        <p:grpSpPr>
          <a:xfrm rot="0">
            <a:off x="9669780" y="3209544"/>
            <a:ext cx="6720840" cy="493776"/>
            <a:chOff x="0" y="0"/>
            <a:chExt cx="8961120" cy="658368"/>
          </a:xfrm>
        </p:grpSpPr>
        <p:sp>
          <p:nvSpPr>
            <p:cNvPr name="Freeform 40" id="40"/>
            <p:cNvSpPr/>
            <p:nvPr/>
          </p:nvSpPr>
          <p:spPr>
            <a:xfrm flipH="false" flipV="false" rot="0">
              <a:off x="0" y="0"/>
              <a:ext cx="8961120" cy="658368"/>
            </a:xfrm>
            <a:custGeom>
              <a:avLst/>
              <a:gdLst/>
              <a:ahLst/>
              <a:cxnLst/>
              <a:rect r="r" b="b" t="t" l="l"/>
              <a:pathLst>
                <a:path h="658368" w="8961120">
                  <a:moveTo>
                    <a:pt x="0" y="0"/>
                  </a:moveTo>
                  <a:lnTo>
                    <a:pt x="8961120" y="0"/>
                  </a:lnTo>
                  <a:lnTo>
                    <a:pt x="8961120" y="658368"/>
                  </a:lnTo>
                  <a:lnTo>
                    <a:pt x="0" y="658368"/>
                  </a:lnTo>
                  <a:close/>
                </a:path>
              </a:pathLst>
            </a:custGeom>
            <a:blipFill>
              <a:blip r:embed="rId3">
                <a:alphaModFix amt="0"/>
              </a:blip>
              <a:stretch>
                <a:fillRect l="0" t="-215213" r="0" b="-215213"/>
              </a:stretch>
            </a:blipFill>
          </p:spPr>
        </p:sp>
        <p:sp>
          <p:nvSpPr>
            <p:cNvPr name="TextBox 41" id="41"/>
            <p:cNvSpPr txBox="true"/>
            <p:nvPr/>
          </p:nvSpPr>
          <p:spPr>
            <a:xfrm>
              <a:off x="0" y="-19050"/>
              <a:ext cx="8961120" cy="677418"/>
            </a:xfrm>
            <a:prstGeom prst="rect">
              <a:avLst/>
            </a:prstGeom>
          </p:spPr>
          <p:txBody>
            <a:bodyPr anchor="ctr" rtlCol="false" tIns="0" lIns="0" bIns="0" rIns="0"/>
            <a:lstStyle/>
            <a:p>
              <a:pPr algn="l">
                <a:lnSpc>
                  <a:spcPts val="2160"/>
                </a:lnSpc>
              </a:pPr>
              <a:r>
                <a:rPr lang="en-US" sz="1800" b="true">
                  <a:solidFill>
                    <a:srgbClr val="9BDDD6"/>
                  </a:solidFill>
                  <a:latin typeface="Arial Bold"/>
                  <a:ea typeface="Arial Bold"/>
                  <a:cs typeface="Arial Bold"/>
                  <a:sym typeface="Arial Bold"/>
                </a:rPr>
                <a:t>HẠN CHẾ / LIMITATIONS</a:t>
              </a:r>
            </a:p>
          </p:txBody>
        </p:sp>
      </p:grpSp>
      <p:sp>
        <p:nvSpPr>
          <p:cNvPr name="TextBox 42" id="42"/>
          <p:cNvSpPr txBox="true"/>
          <p:nvPr/>
        </p:nvSpPr>
        <p:spPr>
          <a:xfrm rot="0">
            <a:off x="9628632" y="4064127"/>
            <a:ext cx="6885432" cy="3342513"/>
          </a:xfrm>
          <a:prstGeom prst="rect">
            <a:avLst/>
          </a:prstGeom>
        </p:spPr>
        <p:txBody>
          <a:bodyPr anchor="t" rtlCol="false" tIns="0" lIns="0" bIns="0" rIns="0">
            <a:spAutoFit/>
          </a:bodyPr>
          <a:lstStyle/>
          <a:p>
            <a:pPr algn="l">
              <a:lnSpc>
                <a:spcPts val="2574"/>
              </a:lnSpc>
            </a:pPr>
            <a:r>
              <a:rPr lang="en-US" sz="2145">
                <a:solidFill>
                  <a:srgbClr val="FFFFFF"/>
                </a:solidFill>
                <a:latin typeface="Arial"/>
                <a:ea typeface="Arial"/>
                <a:cs typeface="Arial"/>
                <a:sym typeface="Arial"/>
              </a:rPr>
              <a:t>•  Phạm vi mô hình rộng, khó triển khai ở doanh nghiệp nhỏ ít nguồn lực.</a:t>
            </a:r>
          </a:p>
          <a:p>
            <a:pPr algn="l">
              <a:lnSpc>
                <a:spcPts val="2574"/>
              </a:lnSpc>
            </a:pPr>
          </a:p>
          <a:p>
            <a:pPr algn="l">
              <a:lnSpc>
                <a:spcPts val="2574"/>
              </a:lnSpc>
            </a:pPr>
            <a:r>
              <a:rPr lang="en-US" sz="2145">
                <a:solidFill>
                  <a:srgbClr val="FFFFFF"/>
                </a:solidFill>
                <a:latin typeface="Arial"/>
                <a:ea typeface="Arial"/>
                <a:cs typeface="Arial"/>
                <a:sym typeface="Arial"/>
              </a:rPr>
              <a:t>•  Mô hình còn mang tính tổng quát, chưa chuyên biệt theo từng ngành.</a:t>
            </a:r>
          </a:p>
          <a:p>
            <a:pPr algn="l">
              <a:lnSpc>
                <a:spcPts val="2574"/>
              </a:lnSpc>
            </a:pPr>
          </a:p>
          <a:p>
            <a:pPr algn="l">
              <a:lnSpc>
                <a:spcPts val="2574"/>
              </a:lnSpc>
            </a:pPr>
            <a:r>
              <a:rPr lang="en-US" sz="2145">
                <a:solidFill>
                  <a:srgbClr val="FFFFFF"/>
                </a:solidFill>
                <a:latin typeface="Arial"/>
                <a:ea typeface="Arial"/>
                <a:cs typeface="Arial"/>
                <a:sym typeface="Arial"/>
              </a:rPr>
              <a:t>•  Cần thêm nghiên cứu tình huống để kiểm chứng ứng dụng.</a:t>
            </a:r>
          </a:p>
        </p:txBody>
      </p:sp>
      <p:grpSp>
        <p:nvGrpSpPr>
          <p:cNvPr name="Group 43" id="43"/>
          <p:cNvGrpSpPr/>
          <p:nvPr/>
        </p:nvGrpSpPr>
        <p:grpSpPr>
          <a:xfrm rot="0">
            <a:off x="1357884" y="8325612"/>
            <a:ext cx="15663672" cy="699516"/>
            <a:chOff x="0" y="0"/>
            <a:chExt cx="20884896" cy="932688"/>
          </a:xfrm>
        </p:grpSpPr>
        <p:sp>
          <p:nvSpPr>
            <p:cNvPr name="Freeform 44" id="44"/>
            <p:cNvSpPr/>
            <p:nvPr/>
          </p:nvSpPr>
          <p:spPr>
            <a:xfrm flipH="false" flipV="false" rot="0">
              <a:off x="0" y="0"/>
              <a:ext cx="20884896" cy="932688"/>
            </a:xfrm>
            <a:custGeom>
              <a:avLst/>
              <a:gdLst/>
              <a:ahLst/>
              <a:cxnLst/>
              <a:rect r="r" b="b" t="t" l="l"/>
              <a:pathLst>
                <a:path h="932688" w="20884896">
                  <a:moveTo>
                    <a:pt x="0" y="0"/>
                  </a:moveTo>
                  <a:lnTo>
                    <a:pt x="20884896" y="0"/>
                  </a:lnTo>
                  <a:lnTo>
                    <a:pt x="20884896" y="932688"/>
                  </a:lnTo>
                  <a:lnTo>
                    <a:pt x="0" y="932688"/>
                  </a:lnTo>
                  <a:close/>
                </a:path>
              </a:pathLst>
            </a:custGeom>
            <a:blipFill>
              <a:blip r:embed="rId3">
                <a:alphaModFix amt="0"/>
              </a:blip>
              <a:stretch>
                <a:fillRect l="0" t="-386312" r="0" b="-386312"/>
              </a:stretch>
            </a:blipFill>
          </p:spPr>
        </p:sp>
        <p:sp>
          <p:nvSpPr>
            <p:cNvPr name="TextBox 45" id="45"/>
            <p:cNvSpPr txBox="true"/>
            <p:nvPr/>
          </p:nvSpPr>
          <p:spPr>
            <a:xfrm>
              <a:off x="0" y="-19050"/>
              <a:ext cx="20884896" cy="951738"/>
            </a:xfrm>
            <a:prstGeom prst="rect">
              <a:avLst/>
            </a:prstGeom>
          </p:spPr>
          <p:txBody>
            <a:bodyPr anchor="ctr" rtlCol="false" tIns="0" lIns="0" bIns="0" rIns="0"/>
            <a:lstStyle/>
            <a:p>
              <a:pPr algn="l">
                <a:lnSpc>
                  <a:spcPts val="2735"/>
                </a:lnSpc>
              </a:pPr>
              <a:r>
                <a:rPr lang="en-US" sz="2279" b="true">
                  <a:solidFill>
                    <a:srgbClr val="137E82"/>
                  </a:solidFill>
                  <a:latin typeface="Arial Bold"/>
                  <a:ea typeface="Arial Bold"/>
                  <a:cs typeface="Arial Bold"/>
                  <a:sym typeface="Arial Bold"/>
                </a:rPr>
                <a:t>KẾT LUẬN: 36 quy trình + CSMPA tạo nền tảng tham chiếu cho quản trị và đo lường an ninh mạng.</a:t>
              </a:r>
            </a:p>
          </p:txBody>
        </p:sp>
      </p:gr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F5F8FB"/>
        </a:solidFill>
      </p:bgPr>
    </p:bg>
    <p:spTree>
      <p:nvGrpSpPr>
        <p:cNvPr id="1" name=""/>
        <p:cNvGrpSpPr/>
        <p:nvPr/>
      </p:nvGrpSpPr>
      <p:grpSpPr>
        <a:xfrm>
          <a:off x="0" y="0"/>
          <a:ext cx="0" cy="0"/>
          <a:chOff x="0" y="0"/>
          <a:chExt cx="0" cy="0"/>
        </a:xfrm>
      </p:grpSpPr>
      <p:grpSp>
        <p:nvGrpSpPr>
          <p:cNvPr name="Group 2" id="2"/>
          <p:cNvGrpSpPr/>
          <p:nvPr/>
        </p:nvGrpSpPr>
        <p:grpSpPr>
          <a:xfrm rot="0">
            <a:off x="-9525" y="-9525"/>
            <a:ext cx="197358" cy="10306050"/>
            <a:chOff x="0" y="0"/>
            <a:chExt cx="263144" cy="13741400"/>
          </a:xfrm>
        </p:grpSpPr>
        <p:sp>
          <p:nvSpPr>
            <p:cNvPr name="Freeform 3" id="3"/>
            <p:cNvSpPr/>
            <p:nvPr/>
          </p:nvSpPr>
          <p:spPr>
            <a:xfrm flipH="false" flipV="false" rot="0">
              <a:off x="0" y="0"/>
              <a:ext cx="263144" cy="13741400"/>
            </a:xfrm>
            <a:custGeom>
              <a:avLst/>
              <a:gdLst/>
              <a:ahLst/>
              <a:cxnLst/>
              <a:rect r="r" b="b" t="t" l="l"/>
              <a:pathLst>
                <a:path h="13741400" w="263144">
                  <a:moveTo>
                    <a:pt x="0" y="0"/>
                  </a:moveTo>
                  <a:lnTo>
                    <a:pt x="263144" y="0"/>
                  </a:lnTo>
                  <a:lnTo>
                    <a:pt x="263144" y="13741400"/>
                  </a:lnTo>
                  <a:lnTo>
                    <a:pt x="0" y="13741400"/>
                  </a:lnTo>
                  <a:close/>
                </a:path>
              </a:pathLst>
            </a:custGeom>
            <a:solidFill>
              <a:srgbClr val="078884"/>
            </a:solidFill>
          </p:spPr>
        </p:sp>
      </p:grpSp>
      <p:grpSp>
        <p:nvGrpSpPr>
          <p:cNvPr name="Group 4" id="4"/>
          <p:cNvGrpSpPr/>
          <p:nvPr/>
        </p:nvGrpSpPr>
        <p:grpSpPr>
          <a:xfrm rot="0">
            <a:off x="1083564" y="521208"/>
            <a:ext cx="6858000" cy="342900"/>
            <a:chOff x="0" y="0"/>
            <a:chExt cx="9144000" cy="457200"/>
          </a:xfrm>
        </p:grpSpPr>
        <p:sp>
          <p:nvSpPr>
            <p:cNvPr name="Freeform 5" id="5"/>
            <p:cNvSpPr/>
            <p:nvPr/>
          </p:nvSpPr>
          <p:spPr>
            <a:xfrm flipH="false" flipV="false" rot="0">
              <a:off x="0" y="0"/>
              <a:ext cx="9144000" cy="457200"/>
            </a:xfrm>
            <a:custGeom>
              <a:avLst/>
              <a:gdLst/>
              <a:ahLst/>
              <a:cxnLst/>
              <a:rect r="r" b="b" t="t" l="l"/>
              <a:pathLst>
                <a:path h="457200" w="9144000">
                  <a:moveTo>
                    <a:pt x="0" y="0"/>
                  </a:moveTo>
                  <a:lnTo>
                    <a:pt x="9144000" y="0"/>
                  </a:lnTo>
                  <a:lnTo>
                    <a:pt x="9144000" y="457200"/>
                  </a:lnTo>
                  <a:lnTo>
                    <a:pt x="0" y="457200"/>
                  </a:lnTo>
                  <a:close/>
                </a:path>
              </a:pathLst>
            </a:custGeom>
            <a:blipFill>
              <a:blip r:embed="rId3">
                <a:alphaModFix amt="0"/>
              </a:blip>
              <a:stretch>
                <a:fillRect l="0" t="-339700" r="0" b="-339700"/>
              </a:stretch>
            </a:blipFill>
          </p:spPr>
        </p:sp>
        <p:sp>
          <p:nvSpPr>
            <p:cNvPr name="TextBox 6" id="6"/>
            <p:cNvSpPr txBox="true"/>
            <p:nvPr/>
          </p:nvSpPr>
          <p:spPr>
            <a:xfrm>
              <a:off x="0" y="-9525"/>
              <a:ext cx="9144000" cy="466725"/>
            </a:xfrm>
            <a:prstGeom prst="rect">
              <a:avLst/>
            </a:prstGeom>
          </p:spPr>
          <p:txBody>
            <a:bodyPr anchor="ctr" rtlCol="false" tIns="0" lIns="0" bIns="0" rIns="0"/>
            <a:lstStyle/>
            <a:p>
              <a:pPr algn="l">
                <a:lnSpc>
                  <a:spcPts val="1907"/>
                </a:lnSpc>
              </a:pPr>
              <a:r>
                <a:rPr lang="en-US" b="true" sz="1589" spc="195">
                  <a:solidFill>
                    <a:srgbClr val="078884"/>
                  </a:solidFill>
                  <a:latin typeface="Aptos Bold"/>
                  <a:ea typeface="Aptos Bold"/>
                  <a:cs typeface="Aptos Bold"/>
                  <a:sym typeface="Aptos Bold"/>
                </a:rPr>
                <a:t>N G U Ồ N   D Ữ   L I Ệ U</a:t>
              </a:r>
            </a:p>
          </p:txBody>
        </p:sp>
      </p:grpSp>
      <p:grpSp>
        <p:nvGrpSpPr>
          <p:cNvPr name="Group 7" id="7"/>
          <p:cNvGrpSpPr/>
          <p:nvPr/>
        </p:nvGrpSpPr>
        <p:grpSpPr>
          <a:xfrm rot="0">
            <a:off x="1083564" y="1056132"/>
            <a:ext cx="16322040" cy="713232"/>
            <a:chOff x="0" y="0"/>
            <a:chExt cx="21762720" cy="950976"/>
          </a:xfrm>
        </p:grpSpPr>
        <p:sp>
          <p:nvSpPr>
            <p:cNvPr name="Freeform 8" id="8"/>
            <p:cNvSpPr/>
            <p:nvPr/>
          </p:nvSpPr>
          <p:spPr>
            <a:xfrm flipH="false" flipV="false" rot="0">
              <a:off x="0" y="0"/>
              <a:ext cx="21762720" cy="950976"/>
            </a:xfrm>
            <a:custGeom>
              <a:avLst/>
              <a:gdLst/>
              <a:ahLst/>
              <a:cxnLst/>
              <a:rect r="r" b="b" t="t" l="l"/>
              <a:pathLst>
                <a:path h="950976" w="21762720">
                  <a:moveTo>
                    <a:pt x="0" y="0"/>
                  </a:moveTo>
                  <a:lnTo>
                    <a:pt x="21762720" y="0"/>
                  </a:lnTo>
                  <a:lnTo>
                    <a:pt x="21762720" y="950976"/>
                  </a:lnTo>
                  <a:lnTo>
                    <a:pt x="0" y="950976"/>
                  </a:lnTo>
                  <a:close/>
                </a:path>
              </a:pathLst>
            </a:custGeom>
            <a:blipFill>
              <a:blip r:embed="rId3">
                <a:alphaModFix amt="0"/>
              </a:blip>
              <a:stretch>
                <a:fillRect l="0" t="-395907" r="0" b="-395907"/>
              </a:stretch>
            </a:blipFill>
          </p:spPr>
        </p:sp>
        <p:sp>
          <p:nvSpPr>
            <p:cNvPr name="TextBox 9" id="9"/>
            <p:cNvSpPr txBox="true"/>
            <p:nvPr/>
          </p:nvSpPr>
          <p:spPr>
            <a:xfrm>
              <a:off x="0" y="9525"/>
              <a:ext cx="21762720" cy="941451"/>
            </a:xfrm>
            <a:prstGeom prst="rect">
              <a:avLst/>
            </a:prstGeom>
          </p:spPr>
          <p:txBody>
            <a:bodyPr anchor="ctr" rtlCol="false" tIns="0" lIns="0" bIns="0" rIns="0"/>
            <a:lstStyle/>
            <a:p>
              <a:pPr algn="l">
                <a:lnSpc>
                  <a:spcPts val="4895"/>
                </a:lnSpc>
              </a:pPr>
              <a:r>
                <a:rPr lang="en-US" sz="4079" b="true">
                  <a:solidFill>
                    <a:srgbClr val="193957"/>
                  </a:solidFill>
                  <a:latin typeface="Aptos Bold"/>
                  <a:ea typeface="Aptos Bold"/>
                  <a:cs typeface="Aptos Bold"/>
                  <a:sym typeface="Aptos Bold"/>
                </a:rPr>
                <a:t>Appendix A: hiểu đúng dữ liệu được công bố</a:t>
              </a:r>
            </a:p>
          </p:txBody>
        </p:sp>
      </p:grpSp>
      <p:grpSp>
        <p:nvGrpSpPr>
          <p:cNvPr name="Group 10" id="10"/>
          <p:cNvGrpSpPr/>
          <p:nvPr/>
        </p:nvGrpSpPr>
        <p:grpSpPr>
          <a:xfrm rot="0">
            <a:off x="1097280" y="2002536"/>
            <a:ext cx="16322040" cy="452628"/>
            <a:chOff x="0" y="0"/>
            <a:chExt cx="21762720" cy="603504"/>
          </a:xfrm>
        </p:grpSpPr>
        <p:sp>
          <p:nvSpPr>
            <p:cNvPr name="Freeform 11" id="11"/>
            <p:cNvSpPr/>
            <p:nvPr/>
          </p:nvSpPr>
          <p:spPr>
            <a:xfrm flipH="false" flipV="false" rot="0">
              <a:off x="0" y="0"/>
              <a:ext cx="21762720" cy="603504"/>
            </a:xfrm>
            <a:custGeom>
              <a:avLst/>
              <a:gdLst/>
              <a:ahLst/>
              <a:cxnLst/>
              <a:rect r="r" b="b" t="t" l="l"/>
              <a:pathLst>
                <a:path h="603504" w="21762720">
                  <a:moveTo>
                    <a:pt x="0" y="0"/>
                  </a:moveTo>
                  <a:lnTo>
                    <a:pt x="21762720" y="0"/>
                  </a:lnTo>
                  <a:lnTo>
                    <a:pt x="21762720" y="603504"/>
                  </a:lnTo>
                  <a:lnTo>
                    <a:pt x="0" y="603504"/>
                  </a:lnTo>
                  <a:close/>
                </a:path>
              </a:pathLst>
            </a:custGeom>
            <a:blipFill>
              <a:blip r:embed="rId3">
                <a:alphaModFix amt="0"/>
              </a:blip>
              <a:stretch>
                <a:fillRect l="0" t="-652642" r="0" b="-652642"/>
              </a:stretch>
            </a:blipFill>
          </p:spPr>
        </p:sp>
        <p:sp>
          <p:nvSpPr>
            <p:cNvPr name="TextBox 12" id="12"/>
            <p:cNvSpPr txBox="true"/>
            <p:nvPr/>
          </p:nvSpPr>
          <p:spPr>
            <a:xfrm>
              <a:off x="0" y="0"/>
              <a:ext cx="21762720" cy="603504"/>
            </a:xfrm>
            <a:prstGeom prst="rect">
              <a:avLst/>
            </a:prstGeom>
          </p:spPr>
          <p:txBody>
            <a:bodyPr anchor="ctr" rtlCol="false" tIns="0" lIns="0" bIns="0" rIns="0"/>
            <a:lstStyle/>
            <a:p>
              <a:pPr algn="l">
                <a:lnSpc>
                  <a:spcPts val="2358"/>
                </a:lnSpc>
              </a:pPr>
              <a:r>
                <a:rPr lang="en-US" sz="1964">
                  <a:solidFill>
                    <a:srgbClr val="66809A"/>
                  </a:solidFill>
                  <a:latin typeface="Aptos"/>
                  <a:ea typeface="Aptos"/>
                  <a:cs typeface="Aptos"/>
                  <a:sym typeface="Aptos"/>
                </a:rPr>
                <a:t>Table A1: kết quả thống kê Delphi vòng 3 của 36 quy trình được chọn.</a:t>
              </a:r>
            </a:p>
          </p:txBody>
        </p:sp>
      </p:grpSp>
      <p:grpSp>
        <p:nvGrpSpPr>
          <p:cNvPr name="Group 13" id="13"/>
          <p:cNvGrpSpPr/>
          <p:nvPr/>
        </p:nvGrpSpPr>
        <p:grpSpPr>
          <a:xfrm rot="0">
            <a:off x="1063180" y="2777681"/>
            <a:ext cx="6020943" cy="5568315"/>
            <a:chOff x="0" y="0"/>
            <a:chExt cx="8027924" cy="7424420"/>
          </a:xfrm>
        </p:grpSpPr>
        <p:sp>
          <p:nvSpPr>
            <p:cNvPr name="Freeform 14" id="14"/>
            <p:cNvSpPr/>
            <p:nvPr/>
          </p:nvSpPr>
          <p:spPr>
            <a:xfrm flipH="false" flipV="false" rot="0">
              <a:off x="0" y="0"/>
              <a:ext cx="8027924" cy="7424420"/>
            </a:xfrm>
            <a:custGeom>
              <a:avLst/>
              <a:gdLst/>
              <a:ahLst/>
              <a:cxnLst/>
              <a:rect r="r" b="b" t="t" l="l"/>
              <a:pathLst>
                <a:path h="7424420" w="8027924">
                  <a:moveTo>
                    <a:pt x="0" y="183261"/>
                  </a:moveTo>
                  <a:cubicBezTo>
                    <a:pt x="0" y="82042"/>
                    <a:pt x="82042" y="0"/>
                    <a:pt x="183261" y="0"/>
                  </a:cubicBezTo>
                  <a:lnTo>
                    <a:pt x="7844663" y="0"/>
                  </a:lnTo>
                  <a:cubicBezTo>
                    <a:pt x="7945882" y="0"/>
                    <a:pt x="8027924" y="82042"/>
                    <a:pt x="8027924" y="183261"/>
                  </a:cubicBezTo>
                  <a:lnTo>
                    <a:pt x="8027924" y="7241159"/>
                  </a:lnTo>
                  <a:cubicBezTo>
                    <a:pt x="8027924" y="7342377"/>
                    <a:pt x="7945882" y="7424420"/>
                    <a:pt x="7844663" y="7424420"/>
                  </a:cubicBezTo>
                  <a:lnTo>
                    <a:pt x="183261" y="7424420"/>
                  </a:lnTo>
                  <a:cubicBezTo>
                    <a:pt x="82042" y="7424420"/>
                    <a:pt x="0" y="7342378"/>
                    <a:pt x="0" y="7241159"/>
                  </a:cubicBezTo>
                  <a:close/>
                </a:path>
              </a:pathLst>
            </a:custGeom>
            <a:solidFill>
              <a:srgbClr val="FFFFFF"/>
            </a:solidFill>
            <a:ln w="13335" cap="sq">
              <a:solidFill>
                <a:srgbClr val="DCE7EE"/>
              </a:solidFill>
              <a:prstDash val="solid"/>
              <a:miter/>
            </a:ln>
          </p:spPr>
        </p:sp>
      </p:grpSp>
      <p:grpSp>
        <p:nvGrpSpPr>
          <p:cNvPr name="Group 15" id="15"/>
          <p:cNvGrpSpPr/>
          <p:nvPr/>
        </p:nvGrpSpPr>
        <p:grpSpPr>
          <a:xfrm rot="0">
            <a:off x="7345108" y="2777681"/>
            <a:ext cx="9888855" cy="5568315"/>
            <a:chOff x="0" y="0"/>
            <a:chExt cx="13185140" cy="7424420"/>
          </a:xfrm>
        </p:grpSpPr>
        <p:sp>
          <p:nvSpPr>
            <p:cNvPr name="Freeform 16" id="16"/>
            <p:cNvSpPr/>
            <p:nvPr/>
          </p:nvSpPr>
          <p:spPr>
            <a:xfrm flipH="false" flipV="false" rot="0">
              <a:off x="0" y="0"/>
              <a:ext cx="13185141" cy="7424420"/>
            </a:xfrm>
            <a:custGeom>
              <a:avLst/>
              <a:gdLst/>
              <a:ahLst/>
              <a:cxnLst/>
              <a:rect r="r" b="b" t="t" l="l"/>
              <a:pathLst>
                <a:path h="7424420" w="13185141">
                  <a:moveTo>
                    <a:pt x="0" y="183261"/>
                  </a:moveTo>
                  <a:cubicBezTo>
                    <a:pt x="0" y="82042"/>
                    <a:pt x="82042" y="0"/>
                    <a:pt x="183261" y="0"/>
                  </a:cubicBezTo>
                  <a:lnTo>
                    <a:pt x="13001879" y="0"/>
                  </a:lnTo>
                  <a:cubicBezTo>
                    <a:pt x="13103098" y="0"/>
                    <a:pt x="13185141" y="82042"/>
                    <a:pt x="13185141" y="183261"/>
                  </a:cubicBezTo>
                  <a:lnTo>
                    <a:pt x="13185141" y="7241159"/>
                  </a:lnTo>
                  <a:cubicBezTo>
                    <a:pt x="13185141" y="7342377"/>
                    <a:pt x="13103098" y="7424420"/>
                    <a:pt x="13001879" y="7424420"/>
                  </a:cubicBezTo>
                  <a:lnTo>
                    <a:pt x="183261" y="7424420"/>
                  </a:lnTo>
                  <a:cubicBezTo>
                    <a:pt x="82042" y="7424420"/>
                    <a:pt x="0" y="7342378"/>
                    <a:pt x="0" y="7241159"/>
                  </a:cubicBezTo>
                  <a:close/>
                </a:path>
              </a:pathLst>
            </a:custGeom>
            <a:solidFill>
              <a:srgbClr val="FFFFFF"/>
            </a:solidFill>
            <a:ln w="13335" cap="sq">
              <a:solidFill>
                <a:srgbClr val="DCE7EE"/>
              </a:solidFill>
              <a:prstDash val="solid"/>
              <a:miter/>
            </a:ln>
          </p:spPr>
        </p:sp>
      </p:grpSp>
      <p:grpSp>
        <p:nvGrpSpPr>
          <p:cNvPr name="Group 17" id="17"/>
          <p:cNvGrpSpPr/>
          <p:nvPr/>
        </p:nvGrpSpPr>
        <p:grpSpPr>
          <a:xfrm rot="0">
            <a:off x="1453896" y="3113532"/>
            <a:ext cx="5362956" cy="480060"/>
            <a:chOff x="0" y="0"/>
            <a:chExt cx="7150608" cy="640080"/>
          </a:xfrm>
        </p:grpSpPr>
        <p:sp>
          <p:nvSpPr>
            <p:cNvPr name="Freeform 18" id="18"/>
            <p:cNvSpPr/>
            <p:nvPr/>
          </p:nvSpPr>
          <p:spPr>
            <a:xfrm flipH="false" flipV="false" rot="0">
              <a:off x="0" y="0"/>
              <a:ext cx="7150608" cy="640080"/>
            </a:xfrm>
            <a:custGeom>
              <a:avLst/>
              <a:gdLst/>
              <a:ahLst/>
              <a:cxnLst/>
              <a:rect r="r" b="b" t="t" l="l"/>
              <a:pathLst>
                <a:path h="640080" w="7150608">
                  <a:moveTo>
                    <a:pt x="0" y="0"/>
                  </a:moveTo>
                  <a:lnTo>
                    <a:pt x="7150608" y="0"/>
                  </a:lnTo>
                  <a:lnTo>
                    <a:pt x="7150608" y="640080"/>
                  </a:lnTo>
                  <a:lnTo>
                    <a:pt x="0" y="640080"/>
                  </a:lnTo>
                  <a:close/>
                </a:path>
              </a:pathLst>
            </a:custGeom>
            <a:blipFill>
              <a:blip r:embed="rId3">
                <a:alphaModFix amt="0"/>
              </a:blip>
              <a:stretch>
                <a:fillRect l="0" t="-167675" r="0" b="-167675"/>
              </a:stretch>
            </a:blipFill>
          </p:spPr>
        </p:sp>
        <p:sp>
          <p:nvSpPr>
            <p:cNvPr name="TextBox 19" id="19"/>
            <p:cNvSpPr txBox="true"/>
            <p:nvPr/>
          </p:nvSpPr>
          <p:spPr>
            <a:xfrm>
              <a:off x="0" y="-9525"/>
              <a:ext cx="7150608" cy="649605"/>
            </a:xfrm>
            <a:prstGeom prst="rect">
              <a:avLst/>
            </a:prstGeom>
          </p:spPr>
          <p:txBody>
            <a:bodyPr anchor="ctr" rtlCol="false" tIns="0" lIns="0" bIns="0" rIns="0"/>
            <a:lstStyle/>
            <a:p>
              <a:pPr algn="l">
                <a:lnSpc>
                  <a:spcPts val="2520"/>
                </a:lnSpc>
              </a:pPr>
              <a:r>
                <a:rPr lang="en-US" sz="2100" b="true">
                  <a:solidFill>
                    <a:srgbClr val="078884"/>
                  </a:solidFill>
                  <a:latin typeface="Aptos Bold"/>
                  <a:ea typeface="Aptos Bold"/>
                  <a:cs typeface="Aptos Bold"/>
                  <a:sym typeface="Aptos Bold"/>
                </a:rPr>
                <a:t>CỘT THỐNG KÊ TRONG TABLE A1</a:t>
              </a:r>
            </a:p>
          </p:txBody>
        </p:sp>
      </p:grpSp>
      <p:grpSp>
        <p:nvGrpSpPr>
          <p:cNvPr name="Group 20" id="20"/>
          <p:cNvGrpSpPr/>
          <p:nvPr/>
        </p:nvGrpSpPr>
        <p:grpSpPr>
          <a:xfrm rot="0">
            <a:off x="1508760" y="3922776"/>
            <a:ext cx="1810512" cy="466344"/>
            <a:chOff x="0" y="0"/>
            <a:chExt cx="2414016" cy="621792"/>
          </a:xfrm>
        </p:grpSpPr>
        <p:sp>
          <p:nvSpPr>
            <p:cNvPr name="Freeform 21" id="21"/>
            <p:cNvSpPr/>
            <p:nvPr/>
          </p:nvSpPr>
          <p:spPr>
            <a:xfrm flipH="false" flipV="false" rot="0">
              <a:off x="0" y="0"/>
              <a:ext cx="2414016" cy="621792"/>
            </a:xfrm>
            <a:custGeom>
              <a:avLst/>
              <a:gdLst/>
              <a:ahLst/>
              <a:cxnLst/>
              <a:rect r="r" b="b" t="t" l="l"/>
              <a:pathLst>
                <a:path h="621792" w="2414016">
                  <a:moveTo>
                    <a:pt x="0" y="0"/>
                  </a:moveTo>
                  <a:lnTo>
                    <a:pt x="2414016" y="0"/>
                  </a:lnTo>
                  <a:lnTo>
                    <a:pt x="2414016" y="621792"/>
                  </a:lnTo>
                  <a:lnTo>
                    <a:pt x="0" y="621792"/>
                  </a:lnTo>
                  <a:close/>
                </a:path>
              </a:pathLst>
            </a:custGeom>
            <a:blipFill>
              <a:blip r:embed="rId3">
                <a:alphaModFix amt="0"/>
              </a:blip>
              <a:stretch>
                <a:fillRect l="0" t="-25647" r="0" b="-25647"/>
              </a:stretch>
            </a:blipFill>
          </p:spPr>
        </p:sp>
        <p:sp>
          <p:nvSpPr>
            <p:cNvPr name="TextBox 22" id="22"/>
            <p:cNvSpPr txBox="true"/>
            <p:nvPr/>
          </p:nvSpPr>
          <p:spPr>
            <a:xfrm>
              <a:off x="0" y="-9525"/>
              <a:ext cx="2414016" cy="631317"/>
            </a:xfrm>
            <a:prstGeom prst="rect">
              <a:avLst/>
            </a:prstGeom>
          </p:spPr>
          <p:txBody>
            <a:bodyPr anchor="ctr" rtlCol="false" tIns="0" lIns="0" bIns="0" rIns="0"/>
            <a:lstStyle/>
            <a:p>
              <a:pPr algn="l">
                <a:lnSpc>
                  <a:spcPts val="2538"/>
                </a:lnSpc>
              </a:pPr>
              <a:r>
                <a:rPr lang="en-US" sz="2115" b="true">
                  <a:solidFill>
                    <a:srgbClr val="193957"/>
                  </a:solidFill>
                  <a:latin typeface="Aptos Bold"/>
                  <a:ea typeface="Aptos Bold"/>
                  <a:cs typeface="Aptos Bold"/>
                  <a:sym typeface="Aptos Bold"/>
                </a:rPr>
                <a:t>Mean</a:t>
              </a:r>
            </a:p>
          </p:txBody>
        </p:sp>
      </p:grpSp>
      <p:grpSp>
        <p:nvGrpSpPr>
          <p:cNvPr name="Group 23" id="23"/>
          <p:cNvGrpSpPr/>
          <p:nvPr/>
        </p:nvGrpSpPr>
        <p:grpSpPr>
          <a:xfrm rot="0">
            <a:off x="3483864" y="3922776"/>
            <a:ext cx="3250692" cy="466344"/>
            <a:chOff x="0" y="0"/>
            <a:chExt cx="4334256" cy="621792"/>
          </a:xfrm>
        </p:grpSpPr>
        <p:sp>
          <p:nvSpPr>
            <p:cNvPr name="Freeform 24" id="24"/>
            <p:cNvSpPr/>
            <p:nvPr/>
          </p:nvSpPr>
          <p:spPr>
            <a:xfrm flipH="false" flipV="false" rot="0">
              <a:off x="0" y="0"/>
              <a:ext cx="4334256" cy="621792"/>
            </a:xfrm>
            <a:custGeom>
              <a:avLst/>
              <a:gdLst/>
              <a:ahLst/>
              <a:cxnLst/>
              <a:rect r="r" b="b" t="t" l="l"/>
              <a:pathLst>
                <a:path h="621792" w="4334256">
                  <a:moveTo>
                    <a:pt x="0" y="0"/>
                  </a:moveTo>
                  <a:lnTo>
                    <a:pt x="4334256" y="0"/>
                  </a:lnTo>
                  <a:lnTo>
                    <a:pt x="4334256" y="621792"/>
                  </a:lnTo>
                  <a:lnTo>
                    <a:pt x="0" y="621792"/>
                  </a:lnTo>
                  <a:close/>
                </a:path>
              </a:pathLst>
            </a:custGeom>
            <a:blipFill>
              <a:blip r:embed="rId3">
                <a:alphaModFix amt="0"/>
              </a:blip>
              <a:stretch>
                <a:fillRect l="0" t="-85822" r="0" b="-85822"/>
              </a:stretch>
            </a:blipFill>
          </p:spPr>
        </p:sp>
        <p:sp>
          <p:nvSpPr>
            <p:cNvPr name="TextBox 25" id="25"/>
            <p:cNvSpPr txBox="true"/>
            <p:nvPr/>
          </p:nvSpPr>
          <p:spPr>
            <a:xfrm>
              <a:off x="0" y="0"/>
              <a:ext cx="4334256" cy="621792"/>
            </a:xfrm>
            <a:prstGeom prst="rect">
              <a:avLst/>
            </a:prstGeom>
          </p:spPr>
          <p:txBody>
            <a:bodyPr anchor="ctr" rtlCol="false" tIns="0" lIns="0" bIns="0" rIns="0"/>
            <a:lstStyle/>
            <a:p>
              <a:pPr algn="l">
                <a:lnSpc>
                  <a:spcPts val="2205"/>
                </a:lnSpc>
              </a:pPr>
              <a:r>
                <a:rPr lang="en-US" sz="1837">
                  <a:solidFill>
                    <a:srgbClr val="66809A"/>
                  </a:solidFill>
                  <a:latin typeface="Aptos"/>
                  <a:ea typeface="Aptos"/>
                  <a:cs typeface="Aptos"/>
                  <a:sym typeface="Aptos"/>
                </a:rPr>
                <a:t>Trung bình điểm chấm</a:t>
              </a:r>
            </a:p>
          </p:txBody>
        </p:sp>
      </p:grpSp>
      <p:sp>
        <p:nvSpPr>
          <p:cNvPr name="AutoShape 26" id="26"/>
          <p:cNvSpPr/>
          <p:nvPr/>
        </p:nvSpPr>
        <p:spPr>
          <a:xfrm rot="10020">
            <a:off x="1459982" y="4590097"/>
            <a:ext cx="5227339" cy="0"/>
          </a:xfrm>
          <a:prstGeom prst="line">
            <a:avLst/>
          </a:prstGeom>
          <a:ln cap="rnd" w="9525">
            <a:solidFill>
              <a:srgbClr val="EEF3F7"/>
            </a:solidFill>
            <a:prstDash val="solid"/>
            <a:headEnd type="none" len="sm" w="sm"/>
            <a:tailEnd type="none" len="sm" w="sm"/>
          </a:ln>
        </p:spPr>
      </p:sp>
      <p:grpSp>
        <p:nvGrpSpPr>
          <p:cNvPr name="Group 27" id="27"/>
          <p:cNvGrpSpPr/>
          <p:nvPr/>
        </p:nvGrpSpPr>
        <p:grpSpPr>
          <a:xfrm rot="0">
            <a:off x="1508760" y="4718304"/>
            <a:ext cx="1810512" cy="466344"/>
            <a:chOff x="0" y="0"/>
            <a:chExt cx="2414016" cy="621792"/>
          </a:xfrm>
        </p:grpSpPr>
        <p:sp>
          <p:nvSpPr>
            <p:cNvPr name="Freeform 28" id="28"/>
            <p:cNvSpPr/>
            <p:nvPr/>
          </p:nvSpPr>
          <p:spPr>
            <a:xfrm flipH="false" flipV="false" rot="0">
              <a:off x="0" y="0"/>
              <a:ext cx="2414016" cy="621792"/>
            </a:xfrm>
            <a:custGeom>
              <a:avLst/>
              <a:gdLst/>
              <a:ahLst/>
              <a:cxnLst/>
              <a:rect r="r" b="b" t="t" l="l"/>
              <a:pathLst>
                <a:path h="621792" w="2414016">
                  <a:moveTo>
                    <a:pt x="0" y="0"/>
                  </a:moveTo>
                  <a:lnTo>
                    <a:pt x="2414016" y="0"/>
                  </a:lnTo>
                  <a:lnTo>
                    <a:pt x="2414016" y="621792"/>
                  </a:lnTo>
                  <a:lnTo>
                    <a:pt x="0" y="621792"/>
                  </a:lnTo>
                  <a:close/>
                </a:path>
              </a:pathLst>
            </a:custGeom>
            <a:blipFill>
              <a:blip r:embed="rId3">
                <a:alphaModFix amt="0"/>
              </a:blip>
              <a:stretch>
                <a:fillRect l="0" t="-25647" r="0" b="-25647"/>
              </a:stretch>
            </a:blipFill>
          </p:spPr>
        </p:sp>
        <p:sp>
          <p:nvSpPr>
            <p:cNvPr name="TextBox 29" id="29"/>
            <p:cNvSpPr txBox="true"/>
            <p:nvPr/>
          </p:nvSpPr>
          <p:spPr>
            <a:xfrm>
              <a:off x="0" y="-9525"/>
              <a:ext cx="2414016" cy="631317"/>
            </a:xfrm>
            <a:prstGeom prst="rect">
              <a:avLst/>
            </a:prstGeom>
          </p:spPr>
          <p:txBody>
            <a:bodyPr anchor="ctr" rtlCol="false" tIns="0" lIns="0" bIns="0" rIns="0"/>
            <a:lstStyle/>
            <a:p>
              <a:pPr algn="l">
                <a:lnSpc>
                  <a:spcPts val="2538"/>
                </a:lnSpc>
              </a:pPr>
              <a:r>
                <a:rPr lang="en-US" sz="2115" b="true">
                  <a:solidFill>
                    <a:srgbClr val="193957"/>
                  </a:solidFill>
                  <a:latin typeface="Aptos Bold"/>
                  <a:ea typeface="Aptos Bold"/>
                  <a:cs typeface="Aptos Bold"/>
                  <a:sym typeface="Aptos Bold"/>
                </a:rPr>
                <a:t>Median</a:t>
              </a:r>
            </a:p>
          </p:txBody>
        </p:sp>
      </p:grpSp>
      <p:grpSp>
        <p:nvGrpSpPr>
          <p:cNvPr name="Group 30" id="30"/>
          <p:cNvGrpSpPr/>
          <p:nvPr/>
        </p:nvGrpSpPr>
        <p:grpSpPr>
          <a:xfrm rot="0">
            <a:off x="3483864" y="4718304"/>
            <a:ext cx="3250692" cy="466344"/>
            <a:chOff x="0" y="0"/>
            <a:chExt cx="4334256" cy="621792"/>
          </a:xfrm>
        </p:grpSpPr>
        <p:sp>
          <p:nvSpPr>
            <p:cNvPr name="Freeform 31" id="31"/>
            <p:cNvSpPr/>
            <p:nvPr/>
          </p:nvSpPr>
          <p:spPr>
            <a:xfrm flipH="false" flipV="false" rot="0">
              <a:off x="0" y="0"/>
              <a:ext cx="4334256" cy="621792"/>
            </a:xfrm>
            <a:custGeom>
              <a:avLst/>
              <a:gdLst/>
              <a:ahLst/>
              <a:cxnLst/>
              <a:rect r="r" b="b" t="t" l="l"/>
              <a:pathLst>
                <a:path h="621792" w="4334256">
                  <a:moveTo>
                    <a:pt x="0" y="0"/>
                  </a:moveTo>
                  <a:lnTo>
                    <a:pt x="4334256" y="0"/>
                  </a:lnTo>
                  <a:lnTo>
                    <a:pt x="4334256" y="621792"/>
                  </a:lnTo>
                  <a:lnTo>
                    <a:pt x="0" y="621792"/>
                  </a:lnTo>
                  <a:close/>
                </a:path>
              </a:pathLst>
            </a:custGeom>
            <a:blipFill>
              <a:blip r:embed="rId3">
                <a:alphaModFix amt="0"/>
              </a:blip>
              <a:stretch>
                <a:fillRect l="0" t="-85822" r="0" b="-85822"/>
              </a:stretch>
            </a:blipFill>
          </p:spPr>
        </p:sp>
        <p:sp>
          <p:nvSpPr>
            <p:cNvPr name="TextBox 32" id="32"/>
            <p:cNvSpPr txBox="true"/>
            <p:nvPr/>
          </p:nvSpPr>
          <p:spPr>
            <a:xfrm>
              <a:off x="0" y="0"/>
              <a:ext cx="4334256" cy="621792"/>
            </a:xfrm>
            <a:prstGeom prst="rect">
              <a:avLst/>
            </a:prstGeom>
          </p:spPr>
          <p:txBody>
            <a:bodyPr anchor="ctr" rtlCol="false" tIns="0" lIns="0" bIns="0" rIns="0"/>
            <a:lstStyle/>
            <a:p>
              <a:pPr algn="l">
                <a:lnSpc>
                  <a:spcPts val="2205"/>
                </a:lnSpc>
              </a:pPr>
              <a:r>
                <a:rPr lang="en-US" sz="1837">
                  <a:solidFill>
                    <a:srgbClr val="66809A"/>
                  </a:solidFill>
                  <a:latin typeface="Aptos"/>
                  <a:ea typeface="Aptos"/>
                  <a:cs typeface="Aptos"/>
                  <a:sym typeface="Aptos"/>
                </a:rPr>
                <a:t>Trung vị — xét ngưỡng ≥ 4</a:t>
              </a:r>
            </a:p>
          </p:txBody>
        </p:sp>
      </p:grpSp>
      <p:sp>
        <p:nvSpPr>
          <p:cNvPr name="AutoShape 33" id="33"/>
          <p:cNvSpPr/>
          <p:nvPr/>
        </p:nvSpPr>
        <p:spPr>
          <a:xfrm rot="10020">
            <a:off x="1459982" y="5385625"/>
            <a:ext cx="5227339" cy="0"/>
          </a:xfrm>
          <a:prstGeom prst="line">
            <a:avLst/>
          </a:prstGeom>
          <a:ln cap="rnd" w="9525">
            <a:solidFill>
              <a:srgbClr val="EEF3F7"/>
            </a:solidFill>
            <a:prstDash val="solid"/>
            <a:headEnd type="none" len="sm" w="sm"/>
            <a:tailEnd type="none" len="sm" w="sm"/>
          </a:ln>
        </p:spPr>
      </p:sp>
      <p:grpSp>
        <p:nvGrpSpPr>
          <p:cNvPr name="Group 34" id="34"/>
          <p:cNvGrpSpPr/>
          <p:nvPr/>
        </p:nvGrpSpPr>
        <p:grpSpPr>
          <a:xfrm rot="0">
            <a:off x="1508760" y="5513832"/>
            <a:ext cx="1810512" cy="466344"/>
            <a:chOff x="0" y="0"/>
            <a:chExt cx="2414016" cy="621792"/>
          </a:xfrm>
        </p:grpSpPr>
        <p:sp>
          <p:nvSpPr>
            <p:cNvPr name="Freeform 35" id="35"/>
            <p:cNvSpPr/>
            <p:nvPr/>
          </p:nvSpPr>
          <p:spPr>
            <a:xfrm flipH="false" flipV="false" rot="0">
              <a:off x="0" y="0"/>
              <a:ext cx="2414016" cy="621792"/>
            </a:xfrm>
            <a:custGeom>
              <a:avLst/>
              <a:gdLst/>
              <a:ahLst/>
              <a:cxnLst/>
              <a:rect r="r" b="b" t="t" l="l"/>
              <a:pathLst>
                <a:path h="621792" w="2414016">
                  <a:moveTo>
                    <a:pt x="0" y="0"/>
                  </a:moveTo>
                  <a:lnTo>
                    <a:pt x="2414016" y="0"/>
                  </a:lnTo>
                  <a:lnTo>
                    <a:pt x="2414016" y="621792"/>
                  </a:lnTo>
                  <a:lnTo>
                    <a:pt x="0" y="621792"/>
                  </a:lnTo>
                  <a:close/>
                </a:path>
              </a:pathLst>
            </a:custGeom>
            <a:blipFill>
              <a:blip r:embed="rId3">
                <a:alphaModFix amt="0"/>
              </a:blip>
              <a:stretch>
                <a:fillRect l="0" t="-25647" r="0" b="-25647"/>
              </a:stretch>
            </a:blipFill>
          </p:spPr>
        </p:sp>
        <p:sp>
          <p:nvSpPr>
            <p:cNvPr name="TextBox 36" id="36"/>
            <p:cNvSpPr txBox="true"/>
            <p:nvPr/>
          </p:nvSpPr>
          <p:spPr>
            <a:xfrm>
              <a:off x="0" y="-9525"/>
              <a:ext cx="2414016" cy="631317"/>
            </a:xfrm>
            <a:prstGeom prst="rect">
              <a:avLst/>
            </a:prstGeom>
          </p:spPr>
          <p:txBody>
            <a:bodyPr anchor="ctr" rtlCol="false" tIns="0" lIns="0" bIns="0" rIns="0"/>
            <a:lstStyle/>
            <a:p>
              <a:pPr algn="l">
                <a:lnSpc>
                  <a:spcPts val="2538"/>
                </a:lnSpc>
              </a:pPr>
              <a:r>
                <a:rPr lang="en-US" sz="2115" b="true">
                  <a:solidFill>
                    <a:srgbClr val="193957"/>
                  </a:solidFill>
                  <a:latin typeface="Aptos Bold"/>
                  <a:ea typeface="Aptos Bold"/>
                  <a:cs typeface="Aptos Bold"/>
                  <a:sym typeface="Aptos Bold"/>
                </a:rPr>
                <a:t>Mode</a:t>
              </a:r>
            </a:p>
          </p:txBody>
        </p:sp>
      </p:grpSp>
      <p:grpSp>
        <p:nvGrpSpPr>
          <p:cNvPr name="Group 37" id="37"/>
          <p:cNvGrpSpPr/>
          <p:nvPr/>
        </p:nvGrpSpPr>
        <p:grpSpPr>
          <a:xfrm rot="0">
            <a:off x="3483864" y="5513832"/>
            <a:ext cx="3250692" cy="466344"/>
            <a:chOff x="0" y="0"/>
            <a:chExt cx="4334256" cy="621792"/>
          </a:xfrm>
        </p:grpSpPr>
        <p:sp>
          <p:nvSpPr>
            <p:cNvPr name="Freeform 38" id="38"/>
            <p:cNvSpPr/>
            <p:nvPr/>
          </p:nvSpPr>
          <p:spPr>
            <a:xfrm flipH="false" flipV="false" rot="0">
              <a:off x="0" y="0"/>
              <a:ext cx="4334256" cy="621792"/>
            </a:xfrm>
            <a:custGeom>
              <a:avLst/>
              <a:gdLst/>
              <a:ahLst/>
              <a:cxnLst/>
              <a:rect r="r" b="b" t="t" l="l"/>
              <a:pathLst>
                <a:path h="621792" w="4334256">
                  <a:moveTo>
                    <a:pt x="0" y="0"/>
                  </a:moveTo>
                  <a:lnTo>
                    <a:pt x="4334256" y="0"/>
                  </a:lnTo>
                  <a:lnTo>
                    <a:pt x="4334256" y="621792"/>
                  </a:lnTo>
                  <a:lnTo>
                    <a:pt x="0" y="621792"/>
                  </a:lnTo>
                  <a:close/>
                </a:path>
              </a:pathLst>
            </a:custGeom>
            <a:blipFill>
              <a:blip r:embed="rId3">
                <a:alphaModFix amt="0"/>
              </a:blip>
              <a:stretch>
                <a:fillRect l="0" t="-85822" r="0" b="-85822"/>
              </a:stretch>
            </a:blipFill>
          </p:spPr>
        </p:sp>
        <p:sp>
          <p:nvSpPr>
            <p:cNvPr name="TextBox 39" id="39"/>
            <p:cNvSpPr txBox="true"/>
            <p:nvPr/>
          </p:nvSpPr>
          <p:spPr>
            <a:xfrm>
              <a:off x="0" y="0"/>
              <a:ext cx="4334256" cy="621792"/>
            </a:xfrm>
            <a:prstGeom prst="rect">
              <a:avLst/>
            </a:prstGeom>
          </p:spPr>
          <p:txBody>
            <a:bodyPr anchor="ctr" rtlCol="false" tIns="0" lIns="0" bIns="0" rIns="0"/>
            <a:lstStyle/>
            <a:p>
              <a:pPr algn="l">
                <a:lnSpc>
                  <a:spcPts val="2205"/>
                </a:lnSpc>
              </a:pPr>
              <a:r>
                <a:rPr lang="en-US" sz="1837">
                  <a:solidFill>
                    <a:srgbClr val="66809A"/>
                  </a:solidFill>
                  <a:latin typeface="Aptos"/>
                  <a:ea typeface="Aptos"/>
                  <a:cs typeface="Aptos"/>
                  <a:sym typeface="Aptos"/>
                </a:rPr>
                <a:t>Điểm xuất hiện nhiều nhất</a:t>
              </a:r>
            </a:p>
          </p:txBody>
        </p:sp>
      </p:grpSp>
      <p:sp>
        <p:nvSpPr>
          <p:cNvPr name="AutoShape 40" id="40"/>
          <p:cNvSpPr/>
          <p:nvPr/>
        </p:nvSpPr>
        <p:spPr>
          <a:xfrm rot="10020">
            <a:off x="1459982" y="6181154"/>
            <a:ext cx="5227339" cy="0"/>
          </a:xfrm>
          <a:prstGeom prst="line">
            <a:avLst/>
          </a:prstGeom>
          <a:ln cap="rnd" w="9525">
            <a:solidFill>
              <a:srgbClr val="EEF3F7"/>
            </a:solidFill>
            <a:prstDash val="solid"/>
            <a:headEnd type="none" len="sm" w="sm"/>
            <a:tailEnd type="none" len="sm" w="sm"/>
          </a:ln>
        </p:spPr>
      </p:sp>
      <p:grpSp>
        <p:nvGrpSpPr>
          <p:cNvPr name="Group 41" id="41"/>
          <p:cNvGrpSpPr/>
          <p:nvPr/>
        </p:nvGrpSpPr>
        <p:grpSpPr>
          <a:xfrm rot="0">
            <a:off x="1508760" y="6309360"/>
            <a:ext cx="1810512" cy="466344"/>
            <a:chOff x="0" y="0"/>
            <a:chExt cx="2414016" cy="621792"/>
          </a:xfrm>
        </p:grpSpPr>
        <p:sp>
          <p:nvSpPr>
            <p:cNvPr name="Freeform 42" id="42"/>
            <p:cNvSpPr/>
            <p:nvPr/>
          </p:nvSpPr>
          <p:spPr>
            <a:xfrm flipH="false" flipV="false" rot="0">
              <a:off x="0" y="0"/>
              <a:ext cx="2414016" cy="621792"/>
            </a:xfrm>
            <a:custGeom>
              <a:avLst/>
              <a:gdLst/>
              <a:ahLst/>
              <a:cxnLst/>
              <a:rect r="r" b="b" t="t" l="l"/>
              <a:pathLst>
                <a:path h="621792" w="2414016">
                  <a:moveTo>
                    <a:pt x="0" y="0"/>
                  </a:moveTo>
                  <a:lnTo>
                    <a:pt x="2414016" y="0"/>
                  </a:lnTo>
                  <a:lnTo>
                    <a:pt x="2414016" y="621792"/>
                  </a:lnTo>
                  <a:lnTo>
                    <a:pt x="0" y="621792"/>
                  </a:lnTo>
                  <a:close/>
                </a:path>
              </a:pathLst>
            </a:custGeom>
            <a:blipFill>
              <a:blip r:embed="rId3">
                <a:alphaModFix amt="0"/>
              </a:blip>
              <a:stretch>
                <a:fillRect l="0" t="-25647" r="0" b="-25647"/>
              </a:stretch>
            </a:blipFill>
          </p:spPr>
        </p:sp>
        <p:sp>
          <p:nvSpPr>
            <p:cNvPr name="TextBox 43" id="43"/>
            <p:cNvSpPr txBox="true"/>
            <p:nvPr/>
          </p:nvSpPr>
          <p:spPr>
            <a:xfrm>
              <a:off x="0" y="-9525"/>
              <a:ext cx="2414016" cy="631317"/>
            </a:xfrm>
            <a:prstGeom prst="rect">
              <a:avLst/>
            </a:prstGeom>
          </p:spPr>
          <p:txBody>
            <a:bodyPr anchor="ctr" rtlCol="false" tIns="0" lIns="0" bIns="0" rIns="0"/>
            <a:lstStyle/>
            <a:p>
              <a:pPr algn="l">
                <a:lnSpc>
                  <a:spcPts val="2538"/>
                </a:lnSpc>
              </a:pPr>
              <a:r>
                <a:rPr lang="en-US" sz="2115" b="true">
                  <a:solidFill>
                    <a:srgbClr val="193957"/>
                  </a:solidFill>
                  <a:latin typeface="Aptos Bold"/>
                  <a:ea typeface="Aptos Bold"/>
                  <a:cs typeface="Aptos Bold"/>
                  <a:sym typeface="Aptos Bold"/>
                </a:rPr>
                <a:t>SD</a:t>
              </a:r>
            </a:p>
          </p:txBody>
        </p:sp>
      </p:grpSp>
      <p:grpSp>
        <p:nvGrpSpPr>
          <p:cNvPr name="Group 44" id="44"/>
          <p:cNvGrpSpPr/>
          <p:nvPr/>
        </p:nvGrpSpPr>
        <p:grpSpPr>
          <a:xfrm rot="0">
            <a:off x="3483864" y="6309360"/>
            <a:ext cx="3250692" cy="466344"/>
            <a:chOff x="0" y="0"/>
            <a:chExt cx="4334256" cy="621792"/>
          </a:xfrm>
        </p:grpSpPr>
        <p:sp>
          <p:nvSpPr>
            <p:cNvPr name="Freeform 45" id="45"/>
            <p:cNvSpPr/>
            <p:nvPr/>
          </p:nvSpPr>
          <p:spPr>
            <a:xfrm flipH="false" flipV="false" rot="0">
              <a:off x="0" y="0"/>
              <a:ext cx="4334256" cy="621792"/>
            </a:xfrm>
            <a:custGeom>
              <a:avLst/>
              <a:gdLst/>
              <a:ahLst/>
              <a:cxnLst/>
              <a:rect r="r" b="b" t="t" l="l"/>
              <a:pathLst>
                <a:path h="621792" w="4334256">
                  <a:moveTo>
                    <a:pt x="0" y="0"/>
                  </a:moveTo>
                  <a:lnTo>
                    <a:pt x="4334256" y="0"/>
                  </a:lnTo>
                  <a:lnTo>
                    <a:pt x="4334256" y="621792"/>
                  </a:lnTo>
                  <a:lnTo>
                    <a:pt x="0" y="621792"/>
                  </a:lnTo>
                  <a:close/>
                </a:path>
              </a:pathLst>
            </a:custGeom>
            <a:blipFill>
              <a:blip r:embed="rId3">
                <a:alphaModFix amt="0"/>
              </a:blip>
              <a:stretch>
                <a:fillRect l="0" t="-85822" r="0" b="-85822"/>
              </a:stretch>
            </a:blipFill>
          </p:spPr>
        </p:sp>
        <p:sp>
          <p:nvSpPr>
            <p:cNvPr name="TextBox 46" id="46"/>
            <p:cNvSpPr txBox="true"/>
            <p:nvPr/>
          </p:nvSpPr>
          <p:spPr>
            <a:xfrm>
              <a:off x="0" y="0"/>
              <a:ext cx="4334256" cy="621792"/>
            </a:xfrm>
            <a:prstGeom prst="rect">
              <a:avLst/>
            </a:prstGeom>
          </p:spPr>
          <p:txBody>
            <a:bodyPr anchor="ctr" rtlCol="false" tIns="0" lIns="0" bIns="0" rIns="0"/>
            <a:lstStyle/>
            <a:p>
              <a:pPr algn="l">
                <a:lnSpc>
                  <a:spcPts val="2205"/>
                </a:lnSpc>
              </a:pPr>
              <a:r>
                <a:rPr lang="en-US" sz="1837">
                  <a:solidFill>
                    <a:srgbClr val="66809A"/>
                  </a:solidFill>
                  <a:latin typeface="Aptos"/>
                  <a:ea typeface="Aptos"/>
                  <a:cs typeface="Aptos"/>
                  <a:sym typeface="Aptos"/>
                </a:rPr>
                <a:t>Độ lệch chuẩn — mức dao động</a:t>
              </a:r>
            </a:p>
          </p:txBody>
        </p:sp>
      </p:grpSp>
      <p:sp>
        <p:nvSpPr>
          <p:cNvPr name="AutoShape 47" id="47"/>
          <p:cNvSpPr/>
          <p:nvPr/>
        </p:nvSpPr>
        <p:spPr>
          <a:xfrm rot="10020">
            <a:off x="1459982" y="6976682"/>
            <a:ext cx="5227339" cy="0"/>
          </a:xfrm>
          <a:prstGeom prst="line">
            <a:avLst/>
          </a:prstGeom>
          <a:ln cap="rnd" w="9525">
            <a:solidFill>
              <a:srgbClr val="EEF3F7"/>
            </a:solidFill>
            <a:prstDash val="solid"/>
            <a:headEnd type="none" len="sm" w="sm"/>
            <a:tailEnd type="none" len="sm" w="sm"/>
          </a:ln>
        </p:spPr>
      </p:sp>
      <p:grpSp>
        <p:nvGrpSpPr>
          <p:cNvPr name="Group 48" id="48"/>
          <p:cNvGrpSpPr/>
          <p:nvPr/>
        </p:nvGrpSpPr>
        <p:grpSpPr>
          <a:xfrm rot="0">
            <a:off x="1508760" y="7104888"/>
            <a:ext cx="1810512" cy="466344"/>
            <a:chOff x="0" y="0"/>
            <a:chExt cx="2414016" cy="621792"/>
          </a:xfrm>
        </p:grpSpPr>
        <p:sp>
          <p:nvSpPr>
            <p:cNvPr name="Freeform 49" id="49"/>
            <p:cNvSpPr/>
            <p:nvPr/>
          </p:nvSpPr>
          <p:spPr>
            <a:xfrm flipH="false" flipV="false" rot="0">
              <a:off x="0" y="0"/>
              <a:ext cx="2414016" cy="621792"/>
            </a:xfrm>
            <a:custGeom>
              <a:avLst/>
              <a:gdLst/>
              <a:ahLst/>
              <a:cxnLst/>
              <a:rect r="r" b="b" t="t" l="l"/>
              <a:pathLst>
                <a:path h="621792" w="2414016">
                  <a:moveTo>
                    <a:pt x="0" y="0"/>
                  </a:moveTo>
                  <a:lnTo>
                    <a:pt x="2414016" y="0"/>
                  </a:lnTo>
                  <a:lnTo>
                    <a:pt x="2414016" y="621792"/>
                  </a:lnTo>
                  <a:lnTo>
                    <a:pt x="0" y="621792"/>
                  </a:lnTo>
                  <a:close/>
                </a:path>
              </a:pathLst>
            </a:custGeom>
            <a:blipFill>
              <a:blip r:embed="rId3">
                <a:alphaModFix amt="0"/>
              </a:blip>
              <a:stretch>
                <a:fillRect l="0" t="-25647" r="0" b="-25647"/>
              </a:stretch>
            </a:blipFill>
          </p:spPr>
        </p:sp>
        <p:sp>
          <p:nvSpPr>
            <p:cNvPr name="TextBox 50" id="50"/>
            <p:cNvSpPr txBox="true"/>
            <p:nvPr/>
          </p:nvSpPr>
          <p:spPr>
            <a:xfrm>
              <a:off x="0" y="0"/>
              <a:ext cx="2414016" cy="621792"/>
            </a:xfrm>
            <a:prstGeom prst="rect">
              <a:avLst/>
            </a:prstGeom>
          </p:spPr>
          <p:txBody>
            <a:bodyPr anchor="ctr" rtlCol="false" tIns="0" lIns="0" bIns="0" rIns="0"/>
            <a:lstStyle/>
            <a:p>
              <a:pPr algn="l">
                <a:lnSpc>
                  <a:spcPts val="2340"/>
                </a:lnSpc>
              </a:pPr>
              <a:r>
                <a:rPr lang="en-US" sz="1950" b="true">
                  <a:solidFill>
                    <a:srgbClr val="193957"/>
                  </a:solidFill>
                  <a:latin typeface="Aptos Bold"/>
                  <a:ea typeface="Aptos Bold"/>
                  <a:cs typeface="Aptos Bold"/>
                  <a:sym typeface="Aptos Bold"/>
                </a:rPr>
                <a:t>IQR = Q3 − Q1</a:t>
              </a:r>
            </a:p>
          </p:txBody>
        </p:sp>
      </p:grpSp>
      <p:grpSp>
        <p:nvGrpSpPr>
          <p:cNvPr name="Group 51" id="51"/>
          <p:cNvGrpSpPr/>
          <p:nvPr/>
        </p:nvGrpSpPr>
        <p:grpSpPr>
          <a:xfrm rot="0">
            <a:off x="3483864" y="7104888"/>
            <a:ext cx="3250692" cy="466344"/>
            <a:chOff x="0" y="0"/>
            <a:chExt cx="4334256" cy="621792"/>
          </a:xfrm>
        </p:grpSpPr>
        <p:sp>
          <p:nvSpPr>
            <p:cNvPr name="Freeform 52" id="52"/>
            <p:cNvSpPr/>
            <p:nvPr/>
          </p:nvSpPr>
          <p:spPr>
            <a:xfrm flipH="false" flipV="false" rot="0">
              <a:off x="0" y="0"/>
              <a:ext cx="4334256" cy="621792"/>
            </a:xfrm>
            <a:custGeom>
              <a:avLst/>
              <a:gdLst/>
              <a:ahLst/>
              <a:cxnLst/>
              <a:rect r="r" b="b" t="t" l="l"/>
              <a:pathLst>
                <a:path h="621792" w="4334256">
                  <a:moveTo>
                    <a:pt x="0" y="0"/>
                  </a:moveTo>
                  <a:lnTo>
                    <a:pt x="4334256" y="0"/>
                  </a:lnTo>
                  <a:lnTo>
                    <a:pt x="4334256" y="621792"/>
                  </a:lnTo>
                  <a:lnTo>
                    <a:pt x="0" y="621792"/>
                  </a:lnTo>
                  <a:close/>
                </a:path>
              </a:pathLst>
            </a:custGeom>
            <a:blipFill>
              <a:blip r:embed="rId3">
                <a:alphaModFix amt="0"/>
              </a:blip>
              <a:stretch>
                <a:fillRect l="0" t="-85822" r="0" b="-85822"/>
              </a:stretch>
            </a:blipFill>
          </p:spPr>
        </p:sp>
        <p:sp>
          <p:nvSpPr>
            <p:cNvPr name="TextBox 53" id="53"/>
            <p:cNvSpPr txBox="true"/>
            <p:nvPr/>
          </p:nvSpPr>
          <p:spPr>
            <a:xfrm>
              <a:off x="0" y="0"/>
              <a:ext cx="4334256" cy="621792"/>
            </a:xfrm>
            <a:prstGeom prst="rect">
              <a:avLst/>
            </a:prstGeom>
          </p:spPr>
          <p:txBody>
            <a:bodyPr anchor="ctr" rtlCol="false" tIns="0" lIns="0" bIns="0" rIns="0"/>
            <a:lstStyle/>
            <a:p>
              <a:pPr algn="l">
                <a:lnSpc>
                  <a:spcPts val="2205"/>
                </a:lnSpc>
              </a:pPr>
              <a:r>
                <a:rPr lang="en-US" sz="1837">
                  <a:solidFill>
                    <a:srgbClr val="66809A"/>
                  </a:solidFill>
                  <a:latin typeface="Aptos"/>
                  <a:ea typeface="Aptos"/>
                  <a:cs typeface="Aptos"/>
                  <a:sym typeface="Aptos"/>
                </a:rPr>
                <a:t>Độ phân tán — xét ngưỡng ≤ 1</a:t>
              </a:r>
            </a:p>
          </p:txBody>
        </p:sp>
      </p:grpSp>
      <p:grpSp>
        <p:nvGrpSpPr>
          <p:cNvPr name="Group 54" id="54"/>
          <p:cNvGrpSpPr/>
          <p:nvPr/>
        </p:nvGrpSpPr>
        <p:grpSpPr>
          <a:xfrm rot="0">
            <a:off x="7790688" y="3127248"/>
            <a:ext cx="8915400" cy="438912"/>
            <a:chOff x="0" y="0"/>
            <a:chExt cx="11887200" cy="585216"/>
          </a:xfrm>
        </p:grpSpPr>
        <p:sp>
          <p:nvSpPr>
            <p:cNvPr name="Freeform 55" id="55"/>
            <p:cNvSpPr/>
            <p:nvPr/>
          </p:nvSpPr>
          <p:spPr>
            <a:xfrm flipH="false" flipV="false" rot="0">
              <a:off x="0" y="0"/>
              <a:ext cx="11887200" cy="585216"/>
            </a:xfrm>
            <a:custGeom>
              <a:avLst/>
              <a:gdLst/>
              <a:ahLst/>
              <a:cxnLst/>
              <a:rect r="r" b="b" t="t" l="l"/>
              <a:pathLst>
                <a:path h="585216" w="11887200">
                  <a:moveTo>
                    <a:pt x="0" y="0"/>
                  </a:moveTo>
                  <a:lnTo>
                    <a:pt x="11887200" y="0"/>
                  </a:lnTo>
                  <a:lnTo>
                    <a:pt x="11887200" y="585216"/>
                  </a:lnTo>
                  <a:lnTo>
                    <a:pt x="0" y="585216"/>
                  </a:lnTo>
                  <a:close/>
                </a:path>
              </a:pathLst>
            </a:custGeom>
            <a:blipFill>
              <a:blip r:embed="rId3">
                <a:alphaModFix amt="0"/>
              </a:blip>
              <a:stretch>
                <a:fillRect l="0" t="-345789" r="0" b="-345789"/>
              </a:stretch>
            </a:blipFill>
          </p:spPr>
        </p:sp>
        <p:sp>
          <p:nvSpPr>
            <p:cNvPr name="TextBox 56" id="56"/>
            <p:cNvSpPr txBox="true"/>
            <p:nvPr/>
          </p:nvSpPr>
          <p:spPr>
            <a:xfrm>
              <a:off x="0" y="-9525"/>
              <a:ext cx="11887200" cy="594741"/>
            </a:xfrm>
            <a:prstGeom prst="rect">
              <a:avLst/>
            </a:prstGeom>
          </p:spPr>
          <p:txBody>
            <a:bodyPr anchor="ctr" rtlCol="false" tIns="0" lIns="0" bIns="0" rIns="0"/>
            <a:lstStyle/>
            <a:p>
              <a:pPr algn="l">
                <a:lnSpc>
                  <a:spcPts val="2520"/>
                </a:lnSpc>
              </a:pPr>
              <a:r>
                <a:rPr lang="en-US" sz="2100" b="true">
                  <a:solidFill>
                    <a:srgbClr val="078884"/>
                  </a:solidFill>
                  <a:latin typeface="Aptos Bold"/>
                  <a:ea typeface="Aptos Bold"/>
                  <a:cs typeface="Aptos Bold"/>
                  <a:sym typeface="Aptos Bold"/>
                </a:rPr>
                <a:t>TRÍCH TABLE A1 — 3 QUY TRÌNH TIÊU BIỂU</a:t>
              </a:r>
            </a:p>
          </p:txBody>
        </p:sp>
      </p:grpSp>
      <p:grpSp>
        <p:nvGrpSpPr>
          <p:cNvPr name="Group 57" id="57"/>
          <p:cNvGrpSpPr/>
          <p:nvPr/>
        </p:nvGrpSpPr>
        <p:grpSpPr>
          <a:xfrm rot="0">
            <a:off x="7753731" y="3844671"/>
            <a:ext cx="9071610" cy="636270"/>
            <a:chOff x="0" y="0"/>
            <a:chExt cx="12095480" cy="848360"/>
          </a:xfrm>
        </p:grpSpPr>
        <p:sp>
          <p:nvSpPr>
            <p:cNvPr name="Freeform 58" id="58"/>
            <p:cNvSpPr/>
            <p:nvPr/>
          </p:nvSpPr>
          <p:spPr>
            <a:xfrm flipH="false" flipV="false" rot="0">
              <a:off x="0" y="0"/>
              <a:ext cx="12095480" cy="848360"/>
            </a:xfrm>
            <a:custGeom>
              <a:avLst/>
              <a:gdLst/>
              <a:ahLst/>
              <a:cxnLst/>
              <a:rect r="r" b="b" t="t" l="l"/>
              <a:pathLst>
                <a:path h="848360" w="12095480">
                  <a:moveTo>
                    <a:pt x="0" y="0"/>
                  </a:moveTo>
                  <a:lnTo>
                    <a:pt x="12095480" y="0"/>
                  </a:lnTo>
                  <a:lnTo>
                    <a:pt x="12095480" y="848360"/>
                  </a:lnTo>
                  <a:lnTo>
                    <a:pt x="0" y="848360"/>
                  </a:lnTo>
                  <a:close/>
                </a:path>
              </a:pathLst>
            </a:custGeom>
            <a:solidFill>
              <a:srgbClr val="E6F2F5"/>
            </a:solidFill>
          </p:spPr>
        </p:sp>
      </p:grpSp>
      <p:grpSp>
        <p:nvGrpSpPr>
          <p:cNvPr name="Group 59" id="59"/>
          <p:cNvGrpSpPr/>
          <p:nvPr/>
        </p:nvGrpSpPr>
        <p:grpSpPr>
          <a:xfrm rot="0">
            <a:off x="8023860" y="3909060"/>
            <a:ext cx="4485132" cy="438912"/>
            <a:chOff x="0" y="0"/>
            <a:chExt cx="5980176" cy="585216"/>
          </a:xfrm>
        </p:grpSpPr>
        <p:sp>
          <p:nvSpPr>
            <p:cNvPr name="Freeform 60" id="60"/>
            <p:cNvSpPr/>
            <p:nvPr/>
          </p:nvSpPr>
          <p:spPr>
            <a:xfrm flipH="false" flipV="false" rot="0">
              <a:off x="0" y="0"/>
              <a:ext cx="5980176" cy="585216"/>
            </a:xfrm>
            <a:custGeom>
              <a:avLst/>
              <a:gdLst/>
              <a:ahLst/>
              <a:cxnLst/>
              <a:rect r="r" b="b" t="t" l="l"/>
              <a:pathLst>
                <a:path h="585216" w="5980176">
                  <a:moveTo>
                    <a:pt x="0" y="0"/>
                  </a:moveTo>
                  <a:lnTo>
                    <a:pt x="5980176" y="0"/>
                  </a:lnTo>
                  <a:lnTo>
                    <a:pt x="5980176" y="585216"/>
                  </a:lnTo>
                  <a:lnTo>
                    <a:pt x="0" y="585216"/>
                  </a:lnTo>
                  <a:close/>
                </a:path>
              </a:pathLst>
            </a:custGeom>
            <a:blipFill>
              <a:blip r:embed="rId3">
                <a:alphaModFix amt="0"/>
              </a:blip>
              <a:stretch>
                <a:fillRect l="0" t="-149112" r="0" b="-149112"/>
              </a:stretch>
            </a:blipFill>
          </p:spPr>
        </p:sp>
        <p:sp>
          <p:nvSpPr>
            <p:cNvPr name="TextBox 61" id="61"/>
            <p:cNvSpPr txBox="true"/>
            <p:nvPr/>
          </p:nvSpPr>
          <p:spPr>
            <a:xfrm>
              <a:off x="0" y="0"/>
              <a:ext cx="5980176" cy="585216"/>
            </a:xfrm>
            <a:prstGeom prst="rect">
              <a:avLst/>
            </a:prstGeom>
          </p:spPr>
          <p:txBody>
            <a:bodyPr anchor="ctr" rtlCol="false" tIns="0" lIns="0" bIns="0" rIns="0"/>
            <a:lstStyle/>
            <a:p>
              <a:pPr algn="l">
                <a:lnSpc>
                  <a:spcPts val="1944"/>
                </a:lnSpc>
              </a:pPr>
              <a:r>
                <a:rPr lang="en-US" sz="1620" b="true">
                  <a:solidFill>
                    <a:srgbClr val="193957"/>
                  </a:solidFill>
                  <a:latin typeface="Aptos Bold"/>
                  <a:ea typeface="Aptos Bold"/>
                  <a:cs typeface="Aptos Bold"/>
                  <a:sym typeface="Aptos Bold"/>
                </a:rPr>
                <a:t>QUY TRÌNH</a:t>
              </a:r>
            </a:p>
          </p:txBody>
        </p:sp>
      </p:grpSp>
      <p:grpSp>
        <p:nvGrpSpPr>
          <p:cNvPr name="Group 62" id="62"/>
          <p:cNvGrpSpPr/>
          <p:nvPr/>
        </p:nvGrpSpPr>
        <p:grpSpPr>
          <a:xfrm rot="0">
            <a:off x="12865608" y="3909060"/>
            <a:ext cx="1110996" cy="438912"/>
            <a:chOff x="0" y="0"/>
            <a:chExt cx="1481328" cy="585216"/>
          </a:xfrm>
        </p:grpSpPr>
        <p:sp>
          <p:nvSpPr>
            <p:cNvPr name="Freeform 63" id="63"/>
            <p:cNvSpPr/>
            <p:nvPr/>
          </p:nvSpPr>
          <p:spPr>
            <a:xfrm flipH="false" flipV="false" rot="0">
              <a:off x="0" y="0"/>
              <a:ext cx="1481328" cy="585216"/>
            </a:xfrm>
            <a:custGeom>
              <a:avLst/>
              <a:gdLst/>
              <a:ahLst/>
              <a:cxnLst/>
              <a:rect r="r" b="b" t="t" l="l"/>
              <a:pathLst>
                <a:path h="585216" w="1481328">
                  <a:moveTo>
                    <a:pt x="0" y="0"/>
                  </a:moveTo>
                  <a:lnTo>
                    <a:pt x="1481328" y="0"/>
                  </a:lnTo>
                  <a:lnTo>
                    <a:pt x="1481328" y="585216"/>
                  </a:lnTo>
                  <a:lnTo>
                    <a:pt x="0" y="585216"/>
                  </a:lnTo>
                  <a:close/>
                </a:path>
              </a:pathLst>
            </a:custGeom>
            <a:blipFill>
              <a:blip r:embed="rId3">
                <a:alphaModFix amt="0"/>
              </a:blip>
              <a:stretch>
                <a:fillRect l="-687" t="0" r="-687" b="0"/>
              </a:stretch>
            </a:blipFill>
          </p:spPr>
        </p:sp>
        <p:sp>
          <p:nvSpPr>
            <p:cNvPr name="TextBox 64" id="64"/>
            <p:cNvSpPr txBox="true"/>
            <p:nvPr/>
          </p:nvSpPr>
          <p:spPr>
            <a:xfrm>
              <a:off x="0" y="-9525"/>
              <a:ext cx="1481328" cy="594741"/>
            </a:xfrm>
            <a:prstGeom prst="rect">
              <a:avLst/>
            </a:prstGeom>
          </p:spPr>
          <p:txBody>
            <a:bodyPr anchor="ctr" rtlCol="false" tIns="0" lIns="0" bIns="0" rIns="0"/>
            <a:lstStyle/>
            <a:p>
              <a:pPr algn="ctr">
                <a:lnSpc>
                  <a:spcPts val="1907"/>
                </a:lnSpc>
              </a:pPr>
              <a:r>
                <a:rPr lang="en-US" sz="1589" b="true">
                  <a:solidFill>
                    <a:srgbClr val="193957"/>
                  </a:solidFill>
                  <a:latin typeface="Aptos Bold"/>
                  <a:ea typeface="Aptos Bold"/>
                  <a:cs typeface="Aptos Bold"/>
                  <a:sym typeface="Aptos Bold"/>
                </a:rPr>
                <a:t>MEAN</a:t>
              </a:r>
            </a:p>
          </p:txBody>
        </p:sp>
      </p:grpSp>
      <p:grpSp>
        <p:nvGrpSpPr>
          <p:cNvPr name="Group 65" id="65"/>
          <p:cNvGrpSpPr/>
          <p:nvPr/>
        </p:nvGrpSpPr>
        <p:grpSpPr>
          <a:xfrm rot="0">
            <a:off x="14141196" y="3909060"/>
            <a:ext cx="1399032" cy="438912"/>
            <a:chOff x="0" y="0"/>
            <a:chExt cx="1865376" cy="585216"/>
          </a:xfrm>
        </p:grpSpPr>
        <p:sp>
          <p:nvSpPr>
            <p:cNvPr name="Freeform 66" id="66"/>
            <p:cNvSpPr/>
            <p:nvPr/>
          </p:nvSpPr>
          <p:spPr>
            <a:xfrm flipH="false" flipV="false" rot="0">
              <a:off x="0" y="0"/>
              <a:ext cx="1865376" cy="585216"/>
            </a:xfrm>
            <a:custGeom>
              <a:avLst/>
              <a:gdLst/>
              <a:ahLst/>
              <a:cxnLst/>
              <a:rect r="r" b="b" t="t" l="l"/>
              <a:pathLst>
                <a:path h="585216" w="1865376">
                  <a:moveTo>
                    <a:pt x="0" y="0"/>
                  </a:moveTo>
                  <a:lnTo>
                    <a:pt x="1865376" y="0"/>
                  </a:lnTo>
                  <a:lnTo>
                    <a:pt x="1865376" y="585216"/>
                  </a:lnTo>
                  <a:lnTo>
                    <a:pt x="0" y="585216"/>
                  </a:lnTo>
                  <a:close/>
                </a:path>
              </a:pathLst>
            </a:custGeom>
            <a:blipFill>
              <a:blip r:embed="rId3">
                <a:alphaModFix amt="0"/>
              </a:blip>
              <a:stretch>
                <a:fillRect l="0" t="-12108" r="0" b="-12108"/>
              </a:stretch>
            </a:blipFill>
          </p:spPr>
        </p:sp>
        <p:sp>
          <p:nvSpPr>
            <p:cNvPr name="TextBox 67" id="67"/>
            <p:cNvSpPr txBox="true"/>
            <p:nvPr/>
          </p:nvSpPr>
          <p:spPr>
            <a:xfrm>
              <a:off x="0" y="-9525"/>
              <a:ext cx="1865376" cy="594741"/>
            </a:xfrm>
            <a:prstGeom prst="rect">
              <a:avLst/>
            </a:prstGeom>
          </p:spPr>
          <p:txBody>
            <a:bodyPr anchor="ctr" rtlCol="false" tIns="0" lIns="0" bIns="0" rIns="0"/>
            <a:lstStyle/>
            <a:p>
              <a:pPr algn="ctr">
                <a:lnSpc>
                  <a:spcPts val="1907"/>
                </a:lnSpc>
              </a:pPr>
              <a:r>
                <a:rPr lang="en-US" sz="1589" b="true">
                  <a:solidFill>
                    <a:srgbClr val="193957"/>
                  </a:solidFill>
                  <a:latin typeface="Aptos Bold"/>
                  <a:ea typeface="Aptos Bold"/>
                  <a:cs typeface="Aptos Bold"/>
                  <a:sym typeface="Aptos Bold"/>
                </a:rPr>
                <a:t>MEDIAN</a:t>
              </a:r>
            </a:p>
          </p:txBody>
        </p:sp>
      </p:grpSp>
      <p:grpSp>
        <p:nvGrpSpPr>
          <p:cNvPr name="Group 68" id="68"/>
          <p:cNvGrpSpPr/>
          <p:nvPr/>
        </p:nvGrpSpPr>
        <p:grpSpPr>
          <a:xfrm rot="0">
            <a:off x="15841980" y="3909060"/>
            <a:ext cx="713232" cy="438912"/>
            <a:chOff x="0" y="0"/>
            <a:chExt cx="950976" cy="585216"/>
          </a:xfrm>
        </p:grpSpPr>
        <p:sp>
          <p:nvSpPr>
            <p:cNvPr name="Freeform 69" id="69"/>
            <p:cNvSpPr/>
            <p:nvPr/>
          </p:nvSpPr>
          <p:spPr>
            <a:xfrm flipH="false" flipV="false" rot="0">
              <a:off x="0" y="0"/>
              <a:ext cx="950976" cy="585216"/>
            </a:xfrm>
            <a:custGeom>
              <a:avLst/>
              <a:gdLst/>
              <a:ahLst/>
              <a:cxnLst/>
              <a:rect r="r" b="b" t="t" l="l"/>
              <a:pathLst>
                <a:path h="585216" w="950976">
                  <a:moveTo>
                    <a:pt x="0" y="0"/>
                  </a:moveTo>
                  <a:lnTo>
                    <a:pt x="950976" y="0"/>
                  </a:lnTo>
                  <a:lnTo>
                    <a:pt x="950976" y="585216"/>
                  </a:lnTo>
                  <a:lnTo>
                    <a:pt x="0" y="585216"/>
                  </a:lnTo>
                  <a:close/>
                </a:path>
              </a:pathLst>
            </a:custGeom>
            <a:blipFill>
              <a:blip r:embed="rId3">
                <a:alphaModFix amt="0"/>
              </a:blip>
              <a:stretch>
                <a:fillRect l="-28956" t="0" r="-28956" b="0"/>
              </a:stretch>
            </a:blipFill>
          </p:spPr>
        </p:sp>
        <p:sp>
          <p:nvSpPr>
            <p:cNvPr name="TextBox 70" id="70"/>
            <p:cNvSpPr txBox="true"/>
            <p:nvPr/>
          </p:nvSpPr>
          <p:spPr>
            <a:xfrm>
              <a:off x="0" y="-9525"/>
              <a:ext cx="950976" cy="594741"/>
            </a:xfrm>
            <a:prstGeom prst="rect">
              <a:avLst/>
            </a:prstGeom>
          </p:spPr>
          <p:txBody>
            <a:bodyPr anchor="ctr" rtlCol="false" tIns="0" lIns="0" bIns="0" rIns="0"/>
            <a:lstStyle/>
            <a:p>
              <a:pPr algn="ctr">
                <a:lnSpc>
                  <a:spcPts val="1907"/>
                </a:lnSpc>
              </a:pPr>
              <a:r>
                <a:rPr lang="en-US" sz="1589" b="true">
                  <a:solidFill>
                    <a:srgbClr val="193957"/>
                  </a:solidFill>
                  <a:latin typeface="Aptos Bold"/>
                  <a:ea typeface="Aptos Bold"/>
                  <a:cs typeface="Aptos Bold"/>
                  <a:sym typeface="Aptos Bold"/>
                </a:rPr>
                <a:t>IQR</a:t>
              </a:r>
            </a:p>
          </p:txBody>
        </p:sp>
      </p:grpSp>
      <p:grpSp>
        <p:nvGrpSpPr>
          <p:cNvPr name="Group 71" id="71"/>
          <p:cNvGrpSpPr/>
          <p:nvPr/>
        </p:nvGrpSpPr>
        <p:grpSpPr>
          <a:xfrm rot="0">
            <a:off x="7781163" y="4509897"/>
            <a:ext cx="9071610" cy="951738"/>
            <a:chOff x="0" y="0"/>
            <a:chExt cx="12095480" cy="1268984"/>
          </a:xfrm>
        </p:grpSpPr>
        <p:sp>
          <p:nvSpPr>
            <p:cNvPr name="Freeform 72" id="72"/>
            <p:cNvSpPr/>
            <p:nvPr/>
          </p:nvSpPr>
          <p:spPr>
            <a:xfrm flipH="false" flipV="false" rot="0">
              <a:off x="0" y="0"/>
              <a:ext cx="12095480" cy="1268984"/>
            </a:xfrm>
            <a:custGeom>
              <a:avLst/>
              <a:gdLst/>
              <a:ahLst/>
              <a:cxnLst/>
              <a:rect r="r" b="b" t="t" l="l"/>
              <a:pathLst>
                <a:path h="1268984" w="12095480">
                  <a:moveTo>
                    <a:pt x="0" y="0"/>
                  </a:moveTo>
                  <a:lnTo>
                    <a:pt x="12095480" y="0"/>
                  </a:lnTo>
                  <a:lnTo>
                    <a:pt x="12095480" y="1268984"/>
                  </a:lnTo>
                  <a:lnTo>
                    <a:pt x="0" y="1268984"/>
                  </a:lnTo>
                  <a:close/>
                </a:path>
              </a:pathLst>
            </a:custGeom>
            <a:solidFill>
              <a:srgbClr val="F3F9FA"/>
            </a:solidFill>
          </p:spPr>
        </p:sp>
      </p:grpSp>
      <p:grpSp>
        <p:nvGrpSpPr>
          <p:cNvPr name="Group 73" id="73"/>
          <p:cNvGrpSpPr/>
          <p:nvPr/>
        </p:nvGrpSpPr>
        <p:grpSpPr>
          <a:xfrm rot="0">
            <a:off x="8051292" y="4601718"/>
            <a:ext cx="1028700" cy="315468"/>
            <a:chOff x="0" y="0"/>
            <a:chExt cx="1371600" cy="420624"/>
          </a:xfrm>
        </p:grpSpPr>
        <p:sp>
          <p:nvSpPr>
            <p:cNvPr name="Freeform 74" id="74"/>
            <p:cNvSpPr/>
            <p:nvPr/>
          </p:nvSpPr>
          <p:spPr>
            <a:xfrm flipH="false" flipV="false" rot="0">
              <a:off x="0" y="0"/>
              <a:ext cx="1371600" cy="420624"/>
            </a:xfrm>
            <a:custGeom>
              <a:avLst/>
              <a:gdLst/>
              <a:ahLst/>
              <a:cxnLst/>
              <a:rect r="r" b="b" t="t" l="l"/>
              <a:pathLst>
                <a:path h="420624" w="1371600">
                  <a:moveTo>
                    <a:pt x="0" y="0"/>
                  </a:moveTo>
                  <a:lnTo>
                    <a:pt x="1371600" y="0"/>
                  </a:lnTo>
                  <a:lnTo>
                    <a:pt x="1371600" y="420624"/>
                  </a:lnTo>
                  <a:lnTo>
                    <a:pt x="0" y="420624"/>
                  </a:lnTo>
                  <a:close/>
                </a:path>
              </a:pathLst>
            </a:custGeom>
            <a:blipFill>
              <a:blip r:embed="rId3">
                <a:alphaModFix amt="0"/>
              </a:blip>
              <a:stretch>
                <a:fillRect l="0" t="-13538" r="0" b="-13538"/>
              </a:stretch>
            </a:blipFill>
          </p:spPr>
        </p:sp>
        <p:sp>
          <p:nvSpPr>
            <p:cNvPr name="TextBox 75" id="75"/>
            <p:cNvSpPr txBox="true"/>
            <p:nvPr/>
          </p:nvSpPr>
          <p:spPr>
            <a:xfrm>
              <a:off x="0" y="0"/>
              <a:ext cx="1371600" cy="420624"/>
            </a:xfrm>
            <a:prstGeom prst="rect">
              <a:avLst/>
            </a:prstGeom>
          </p:spPr>
          <p:txBody>
            <a:bodyPr anchor="ctr" rtlCol="false" tIns="0" lIns="0" bIns="0" rIns="0"/>
            <a:lstStyle/>
            <a:p>
              <a:pPr algn="l">
                <a:lnSpc>
                  <a:spcPts val="2340"/>
                </a:lnSpc>
              </a:pPr>
              <a:r>
                <a:rPr lang="en-US" sz="1950" b="true">
                  <a:solidFill>
                    <a:srgbClr val="193957"/>
                  </a:solidFill>
                  <a:latin typeface="Aptos Bold"/>
                  <a:ea typeface="Aptos Bold"/>
                  <a:cs typeface="Aptos Bold"/>
                  <a:sym typeface="Aptos Bold"/>
                </a:rPr>
                <a:t>SP.5</a:t>
              </a:r>
            </a:p>
          </p:txBody>
        </p:sp>
      </p:grpSp>
      <p:grpSp>
        <p:nvGrpSpPr>
          <p:cNvPr name="Group 76" id="76"/>
          <p:cNvGrpSpPr/>
          <p:nvPr/>
        </p:nvGrpSpPr>
        <p:grpSpPr>
          <a:xfrm rot="0">
            <a:off x="9107424" y="4579772"/>
            <a:ext cx="3483864" cy="562356"/>
            <a:chOff x="0" y="0"/>
            <a:chExt cx="4645152" cy="749808"/>
          </a:xfrm>
        </p:grpSpPr>
        <p:sp>
          <p:nvSpPr>
            <p:cNvPr name="Freeform 77" id="77"/>
            <p:cNvSpPr/>
            <p:nvPr/>
          </p:nvSpPr>
          <p:spPr>
            <a:xfrm flipH="false" flipV="false" rot="0">
              <a:off x="0" y="0"/>
              <a:ext cx="4645152" cy="749808"/>
            </a:xfrm>
            <a:custGeom>
              <a:avLst/>
              <a:gdLst/>
              <a:ahLst/>
              <a:cxnLst/>
              <a:rect r="r" b="b" t="t" l="l"/>
              <a:pathLst>
                <a:path h="749808" w="4645152">
                  <a:moveTo>
                    <a:pt x="0" y="0"/>
                  </a:moveTo>
                  <a:lnTo>
                    <a:pt x="4645152" y="0"/>
                  </a:lnTo>
                  <a:lnTo>
                    <a:pt x="4645152" y="749808"/>
                  </a:lnTo>
                  <a:lnTo>
                    <a:pt x="0" y="749808"/>
                  </a:lnTo>
                  <a:close/>
                </a:path>
              </a:pathLst>
            </a:custGeom>
            <a:blipFill>
              <a:blip r:embed="rId3">
                <a:alphaModFix amt="0"/>
              </a:blip>
              <a:stretch>
                <a:fillRect l="0" t="-70712" r="0" b="-70712"/>
              </a:stretch>
            </a:blipFill>
          </p:spPr>
        </p:sp>
        <p:sp>
          <p:nvSpPr>
            <p:cNvPr name="TextBox 78" id="78"/>
            <p:cNvSpPr txBox="true"/>
            <p:nvPr/>
          </p:nvSpPr>
          <p:spPr>
            <a:xfrm>
              <a:off x="0" y="0"/>
              <a:ext cx="4645152" cy="749808"/>
            </a:xfrm>
            <a:prstGeom prst="rect">
              <a:avLst/>
            </a:prstGeom>
          </p:spPr>
          <p:txBody>
            <a:bodyPr anchor="ctr" rtlCol="false" tIns="0" lIns="0" bIns="0" rIns="0"/>
            <a:lstStyle/>
            <a:p>
              <a:pPr algn="l">
                <a:lnSpc>
                  <a:spcPts val="2160"/>
                </a:lnSpc>
              </a:pPr>
              <a:r>
                <a:rPr lang="en-US" sz="1800">
                  <a:solidFill>
                    <a:srgbClr val="193957"/>
                  </a:solidFill>
                  <a:latin typeface="Aptos"/>
                  <a:ea typeface="Aptos"/>
                  <a:cs typeface="Aptos"/>
                  <a:sym typeface="Aptos"/>
                </a:rPr>
                <a:t>Information Sharing</a:t>
              </a:r>
            </a:p>
          </p:txBody>
        </p:sp>
      </p:grpSp>
      <p:grpSp>
        <p:nvGrpSpPr>
          <p:cNvPr name="Group 79" id="79"/>
          <p:cNvGrpSpPr/>
          <p:nvPr/>
        </p:nvGrpSpPr>
        <p:grpSpPr>
          <a:xfrm rot="0">
            <a:off x="12865608" y="4684014"/>
            <a:ext cx="1110996" cy="411480"/>
            <a:chOff x="0" y="0"/>
            <a:chExt cx="1481328" cy="548640"/>
          </a:xfrm>
        </p:grpSpPr>
        <p:sp>
          <p:nvSpPr>
            <p:cNvPr name="Freeform 80" id="80"/>
            <p:cNvSpPr/>
            <p:nvPr/>
          </p:nvSpPr>
          <p:spPr>
            <a:xfrm flipH="false" flipV="false" rot="0">
              <a:off x="0" y="0"/>
              <a:ext cx="1481328" cy="548640"/>
            </a:xfrm>
            <a:custGeom>
              <a:avLst/>
              <a:gdLst/>
              <a:ahLst/>
              <a:cxnLst/>
              <a:rect r="r" b="b" t="t" l="l"/>
              <a:pathLst>
                <a:path h="548640" w="1481328">
                  <a:moveTo>
                    <a:pt x="0" y="0"/>
                  </a:moveTo>
                  <a:lnTo>
                    <a:pt x="1481328" y="0"/>
                  </a:lnTo>
                  <a:lnTo>
                    <a:pt x="1481328" y="548640"/>
                  </a:lnTo>
                  <a:lnTo>
                    <a:pt x="0" y="548640"/>
                  </a:lnTo>
                  <a:close/>
                </a:path>
              </a:pathLst>
            </a:custGeom>
            <a:blipFill>
              <a:blip r:embed="rId3">
                <a:alphaModFix amt="0"/>
              </a:blip>
              <a:stretch>
                <a:fillRect l="0" t="-2609" r="0" b="-2609"/>
              </a:stretch>
            </a:blipFill>
          </p:spPr>
        </p:sp>
        <p:sp>
          <p:nvSpPr>
            <p:cNvPr name="TextBox 81" id="81"/>
            <p:cNvSpPr txBox="true"/>
            <p:nvPr/>
          </p:nvSpPr>
          <p:spPr>
            <a:xfrm>
              <a:off x="0" y="0"/>
              <a:ext cx="1481328" cy="548640"/>
            </a:xfrm>
            <a:prstGeom prst="rect">
              <a:avLst/>
            </a:prstGeom>
          </p:spPr>
          <p:txBody>
            <a:bodyPr anchor="ctr" rtlCol="false" tIns="0" lIns="0" bIns="0" rIns="0"/>
            <a:lstStyle/>
            <a:p>
              <a:pPr algn="ctr">
                <a:lnSpc>
                  <a:spcPts val="2735"/>
                </a:lnSpc>
              </a:pPr>
              <a:r>
                <a:rPr lang="en-US" sz="2279" b="true">
                  <a:solidFill>
                    <a:srgbClr val="193957"/>
                  </a:solidFill>
                  <a:latin typeface="Aptos Bold"/>
                  <a:ea typeface="Aptos Bold"/>
                  <a:cs typeface="Aptos Bold"/>
                  <a:sym typeface="Aptos Bold"/>
                </a:rPr>
                <a:t>3,8</a:t>
              </a:r>
            </a:p>
          </p:txBody>
        </p:sp>
      </p:grpSp>
      <p:grpSp>
        <p:nvGrpSpPr>
          <p:cNvPr name="Group 82" id="82"/>
          <p:cNvGrpSpPr/>
          <p:nvPr/>
        </p:nvGrpSpPr>
        <p:grpSpPr>
          <a:xfrm rot="0">
            <a:off x="14141196" y="4684014"/>
            <a:ext cx="1399032" cy="411480"/>
            <a:chOff x="0" y="0"/>
            <a:chExt cx="1865376" cy="548640"/>
          </a:xfrm>
        </p:grpSpPr>
        <p:sp>
          <p:nvSpPr>
            <p:cNvPr name="Freeform 83" id="83"/>
            <p:cNvSpPr/>
            <p:nvPr/>
          </p:nvSpPr>
          <p:spPr>
            <a:xfrm flipH="false" flipV="false" rot="0">
              <a:off x="0" y="0"/>
              <a:ext cx="1865376" cy="548640"/>
            </a:xfrm>
            <a:custGeom>
              <a:avLst/>
              <a:gdLst/>
              <a:ahLst/>
              <a:cxnLst/>
              <a:rect r="r" b="b" t="t" l="l"/>
              <a:pathLst>
                <a:path h="548640" w="1865376">
                  <a:moveTo>
                    <a:pt x="0" y="0"/>
                  </a:moveTo>
                  <a:lnTo>
                    <a:pt x="1865376" y="0"/>
                  </a:lnTo>
                  <a:lnTo>
                    <a:pt x="1865376" y="548640"/>
                  </a:lnTo>
                  <a:lnTo>
                    <a:pt x="0" y="548640"/>
                  </a:lnTo>
                  <a:close/>
                </a:path>
              </a:pathLst>
            </a:custGeom>
            <a:blipFill>
              <a:blip r:embed="rId3">
                <a:alphaModFix amt="0"/>
              </a:blip>
              <a:stretch>
                <a:fillRect l="0" t="-16249" r="0" b="-16249"/>
              </a:stretch>
            </a:blipFill>
          </p:spPr>
        </p:sp>
        <p:sp>
          <p:nvSpPr>
            <p:cNvPr name="TextBox 84" id="84"/>
            <p:cNvSpPr txBox="true"/>
            <p:nvPr/>
          </p:nvSpPr>
          <p:spPr>
            <a:xfrm>
              <a:off x="0" y="0"/>
              <a:ext cx="1865376" cy="548640"/>
            </a:xfrm>
            <a:prstGeom prst="rect">
              <a:avLst/>
            </a:prstGeom>
          </p:spPr>
          <p:txBody>
            <a:bodyPr anchor="ctr" rtlCol="false" tIns="0" lIns="0" bIns="0" rIns="0"/>
            <a:lstStyle/>
            <a:p>
              <a:pPr algn="ctr">
                <a:lnSpc>
                  <a:spcPts val="2735"/>
                </a:lnSpc>
              </a:pPr>
              <a:r>
                <a:rPr lang="en-US" sz="2279" b="true">
                  <a:solidFill>
                    <a:srgbClr val="193957"/>
                  </a:solidFill>
                  <a:latin typeface="Aptos Bold"/>
                  <a:ea typeface="Aptos Bold"/>
                  <a:cs typeface="Aptos Bold"/>
                  <a:sym typeface="Aptos Bold"/>
                </a:rPr>
                <a:t>4</a:t>
              </a:r>
            </a:p>
          </p:txBody>
        </p:sp>
      </p:grpSp>
      <p:grpSp>
        <p:nvGrpSpPr>
          <p:cNvPr name="Group 85" id="85"/>
          <p:cNvGrpSpPr/>
          <p:nvPr/>
        </p:nvGrpSpPr>
        <p:grpSpPr>
          <a:xfrm rot="0">
            <a:off x="15841980" y="4684014"/>
            <a:ext cx="713232" cy="411480"/>
            <a:chOff x="0" y="0"/>
            <a:chExt cx="950976" cy="548640"/>
          </a:xfrm>
        </p:grpSpPr>
        <p:sp>
          <p:nvSpPr>
            <p:cNvPr name="Freeform 86" id="86"/>
            <p:cNvSpPr/>
            <p:nvPr/>
          </p:nvSpPr>
          <p:spPr>
            <a:xfrm flipH="false" flipV="false" rot="0">
              <a:off x="0" y="0"/>
              <a:ext cx="950976" cy="548640"/>
            </a:xfrm>
            <a:custGeom>
              <a:avLst/>
              <a:gdLst/>
              <a:ahLst/>
              <a:cxnLst/>
              <a:rect r="r" b="b" t="t" l="l"/>
              <a:pathLst>
                <a:path h="548640" w="950976">
                  <a:moveTo>
                    <a:pt x="0" y="0"/>
                  </a:moveTo>
                  <a:lnTo>
                    <a:pt x="950976" y="0"/>
                  </a:lnTo>
                  <a:lnTo>
                    <a:pt x="950976" y="548640"/>
                  </a:lnTo>
                  <a:lnTo>
                    <a:pt x="0" y="548640"/>
                  </a:lnTo>
                  <a:close/>
                </a:path>
              </a:pathLst>
            </a:custGeom>
            <a:blipFill>
              <a:blip r:embed="rId3">
                <a:alphaModFix amt="0"/>
              </a:blip>
              <a:stretch>
                <a:fillRect l="-24021" t="0" r="-24021" b="0"/>
              </a:stretch>
            </a:blipFill>
          </p:spPr>
        </p:sp>
        <p:sp>
          <p:nvSpPr>
            <p:cNvPr name="TextBox 87" id="87"/>
            <p:cNvSpPr txBox="true"/>
            <p:nvPr/>
          </p:nvSpPr>
          <p:spPr>
            <a:xfrm>
              <a:off x="0" y="0"/>
              <a:ext cx="950976" cy="548640"/>
            </a:xfrm>
            <a:prstGeom prst="rect">
              <a:avLst/>
            </a:prstGeom>
          </p:spPr>
          <p:txBody>
            <a:bodyPr anchor="ctr" rtlCol="false" tIns="0" lIns="0" bIns="0" rIns="0"/>
            <a:lstStyle/>
            <a:p>
              <a:pPr algn="ctr">
                <a:lnSpc>
                  <a:spcPts val="2735"/>
                </a:lnSpc>
              </a:pPr>
              <a:r>
                <a:rPr lang="en-US" sz="2279" b="true">
                  <a:solidFill>
                    <a:srgbClr val="193957"/>
                  </a:solidFill>
                  <a:latin typeface="Aptos Bold"/>
                  <a:ea typeface="Aptos Bold"/>
                  <a:cs typeface="Aptos Bold"/>
                  <a:sym typeface="Aptos Bold"/>
                </a:rPr>
                <a:t>1</a:t>
              </a:r>
            </a:p>
          </p:txBody>
        </p:sp>
      </p:grpSp>
      <p:grpSp>
        <p:nvGrpSpPr>
          <p:cNvPr name="Group 88" id="88"/>
          <p:cNvGrpSpPr/>
          <p:nvPr/>
        </p:nvGrpSpPr>
        <p:grpSpPr>
          <a:xfrm rot="0">
            <a:off x="8051292" y="5561838"/>
            <a:ext cx="1028700" cy="315468"/>
            <a:chOff x="0" y="0"/>
            <a:chExt cx="1371600" cy="420624"/>
          </a:xfrm>
        </p:grpSpPr>
        <p:sp>
          <p:nvSpPr>
            <p:cNvPr name="Freeform 89" id="89"/>
            <p:cNvSpPr/>
            <p:nvPr/>
          </p:nvSpPr>
          <p:spPr>
            <a:xfrm flipH="false" flipV="false" rot="0">
              <a:off x="0" y="0"/>
              <a:ext cx="1371600" cy="420624"/>
            </a:xfrm>
            <a:custGeom>
              <a:avLst/>
              <a:gdLst/>
              <a:ahLst/>
              <a:cxnLst/>
              <a:rect r="r" b="b" t="t" l="l"/>
              <a:pathLst>
                <a:path h="420624" w="1371600">
                  <a:moveTo>
                    <a:pt x="0" y="0"/>
                  </a:moveTo>
                  <a:lnTo>
                    <a:pt x="1371600" y="0"/>
                  </a:lnTo>
                  <a:lnTo>
                    <a:pt x="1371600" y="420624"/>
                  </a:lnTo>
                  <a:lnTo>
                    <a:pt x="0" y="420624"/>
                  </a:lnTo>
                  <a:close/>
                </a:path>
              </a:pathLst>
            </a:custGeom>
            <a:blipFill>
              <a:blip r:embed="rId3">
                <a:alphaModFix amt="0"/>
              </a:blip>
              <a:stretch>
                <a:fillRect l="0" t="-13538" r="0" b="-13538"/>
              </a:stretch>
            </a:blipFill>
          </p:spPr>
        </p:sp>
        <p:sp>
          <p:nvSpPr>
            <p:cNvPr name="TextBox 90" id="90"/>
            <p:cNvSpPr txBox="true"/>
            <p:nvPr/>
          </p:nvSpPr>
          <p:spPr>
            <a:xfrm>
              <a:off x="0" y="0"/>
              <a:ext cx="1371600" cy="420624"/>
            </a:xfrm>
            <a:prstGeom prst="rect">
              <a:avLst/>
            </a:prstGeom>
          </p:spPr>
          <p:txBody>
            <a:bodyPr anchor="ctr" rtlCol="false" tIns="0" lIns="0" bIns="0" rIns="0"/>
            <a:lstStyle/>
            <a:p>
              <a:pPr algn="l">
                <a:lnSpc>
                  <a:spcPts val="2340"/>
                </a:lnSpc>
              </a:pPr>
              <a:r>
                <a:rPr lang="en-US" sz="1950" b="true">
                  <a:solidFill>
                    <a:srgbClr val="193957"/>
                  </a:solidFill>
                  <a:latin typeface="Aptos Bold"/>
                  <a:ea typeface="Aptos Bold"/>
                  <a:cs typeface="Aptos Bold"/>
                  <a:sym typeface="Aptos Bold"/>
                </a:rPr>
                <a:t>TP.10</a:t>
              </a:r>
            </a:p>
          </p:txBody>
        </p:sp>
      </p:grpSp>
      <p:grpSp>
        <p:nvGrpSpPr>
          <p:cNvPr name="Group 91" id="91"/>
          <p:cNvGrpSpPr/>
          <p:nvPr/>
        </p:nvGrpSpPr>
        <p:grpSpPr>
          <a:xfrm rot="0">
            <a:off x="9107424" y="5539892"/>
            <a:ext cx="3483864" cy="562356"/>
            <a:chOff x="0" y="0"/>
            <a:chExt cx="4645152" cy="749808"/>
          </a:xfrm>
        </p:grpSpPr>
        <p:sp>
          <p:nvSpPr>
            <p:cNvPr name="Freeform 92" id="92"/>
            <p:cNvSpPr/>
            <p:nvPr/>
          </p:nvSpPr>
          <p:spPr>
            <a:xfrm flipH="false" flipV="false" rot="0">
              <a:off x="0" y="0"/>
              <a:ext cx="4645152" cy="749808"/>
            </a:xfrm>
            <a:custGeom>
              <a:avLst/>
              <a:gdLst/>
              <a:ahLst/>
              <a:cxnLst/>
              <a:rect r="r" b="b" t="t" l="l"/>
              <a:pathLst>
                <a:path h="749808" w="4645152">
                  <a:moveTo>
                    <a:pt x="0" y="0"/>
                  </a:moveTo>
                  <a:lnTo>
                    <a:pt x="4645152" y="0"/>
                  </a:lnTo>
                  <a:lnTo>
                    <a:pt x="4645152" y="749808"/>
                  </a:lnTo>
                  <a:lnTo>
                    <a:pt x="0" y="749808"/>
                  </a:lnTo>
                  <a:close/>
                </a:path>
              </a:pathLst>
            </a:custGeom>
            <a:blipFill>
              <a:blip r:embed="rId3">
                <a:alphaModFix amt="0"/>
              </a:blip>
              <a:stretch>
                <a:fillRect l="0" t="-70712" r="0" b="-70712"/>
              </a:stretch>
            </a:blipFill>
          </p:spPr>
        </p:sp>
        <p:sp>
          <p:nvSpPr>
            <p:cNvPr name="TextBox 93" id="93"/>
            <p:cNvSpPr txBox="true"/>
            <p:nvPr/>
          </p:nvSpPr>
          <p:spPr>
            <a:xfrm>
              <a:off x="0" y="0"/>
              <a:ext cx="4645152" cy="749808"/>
            </a:xfrm>
            <a:prstGeom prst="rect">
              <a:avLst/>
            </a:prstGeom>
          </p:spPr>
          <p:txBody>
            <a:bodyPr anchor="ctr" rtlCol="false" tIns="0" lIns="0" bIns="0" rIns="0"/>
            <a:lstStyle/>
            <a:p>
              <a:pPr algn="l">
                <a:lnSpc>
                  <a:spcPts val="2160"/>
                </a:lnSpc>
              </a:pPr>
              <a:r>
                <a:rPr lang="en-US" sz="1800">
                  <a:solidFill>
                    <a:srgbClr val="193957"/>
                  </a:solidFill>
                  <a:latin typeface="Aptos"/>
                  <a:ea typeface="Aptos"/>
                  <a:cs typeface="Aptos"/>
                  <a:sym typeface="Aptos"/>
                </a:rPr>
                <a:t>Identity &amp; Access Management</a:t>
              </a:r>
            </a:p>
          </p:txBody>
        </p:sp>
      </p:grpSp>
      <p:grpSp>
        <p:nvGrpSpPr>
          <p:cNvPr name="Group 94" id="94"/>
          <p:cNvGrpSpPr/>
          <p:nvPr/>
        </p:nvGrpSpPr>
        <p:grpSpPr>
          <a:xfrm rot="0">
            <a:off x="12865608" y="5644134"/>
            <a:ext cx="1110996" cy="411480"/>
            <a:chOff x="0" y="0"/>
            <a:chExt cx="1481328" cy="548640"/>
          </a:xfrm>
        </p:grpSpPr>
        <p:sp>
          <p:nvSpPr>
            <p:cNvPr name="Freeform 95" id="95"/>
            <p:cNvSpPr/>
            <p:nvPr/>
          </p:nvSpPr>
          <p:spPr>
            <a:xfrm flipH="false" flipV="false" rot="0">
              <a:off x="0" y="0"/>
              <a:ext cx="1481328" cy="548640"/>
            </a:xfrm>
            <a:custGeom>
              <a:avLst/>
              <a:gdLst/>
              <a:ahLst/>
              <a:cxnLst/>
              <a:rect r="r" b="b" t="t" l="l"/>
              <a:pathLst>
                <a:path h="548640" w="1481328">
                  <a:moveTo>
                    <a:pt x="0" y="0"/>
                  </a:moveTo>
                  <a:lnTo>
                    <a:pt x="1481328" y="0"/>
                  </a:lnTo>
                  <a:lnTo>
                    <a:pt x="1481328" y="548640"/>
                  </a:lnTo>
                  <a:lnTo>
                    <a:pt x="0" y="548640"/>
                  </a:lnTo>
                  <a:close/>
                </a:path>
              </a:pathLst>
            </a:custGeom>
            <a:blipFill>
              <a:blip r:embed="rId3">
                <a:alphaModFix amt="0"/>
              </a:blip>
              <a:stretch>
                <a:fillRect l="0" t="-2609" r="0" b="-2609"/>
              </a:stretch>
            </a:blipFill>
          </p:spPr>
        </p:sp>
        <p:sp>
          <p:nvSpPr>
            <p:cNvPr name="TextBox 96" id="96"/>
            <p:cNvSpPr txBox="true"/>
            <p:nvPr/>
          </p:nvSpPr>
          <p:spPr>
            <a:xfrm>
              <a:off x="0" y="0"/>
              <a:ext cx="1481328" cy="548640"/>
            </a:xfrm>
            <a:prstGeom prst="rect">
              <a:avLst/>
            </a:prstGeom>
          </p:spPr>
          <p:txBody>
            <a:bodyPr anchor="ctr" rtlCol="false" tIns="0" lIns="0" bIns="0" rIns="0"/>
            <a:lstStyle/>
            <a:p>
              <a:pPr algn="ctr">
                <a:lnSpc>
                  <a:spcPts val="2735"/>
                </a:lnSpc>
              </a:pPr>
              <a:r>
                <a:rPr lang="en-US" sz="2279" b="true">
                  <a:solidFill>
                    <a:srgbClr val="193957"/>
                  </a:solidFill>
                  <a:latin typeface="Aptos Bold"/>
                  <a:ea typeface="Aptos Bold"/>
                  <a:cs typeface="Aptos Bold"/>
                  <a:sym typeface="Aptos Bold"/>
                </a:rPr>
                <a:t>4,5</a:t>
              </a:r>
            </a:p>
          </p:txBody>
        </p:sp>
      </p:grpSp>
      <p:grpSp>
        <p:nvGrpSpPr>
          <p:cNvPr name="Group 97" id="97"/>
          <p:cNvGrpSpPr/>
          <p:nvPr/>
        </p:nvGrpSpPr>
        <p:grpSpPr>
          <a:xfrm rot="0">
            <a:off x="14141196" y="5644134"/>
            <a:ext cx="1399032" cy="411480"/>
            <a:chOff x="0" y="0"/>
            <a:chExt cx="1865376" cy="548640"/>
          </a:xfrm>
        </p:grpSpPr>
        <p:sp>
          <p:nvSpPr>
            <p:cNvPr name="Freeform 98" id="98"/>
            <p:cNvSpPr/>
            <p:nvPr/>
          </p:nvSpPr>
          <p:spPr>
            <a:xfrm flipH="false" flipV="false" rot="0">
              <a:off x="0" y="0"/>
              <a:ext cx="1865376" cy="548640"/>
            </a:xfrm>
            <a:custGeom>
              <a:avLst/>
              <a:gdLst/>
              <a:ahLst/>
              <a:cxnLst/>
              <a:rect r="r" b="b" t="t" l="l"/>
              <a:pathLst>
                <a:path h="548640" w="1865376">
                  <a:moveTo>
                    <a:pt x="0" y="0"/>
                  </a:moveTo>
                  <a:lnTo>
                    <a:pt x="1865376" y="0"/>
                  </a:lnTo>
                  <a:lnTo>
                    <a:pt x="1865376" y="548640"/>
                  </a:lnTo>
                  <a:lnTo>
                    <a:pt x="0" y="548640"/>
                  </a:lnTo>
                  <a:close/>
                </a:path>
              </a:pathLst>
            </a:custGeom>
            <a:blipFill>
              <a:blip r:embed="rId3">
                <a:alphaModFix amt="0"/>
              </a:blip>
              <a:stretch>
                <a:fillRect l="0" t="-16249" r="0" b="-16249"/>
              </a:stretch>
            </a:blipFill>
          </p:spPr>
        </p:sp>
        <p:sp>
          <p:nvSpPr>
            <p:cNvPr name="TextBox 99" id="99"/>
            <p:cNvSpPr txBox="true"/>
            <p:nvPr/>
          </p:nvSpPr>
          <p:spPr>
            <a:xfrm>
              <a:off x="0" y="0"/>
              <a:ext cx="1865376" cy="548640"/>
            </a:xfrm>
            <a:prstGeom prst="rect">
              <a:avLst/>
            </a:prstGeom>
          </p:spPr>
          <p:txBody>
            <a:bodyPr anchor="ctr" rtlCol="false" tIns="0" lIns="0" bIns="0" rIns="0"/>
            <a:lstStyle/>
            <a:p>
              <a:pPr algn="ctr">
                <a:lnSpc>
                  <a:spcPts val="2735"/>
                </a:lnSpc>
              </a:pPr>
              <a:r>
                <a:rPr lang="en-US" sz="2279" b="true">
                  <a:solidFill>
                    <a:srgbClr val="193957"/>
                  </a:solidFill>
                  <a:latin typeface="Aptos Bold"/>
                  <a:ea typeface="Aptos Bold"/>
                  <a:cs typeface="Aptos Bold"/>
                  <a:sym typeface="Aptos Bold"/>
                </a:rPr>
                <a:t>4,5</a:t>
              </a:r>
            </a:p>
          </p:txBody>
        </p:sp>
      </p:grpSp>
      <p:grpSp>
        <p:nvGrpSpPr>
          <p:cNvPr name="Group 100" id="100"/>
          <p:cNvGrpSpPr/>
          <p:nvPr/>
        </p:nvGrpSpPr>
        <p:grpSpPr>
          <a:xfrm rot="0">
            <a:off x="15841980" y="5644134"/>
            <a:ext cx="713232" cy="411480"/>
            <a:chOff x="0" y="0"/>
            <a:chExt cx="950976" cy="548640"/>
          </a:xfrm>
        </p:grpSpPr>
        <p:sp>
          <p:nvSpPr>
            <p:cNvPr name="Freeform 101" id="101"/>
            <p:cNvSpPr/>
            <p:nvPr/>
          </p:nvSpPr>
          <p:spPr>
            <a:xfrm flipH="false" flipV="false" rot="0">
              <a:off x="0" y="0"/>
              <a:ext cx="950976" cy="548640"/>
            </a:xfrm>
            <a:custGeom>
              <a:avLst/>
              <a:gdLst/>
              <a:ahLst/>
              <a:cxnLst/>
              <a:rect r="r" b="b" t="t" l="l"/>
              <a:pathLst>
                <a:path h="548640" w="950976">
                  <a:moveTo>
                    <a:pt x="0" y="0"/>
                  </a:moveTo>
                  <a:lnTo>
                    <a:pt x="950976" y="0"/>
                  </a:lnTo>
                  <a:lnTo>
                    <a:pt x="950976" y="548640"/>
                  </a:lnTo>
                  <a:lnTo>
                    <a:pt x="0" y="548640"/>
                  </a:lnTo>
                  <a:close/>
                </a:path>
              </a:pathLst>
            </a:custGeom>
            <a:blipFill>
              <a:blip r:embed="rId3">
                <a:alphaModFix amt="0"/>
              </a:blip>
              <a:stretch>
                <a:fillRect l="-24021" t="0" r="-24021" b="0"/>
              </a:stretch>
            </a:blipFill>
          </p:spPr>
        </p:sp>
        <p:sp>
          <p:nvSpPr>
            <p:cNvPr name="TextBox 102" id="102"/>
            <p:cNvSpPr txBox="true"/>
            <p:nvPr/>
          </p:nvSpPr>
          <p:spPr>
            <a:xfrm>
              <a:off x="0" y="0"/>
              <a:ext cx="950976" cy="548640"/>
            </a:xfrm>
            <a:prstGeom prst="rect">
              <a:avLst/>
            </a:prstGeom>
          </p:spPr>
          <p:txBody>
            <a:bodyPr anchor="ctr" rtlCol="false" tIns="0" lIns="0" bIns="0" rIns="0"/>
            <a:lstStyle/>
            <a:p>
              <a:pPr algn="ctr">
                <a:lnSpc>
                  <a:spcPts val="2735"/>
                </a:lnSpc>
              </a:pPr>
              <a:r>
                <a:rPr lang="en-US" sz="2279" b="true">
                  <a:solidFill>
                    <a:srgbClr val="193957"/>
                  </a:solidFill>
                  <a:latin typeface="Aptos Bold"/>
                  <a:ea typeface="Aptos Bold"/>
                  <a:cs typeface="Aptos Bold"/>
                  <a:sym typeface="Aptos Bold"/>
                </a:rPr>
                <a:t>1</a:t>
              </a:r>
            </a:p>
          </p:txBody>
        </p:sp>
      </p:grpSp>
      <p:grpSp>
        <p:nvGrpSpPr>
          <p:cNvPr name="Group 103" id="103"/>
          <p:cNvGrpSpPr/>
          <p:nvPr/>
        </p:nvGrpSpPr>
        <p:grpSpPr>
          <a:xfrm rot="0">
            <a:off x="7781163" y="6430137"/>
            <a:ext cx="9071610" cy="951738"/>
            <a:chOff x="0" y="0"/>
            <a:chExt cx="12095480" cy="1268984"/>
          </a:xfrm>
        </p:grpSpPr>
        <p:sp>
          <p:nvSpPr>
            <p:cNvPr name="Freeform 104" id="104"/>
            <p:cNvSpPr/>
            <p:nvPr/>
          </p:nvSpPr>
          <p:spPr>
            <a:xfrm flipH="false" flipV="false" rot="0">
              <a:off x="0" y="0"/>
              <a:ext cx="12095480" cy="1268984"/>
            </a:xfrm>
            <a:custGeom>
              <a:avLst/>
              <a:gdLst/>
              <a:ahLst/>
              <a:cxnLst/>
              <a:rect r="r" b="b" t="t" l="l"/>
              <a:pathLst>
                <a:path h="1268984" w="12095480">
                  <a:moveTo>
                    <a:pt x="0" y="0"/>
                  </a:moveTo>
                  <a:lnTo>
                    <a:pt x="12095480" y="0"/>
                  </a:lnTo>
                  <a:lnTo>
                    <a:pt x="12095480" y="1268984"/>
                  </a:lnTo>
                  <a:lnTo>
                    <a:pt x="0" y="1268984"/>
                  </a:lnTo>
                  <a:close/>
                </a:path>
              </a:pathLst>
            </a:custGeom>
            <a:solidFill>
              <a:srgbClr val="F3F9FA"/>
            </a:solidFill>
          </p:spPr>
        </p:sp>
      </p:grpSp>
      <p:grpSp>
        <p:nvGrpSpPr>
          <p:cNvPr name="Group 105" id="105"/>
          <p:cNvGrpSpPr/>
          <p:nvPr/>
        </p:nvGrpSpPr>
        <p:grpSpPr>
          <a:xfrm rot="0">
            <a:off x="8051292" y="6521958"/>
            <a:ext cx="1028700" cy="315468"/>
            <a:chOff x="0" y="0"/>
            <a:chExt cx="1371600" cy="420624"/>
          </a:xfrm>
        </p:grpSpPr>
        <p:sp>
          <p:nvSpPr>
            <p:cNvPr name="Freeform 106" id="106"/>
            <p:cNvSpPr/>
            <p:nvPr/>
          </p:nvSpPr>
          <p:spPr>
            <a:xfrm flipH="false" flipV="false" rot="0">
              <a:off x="0" y="0"/>
              <a:ext cx="1371600" cy="420624"/>
            </a:xfrm>
            <a:custGeom>
              <a:avLst/>
              <a:gdLst/>
              <a:ahLst/>
              <a:cxnLst/>
              <a:rect r="r" b="b" t="t" l="l"/>
              <a:pathLst>
                <a:path h="420624" w="1371600">
                  <a:moveTo>
                    <a:pt x="0" y="0"/>
                  </a:moveTo>
                  <a:lnTo>
                    <a:pt x="1371600" y="0"/>
                  </a:lnTo>
                  <a:lnTo>
                    <a:pt x="1371600" y="420624"/>
                  </a:lnTo>
                  <a:lnTo>
                    <a:pt x="0" y="420624"/>
                  </a:lnTo>
                  <a:close/>
                </a:path>
              </a:pathLst>
            </a:custGeom>
            <a:blipFill>
              <a:blip r:embed="rId3">
                <a:alphaModFix amt="0"/>
              </a:blip>
              <a:stretch>
                <a:fillRect l="0" t="-13538" r="0" b="-13538"/>
              </a:stretch>
            </a:blipFill>
          </p:spPr>
        </p:sp>
        <p:sp>
          <p:nvSpPr>
            <p:cNvPr name="TextBox 107" id="107"/>
            <p:cNvSpPr txBox="true"/>
            <p:nvPr/>
          </p:nvSpPr>
          <p:spPr>
            <a:xfrm>
              <a:off x="0" y="0"/>
              <a:ext cx="1371600" cy="420624"/>
            </a:xfrm>
            <a:prstGeom prst="rect">
              <a:avLst/>
            </a:prstGeom>
          </p:spPr>
          <p:txBody>
            <a:bodyPr anchor="ctr" rtlCol="false" tIns="0" lIns="0" bIns="0" rIns="0"/>
            <a:lstStyle/>
            <a:p>
              <a:pPr algn="l">
                <a:lnSpc>
                  <a:spcPts val="2340"/>
                </a:lnSpc>
              </a:pPr>
              <a:r>
                <a:rPr lang="en-US" sz="1950" b="true">
                  <a:solidFill>
                    <a:srgbClr val="193957"/>
                  </a:solidFill>
                  <a:latin typeface="Aptos Bold"/>
                  <a:ea typeface="Aptos Bold"/>
                  <a:cs typeface="Aptos Bold"/>
                  <a:sym typeface="Aptos Bold"/>
                </a:rPr>
                <a:t>OP.5</a:t>
              </a:r>
            </a:p>
          </p:txBody>
        </p:sp>
      </p:grpSp>
      <p:grpSp>
        <p:nvGrpSpPr>
          <p:cNvPr name="Group 108" id="108"/>
          <p:cNvGrpSpPr/>
          <p:nvPr/>
        </p:nvGrpSpPr>
        <p:grpSpPr>
          <a:xfrm rot="0">
            <a:off x="9107424" y="6500012"/>
            <a:ext cx="3483864" cy="562356"/>
            <a:chOff x="0" y="0"/>
            <a:chExt cx="4645152" cy="749808"/>
          </a:xfrm>
        </p:grpSpPr>
        <p:sp>
          <p:nvSpPr>
            <p:cNvPr name="Freeform 109" id="109"/>
            <p:cNvSpPr/>
            <p:nvPr/>
          </p:nvSpPr>
          <p:spPr>
            <a:xfrm flipH="false" flipV="false" rot="0">
              <a:off x="0" y="0"/>
              <a:ext cx="4645152" cy="749808"/>
            </a:xfrm>
            <a:custGeom>
              <a:avLst/>
              <a:gdLst/>
              <a:ahLst/>
              <a:cxnLst/>
              <a:rect r="r" b="b" t="t" l="l"/>
              <a:pathLst>
                <a:path h="749808" w="4645152">
                  <a:moveTo>
                    <a:pt x="0" y="0"/>
                  </a:moveTo>
                  <a:lnTo>
                    <a:pt x="4645152" y="0"/>
                  </a:lnTo>
                  <a:lnTo>
                    <a:pt x="4645152" y="749808"/>
                  </a:lnTo>
                  <a:lnTo>
                    <a:pt x="0" y="749808"/>
                  </a:lnTo>
                  <a:close/>
                </a:path>
              </a:pathLst>
            </a:custGeom>
            <a:blipFill>
              <a:blip r:embed="rId3">
                <a:alphaModFix amt="0"/>
              </a:blip>
              <a:stretch>
                <a:fillRect l="0" t="-70712" r="0" b="-70712"/>
              </a:stretch>
            </a:blipFill>
          </p:spPr>
        </p:sp>
        <p:sp>
          <p:nvSpPr>
            <p:cNvPr name="TextBox 110" id="110"/>
            <p:cNvSpPr txBox="true"/>
            <p:nvPr/>
          </p:nvSpPr>
          <p:spPr>
            <a:xfrm>
              <a:off x="0" y="0"/>
              <a:ext cx="4645152" cy="749808"/>
            </a:xfrm>
            <a:prstGeom prst="rect">
              <a:avLst/>
            </a:prstGeom>
          </p:spPr>
          <p:txBody>
            <a:bodyPr anchor="ctr" rtlCol="false" tIns="0" lIns="0" bIns="0" rIns="0"/>
            <a:lstStyle/>
            <a:p>
              <a:pPr algn="l">
                <a:lnSpc>
                  <a:spcPts val="2160"/>
                </a:lnSpc>
              </a:pPr>
              <a:r>
                <a:rPr lang="en-US" sz="1800">
                  <a:solidFill>
                    <a:srgbClr val="193957"/>
                  </a:solidFill>
                  <a:latin typeface="Aptos"/>
                  <a:ea typeface="Aptos"/>
                  <a:cs typeface="Aptos"/>
                  <a:sym typeface="Aptos"/>
                </a:rPr>
                <a:t>Access Administration</a:t>
              </a:r>
            </a:p>
          </p:txBody>
        </p:sp>
      </p:grpSp>
      <p:grpSp>
        <p:nvGrpSpPr>
          <p:cNvPr name="Group 111" id="111"/>
          <p:cNvGrpSpPr/>
          <p:nvPr/>
        </p:nvGrpSpPr>
        <p:grpSpPr>
          <a:xfrm rot="0">
            <a:off x="12865608" y="6604254"/>
            <a:ext cx="1110996" cy="411480"/>
            <a:chOff x="0" y="0"/>
            <a:chExt cx="1481328" cy="548640"/>
          </a:xfrm>
        </p:grpSpPr>
        <p:sp>
          <p:nvSpPr>
            <p:cNvPr name="Freeform 112" id="112"/>
            <p:cNvSpPr/>
            <p:nvPr/>
          </p:nvSpPr>
          <p:spPr>
            <a:xfrm flipH="false" flipV="false" rot="0">
              <a:off x="0" y="0"/>
              <a:ext cx="1481328" cy="548640"/>
            </a:xfrm>
            <a:custGeom>
              <a:avLst/>
              <a:gdLst/>
              <a:ahLst/>
              <a:cxnLst/>
              <a:rect r="r" b="b" t="t" l="l"/>
              <a:pathLst>
                <a:path h="548640" w="1481328">
                  <a:moveTo>
                    <a:pt x="0" y="0"/>
                  </a:moveTo>
                  <a:lnTo>
                    <a:pt x="1481328" y="0"/>
                  </a:lnTo>
                  <a:lnTo>
                    <a:pt x="1481328" y="548640"/>
                  </a:lnTo>
                  <a:lnTo>
                    <a:pt x="0" y="548640"/>
                  </a:lnTo>
                  <a:close/>
                </a:path>
              </a:pathLst>
            </a:custGeom>
            <a:blipFill>
              <a:blip r:embed="rId3">
                <a:alphaModFix amt="0"/>
              </a:blip>
              <a:stretch>
                <a:fillRect l="0" t="-2609" r="0" b="-2609"/>
              </a:stretch>
            </a:blipFill>
          </p:spPr>
        </p:sp>
        <p:sp>
          <p:nvSpPr>
            <p:cNvPr name="TextBox 113" id="113"/>
            <p:cNvSpPr txBox="true"/>
            <p:nvPr/>
          </p:nvSpPr>
          <p:spPr>
            <a:xfrm>
              <a:off x="0" y="0"/>
              <a:ext cx="1481328" cy="548640"/>
            </a:xfrm>
            <a:prstGeom prst="rect">
              <a:avLst/>
            </a:prstGeom>
          </p:spPr>
          <p:txBody>
            <a:bodyPr anchor="ctr" rtlCol="false" tIns="0" lIns="0" bIns="0" rIns="0"/>
            <a:lstStyle/>
            <a:p>
              <a:pPr algn="ctr">
                <a:lnSpc>
                  <a:spcPts val="2735"/>
                </a:lnSpc>
              </a:pPr>
              <a:r>
                <a:rPr lang="en-US" sz="2279" b="true">
                  <a:solidFill>
                    <a:srgbClr val="193957"/>
                  </a:solidFill>
                  <a:latin typeface="Aptos Bold"/>
                  <a:ea typeface="Aptos Bold"/>
                  <a:cs typeface="Aptos Bold"/>
                  <a:sym typeface="Aptos Bold"/>
                </a:rPr>
                <a:t>4,5</a:t>
              </a:r>
            </a:p>
          </p:txBody>
        </p:sp>
      </p:grpSp>
      <p:grpSp>
        <p:nvGrpSpPr>
          <p:cNvPr name="Group 114" id="114"/>
          <p:cNvGrpSpPr/>
          <p:nvPr/>
        </p:nvGrpSpPr>
        <p:grpSpPr>
          <a:xfrm rot="0">
            <a:off x="14141196" y="6604254"/>
            <a:ext cx="1399032" cy="411480"/>
            <a:chOff x="0" y="0"/>
            <a:chExt cx="1865376" cy="548640"/>
          </a:xfrm>
        </p:grpSpPr>
        <p:sp>
          <p:nvSpPr>
            <p:cNvPr name="Freeform 115" id="115"/>
            <p:cNvSpPr/>
            <p:nvPr/>
          </p:nvSpPr>
          <p:spPr>
            <a:xfrm flipH="false" flipV="false" rot="0">
              <a:off x="0" y="0"/>
              <a:ext cx="1865376" cy="548640"/>
            </a:xfrm>
            <a:custGeom>
              <a:avLst/>
              <a:gdLst/>
              <a:ahLst/>
              <a:cxnLst/>
              <a:rect r="r" b="b" t="t" l="l"/>
              <a:pathLst>
                <a:path h="548640" w="1865376">
                  <a:moveTo>
                    <a:pt x="0" y="0"/>
                  </a:moveTo>
                  <a:lnTo>
                    <a:pt x="1865376" y="0"/>
                  </a:lnTo>
                  <a:lnTo>
                    <a:pt x="1865376" y="548640"/>
                  </a:lnTo>
                  <a:lnTo>
                    <a:pt x="0" y="548640"/>
                  </a:lnTo>
                  <a:close/>
                </a:path>
              </a:pathLst>
            </a:custGeom>
            <a:blipFill>
              <a:blip r:embed="rId3">
                <a:alphaModFix amt="0"/>
              </a:blip>
              <a:stretch>
                <a:fillRect l="0" t="-16249" r="0" b="-16249"/>
              </a:stretch>
            </a:blipFill>
          </p:spPr>
        </p:sp>
        <p:sp>
          <p:nvSpPr>
            <p:cNvPr name="TextBox 116" id="116"/>
            <p:cNvSpPr txBox="true"/>
            <p:nvPr/>
          </p:nvSpPr>
          <p:spPr>
            <a:xfrm>
              <a:off x="0" y="0"/>
              <a:ext cx="1865376" cy="548640"/>
            </a:xfrm>
            <a:prstGeom prst="rect">
              <a:avLst/>
            </a:prstGeom>
          </p:spPr>
          <p:txBody>
            <a:bodyPr anchor="ctr" rtlCol="false" tIns="0" lIns="0" bIns="0" rIns="0"/>
            <a:lstStyle/>
            <a:p>
              <a:pPr algn="ctr">
                <a:lnSpc>
                  <a:spcPts val="2735"/>
                </a:lnSpc>
              </a:pPr>
              <a:r>
                <a:rPr lang="en-US" sz="2279" b="true">
                  <a:solidFill>
                    <a:srgbClr val="193957"/>
                  </a:solidFill>
                  <a:latin typeface="Aptos Bold"/>
                  <a:ea typeface="Aptos Bold"/>
                  <a:cs typeface="Aptos Bold"/>
                  <a:sym typeface="Aptos Bold"/>
                </a:rPr>
                <a:t>4,5</a:t>
              </a:r>
            </a:p>
          </p:txBody>
        </p:sp>
      </p:grpSp>
      <p:grpSp>
        <p:nvGrpSpPr>
          <p:cNvPr name="Group 117" id="117"/>
          <p:cNvGrpSpPr/>
          <p:nvPr/>
        </p:nvGrpSpPr>
        <p:grpSpPr>
          <a:xfrm rot="0">
            <a:off x="15841980" y="6604254"/>
            <a:ext cx="713232" cy="411480"/>
            <a:chOff x="0" y="0"/>
            <a:chExt cx="950976" cy="548640"/>
          </a:xfrm>
        </p:grpSpPr>
        <p:sp>
          <p:nvSpPr>
            <p:cNvPr name="Freeform 118" id="118"/>
            <p:cNvSpPr/>
            <p:nvPr/>
          </p:nvSpPr>
          <p:spPr>
            <a:xfrm flipH="false" flipV="false" rot="0">
              <a:off x="0" y="0"/>
              <a:ext cx="950976" cy="548640"/>
            </a:xfrm>
            <a:custGeom>
              <a:avLst/>
              <a:gdLst/>
              <a:ahLst/>
              <a:cxnLst/>
              <a:rect r="r" b="b" t="t" l="l"/>
              <a:pathLst>
                <a:path h="548640" w="950976">
                  <a:moveTo>
                    <a:pt x="0" y="0"/>
                  </a:moveTo>
                  <a:lnTo>
                    <a:pt x="950976" y="0"/>
                  </a:lnTo>
                  <a:lnTo>
                    <a:pt x="950976" y="548640"/>
                  </a:lnTo>
                  <a:lnTo>
                    <a:pt x="0" y="548640"/>
                  </a:lnTo>
                  <a:close/>
                </a:path>
              </a:pathLst>
            </a:custGeom>
            <a:blipFill>
              <a:blip r:embed="rId3">
                <a:alphaModFix amt="0"/>
              </a:blip>
              <a:stretch>
                <a:fillRect l="-24021" t="0" r="-24021" b="0"/>
              </a:stretch>
            </a:blipFill>
          </p:spPr>
        </p:sp>
        <p:sp>
          <p:nvSpPr>
            <p:cNvPr name="TextBox 119" id="119"/>
            <p:cNvSpPr txBox="true"/>
            <p:nvPr/>
          </p:nvSpPr>
          <p:spPr>
            <a:xfrm>
              <a:off x="0" y="0"/>
              <a:ext cx="950976" cy="548640"/>
            </a:xfrm>
            <a:prstGeom prst="rect">
              <a:avLst/>
            </a:prstGeom>
          </p:spPr>
          <p:txBody>
            <a:bodyPr anchor="ctr" rtlCol="false" tIns="0" lIns="0" bIns="0" rIns="0"/>
            <a:lstStyle/>
            <a:p>
              <a:pPr algn="ctr">
                <a:lnSpc>
                  <a:spcPts val="2735"/>
                </a:lnSpc>
              </a:pPr>
              <a:r>
                <a:rPr lang="en-US" sz="2279" b="true">
                  <a:solidFill>
                    <a:srgbClr val="193957"/>
                  </a:solidFill>
                  <a:latin typeface="Aptos Bold"/>
                  <a:ea typeface="Aptos Bold"/>
                  <a:cs typeface="Aptos Bold"/>
                  <a:sym typeface="Aptos Bold"/>
                </a:rPr>
                <a:t>1</a:t>
              </a:r>
            </a:p>
          </p:txBody>
        </p:sp>
      </p:grpSp>
      <p:grpSp>
        <p:nvGrpSpPr>
          <p:cNvPr name="Group 120" id="120"/>
          <p:cNvGrpSpPr/>
          <p:nvPr/>
        </p:nvGrpSpPr>
        <p:grpSpPr>
          <a:xfrm rot="0">
            <a:off x="7781163" y="7520559"/>
            <a:ext cx="9057894" cy="553974"/>
            <a:chOff x="0" y="0"/>
            <a:chExt cx="12077192" cy="738632"/>
          </a:xfrm>
        </p:grpSpPr>
        <p:sp>
          <p:nvSpPr>
            <p:cNvPr name="Freeform 121" id="121"/>
            <p:cNvSpPr/>
            <p:nvPr/>
          </p:nvSpPr>
          <p:spPr>
            <a:xfrm flipH="false" flipV="false" rot="0">
              <a:off x="0" y="0"/>
              <a:ext cx="12077192" cy="738632"/>
            </a:xfrm>
            <a:custGeom>
              <a:avLst/>
              <a:gdLst/>
              <a:ahLst/>
              <a:cxnLst/>
              <a:rect r="r" b="b" t="t" l="l"/>
              <a:pathLst>
                <a:path h="738632" w="12077192">
                  <a:moveTo>
                    <a:pt x="0" y="0"/>
                  </a:moveTo>
                  <a:lnTo>
                    <a:pt x="12077192" y="0"/>
                  </a:lnTo>
                  <a:lnTo>
                    <a:pt x="12077192" y="738632"/>
                  </a:lnTo>
                  <a:lnTo>
                    <a:pt x="0" y="738632"/>
                  </a:lnTo>
                  <a:close/>
                </a:path>
              </a:pathLst>
            </a:custGeom>
            <a:solidFill>
              <a:srgbClr val="E4F5F2"/>
            </a:solidFill>
          </p:spPr>
        </p:sp>
      </p:grpSp>
      <p:grpSp>
        <p:nvGrpSpPr>
          <p:cNvPr name="Group 122" id="122"/>
          <p:cNvGrpSpPr/>
          <p:nvPr/>
        </p:nvGrpSpPr>
        <p:grpSpPr>
          <a:xfrm rot="0">
            <a:off x="7982712" y="7619238"/>
            <a:ext cx="8641080" cy="329184"/>
            <a:chOff x="0" y="0"/>
            <a:chExt cx="11521440" cy="438912"/>
          </a:xfrm>
        </p:grpSpPr>
        <p:sp>
          <p:nvSpPr>
            <p:cNvPr name="Freeform 123" id="123"/>
            <p:cNvSpPr/>
            <p:nvPr/>
          </p:nvSpPr>
          <p:spPr>
            <a:xfrm flipH="false" flipV="false" rot="0">
              <a:off x="0" y="0"/>
              <a:ext cx="11521440" cy="438912"/>
            </a:xfrm>
            <a:custGeom>
              <a:avLst/>
              <a:gdLst/>
              <a:ahLst/>
              <a:cxnLst/>
              <a:rect r="r" b="b" t="t" l="l"/>
              <a:pathLst>
                <a:path h="438912" w="11521440">
                  <a:moveTo>
                    <a:pt x="0" y="0"/>
                  </a:moveTo>
                  <a:lnTo>
                    <a:pt x="11521440" y="0"/>
                  </a:lnTo>
                  <a:lnTo>
                    <a:pt x="11521440" y="438912"/>
                  </a:lnTo>
                  <a:lnTo>
                    <a:pt x="0" y="438912"/>
                  </a:lnTo>
                  <a:close/>
                </a:path>
              </a:pathLst>
            </a:custGeom>
            <a:blipFill>
              <a:blip r:embed="rId3">
                <a:alphaModFix amt="0"/>
              </a:blip>
              <a:stretch>
                <a:fillRect l="0" t="-461482" r="0" b="-461482"/>
              </a:stretch>
            </a:blipFill>
          </p:spPr>
        </p:sp>
        <p:sp>
          <p:nvSpPr>
            <p:cNvPr name="TextBox 124" id="124"/>
            <p:cNvSpPr txBox="true"/>
            <p:nvPr/>
          </p:nvSpPr>
          <p:spPr>
            <a:xfrm>
              <a:off x="0" y="-9525"/>
              <a:ext cx="11521440" cy="448437"/>
            </a:xfrm>
            <a:prstGeom prst="rect">
              <a:avLst/>
            </a:prstGeom>
          </p:spPr>
          <p:txBody>
            <a:bodyPr anchor="ctr" rtlCol="false" tIns="0" lIns="0" bIns="0" rIns="0"/>
            <a:lstStyle/>
            <a:p>
              <a:pPr algn="l">
                <a:lnSpc>
                  <a:spcPts val="2105"/>
                </a:lnSpc>
              </a:pPr>
              <a:r>
                <a:rPr lang="en-US" sz="1754" b="true">
                  <a:solidFill>
                    <a:srgbClr val="087C7A"/>
                  </a:solidFill>
                  <a:latin typeface="Aptos Bold"/>
                  <a:ea typeface="Aptos Bold"/>
                  <a:cs typeface="Aptos Bold"/>
                  <a:sym typeface="Aptos Bold"/>
                </a:rPr>
                <a:t>SP.5 vẫn đạt: Median = 4 và IQR = 1; Mean không phải ngưỡng loại.</a:t>
              </a:r>
            </a:p>
          </p:txBody>
        </p:sp>
      </p:grpSp>
      <p:grpSp>
        <p:nvGrpSpPr>
          <p:cNvPr name="Group 125" id="125"/>
          <p:cNvGrpSpPr/>
          <p:nvPr/>
        </p:nvGrpSpPr>
        <p:grpSpPr>
          <a:xfrm rot="0">
            <a:off x="1063180" y="8565832"/>
            <a:ext cx="16170783" cy="671703"/>
            <a:chOff x="0" y="0"/>
            <a:chExt cx="21561044" cy="895604"/>
          </a:xfrm>
        </p:grpSpPr>
        <p:sp>
          <p:nvSpPr>
            <p:cNvPr name="Freeform 126" id="126"/>
            <p:cNvSpPr/>
            <p:nvPr/>
          </p:nvSpPr>
          <p:spPr>
            <a:xfrm flipH="false" flipV="false" rot="0">
              <a:off x="0" y="0"/>
              <a:ext cx="21561044" cy="895477"/>
            </a:xfrm>
            <a:custGeom>
              <a:avLst/>
              <a:gdLst/>
              <a:ahLst/>
              <a:cxnLst/>
              <a:rect r="r" b="b" t="t" l="l"/>
              <a:pathLst>
                <a:path h="895477" w="21561044">
                  <a:moveTo>
                    <a:pt x="0" y="111887"/>
                  </a:moveTo>
                  <a:cubicBezTo>
                    <a:pt x="0" y="50165"/>
                    <a:pt x="50165" y="0"/>
                    <a:pt x="111887" y="0"/>
                  </a:cubicBezTo>
                  <a:lnTo>
                    <a:pt x="21449030" y="0"/>
                  </a:lnTo>
                  <a:cubicBezTo>
                    <a:pt x="21510879" y="0"/>
                    <a:pt x="21561044" y="50165"/>
                    <a:pt x="21561044" y="111887"/>
                  </a:cubicBezTo>
                  <a:lnTo>
                    <a:pt x="21561044" y="783590"/>
                  </a:lnTo>
                  <a:cubicBezTo>
                    <a:pt x="21561044" y="845439"/>
                    <a:pt x="21510879" y="895477"/>
                    <a:pt x="21449030" y="895477"/>
                  </a:cubicBezTo>
                  <a:lnTo>
                    <a:pt x="111887" y="895477"/>
                  </a:lnTo>
                  <a:cubicBezTo>
                    <a:pt x="50165" y="895604"/>
                    <a:pt x="0" y="845439"/>
                    <a:pt x="0" y="783590"/>
                  </a:cubicBezTo>
                  <a:close/>
                </a:path>
              </a:pathLst>
            </a:custGeom>
            <a:solidFill>
              <a:srgbClr val="FFFFFF"/>
            </a:solidFill>
            <a:ln w="13335" cap="sq">
              <a:solidFill>
                <a:srgbClr val="DCE7EE"/>
              </a:solidFill>
              <a:prstDash val="solid"/>
              <a:miter/>
            </a:ln>
          </p:spPr>
        </p:sp>
      </p:grpSp>
      <p:grpSp>
        <p:nvGrpSpPr>
          <p:cNvPr name="Group 127" id="127"/>
          <p:cNvGrpSpPr/>
          <p:nvPr/>
        </p:nvGrpSpPr>
        <p:grpSpPr>
          <a:xfrm rot="0">
            <a:off x="1385316" y="8723376"/>
            <a:ext cx="15567660" cy="356616"/>
            <a:chOff x="0" y="0"/>
            <a:chExt cx="20756880" cy="475488"/>
          </a:xfrm>
        </p:grpSpPr>
        <p:sp>
          <p:nvSpPr>
            <p:cNvPr name="Freeform 128" id="128"/>
            <p:cNvSpPr/>
            <p:nvPr/>
          </p:nvSpPr>
          <p:spPr>
            <a:xfrm flipH="false" flipV="false" rot="0">
              <a:off x="0" y="0"/>
              <a:ext cx="20756880" cy="475488"/>
            </a:xfrm>
            <a:custGeom>
              <a:avLst/>
              <a:gdLst/>
              <a:ahLst/>
              <a:cxnLst/>
              <a:rect r="r" b="b" t="t" l="l"/>
              <a:pathLst>
                <a:path h="475488" w="20756880">
                  <a:moveTo>
                    <a:pt x="0" y="0"/>
                  </a:moveTo>
                  <a:lnTo>
                    <a:pt x="20756880" y="0"/>
                  </a:lnTo>
                  <a:lnTo>
                    <a:pt x="20756880" y="475488"/>
                  </a:lnTo>
                  <a:lnTo>
                    <a:pt x="0" y="475488"/>
                  </a:lnTo>
                  <a:close/>
                </a:path>
              </a:pathLst>
            </a:custGeom>
            <a:blipFill>
              <a:blip r:embed="rId3">
                <a:alphaModFix amt="0"/>
              </a:blip>
              <a:stretch>
                <a:fillRect l="0" t="-800596" r="0" b="-800596"/>
              </a:stretch>
            </a:blipFill>
          </p:spPr>
        </p:sp>
        <p:sp>
          <p:nvSpPr>
            <p:cNvPr name="TextBox 129" id="129"/>
            <p:cNvSpPr txBox="true"/>
            <p:nvPr/>
          </p:nvSpPr>
          <p:spPr>
            <a:xfrm>
              <a:off x="0" y="9525"/>
              <a:ext cx="20756880" cy="465963"/>
            </a:xfrm>
            <a:prstGeom prst="rect">
              <a:avLst/>
            </a:prstGeom>
          </p:spPr>
          <p:txBody>
            <a:bodyPr anchor="ctr" rtlCol="false" tIns="0" lIns="0" bIns="0" rIns="0"/>
            <a:lstStyle/>
            <a:p>
              <a:pPr algn="l">
                <a:lnSpc>
                  <a:spcPts val="2177"/>
                </a:lnSpc>
              </a:pPr>
              <a:r>
                <a:rPr lang="en-US" sz="1814" b="true">
                  <a:solidFill>
                    <a:srgbClr val="193957"/>
                  </a:solidFill>
                  <a:latin typeface="Aptos Bold"/>
                  <a:ea typeface="Aptos Bold"/>
                  <a:cs typeface="Aptos Bold"/>
                  <a:sym typeface="Aptos Bold"/>
                </a:rPr>
                <a:t>GIỚI HẠN: Table A1 chỉ có số liệu tổng hợp; gói phụ lục không kèm điểm chấm riêng của 10 chuyên gia.</a:t>
              </a:r>
            </a:p>
          </p:txBody>
        </p:sp>
      </p:grpSp>
      <p:grpSp>
        <p:nvGrpSpPr>
          <p:cNvPr name="Group 130" id="130"/>
          <p:cNvGrpSpPr/>
          <p:nvPr/>
        </p:nvGrpSpPr>
        <p:grpSpPr>
          <a:xfrm rot="0">
            <a:off x="1097280" y="9820656"/>
            <a:ext cx="15636240" cy="205740"/>
            <a:chOff x="0" y="0"/>
            <a:chExt cx="20848320" cy="274320"/>
          </a:xfrm>
        </p:grpSpPr>
        <p:sp>
          <p:nvSpPr>
            <p:cNvPr name="Freeform 131" id="131"/>
            <p:cNvSpPr/>
            <p:nvPr/>
          </p:nvSpPr>
          <p:spPr>
            <a:xfrm flipH="false" flipV="false" rot="0">
              <a:off x="0" y="0"/>
              <a:ext cx="20848320" cy="274320"/>
            </a:xfrm>
            <a:custGeom>
              <a:avLst/>
              <a:gdLst/>
              <a:ahLst/>
              <a:cxnLst/>
              <a:rect r="r" b="b" t="t" l="l"/>
              <a:pathLst>
                <a:path h="274320" w="20848320">
                  <a:moveTo>
                    <a:pt x="0" y="0"/>
                  </a:moveTo>
                  <a:lnTo>
                    <a:pt x="20848320" y="0"/>
                  </a:lnTo>
                  <a:lnTo>
                    <a:pt x="20848320" y="274320"/>
                  </a:lnTo>
                  <a:lnTo>
                    <a:pt x="0" y="274320"/>
                  </a:lnTo>
                  <a:close/>
                </a:path>
              </a:pathLst>
            </a:custGeom>
            <a:blipFill>
              <a:blip r:embed="rId3">
                <a:alphaModFix amt="0"/>
              </a:blip>
              <a:stretch>
                <a:fillRect l="0" t="-1430862" r="0" b="-1430862"/>
              </a:stretch>
            </a:blipFill>
          </p:spPr>
        </p:sp>
        <p:sp>
          <p:nvSpPr>
            <p:cNvPr name="TextBox 132" id="132"/>
            <p:cNvSpPr txBox="true"/>
            <p:nvPr/>
          </p:nvSpPr>
          <p:spPr>
            <a:xfrm>
              <a:off x="0" y="-9525"/>
              <a:ext cx="20848320" cy="283845"/>
            </a:xfrm>
            <a:prstGeom prst="rect">
              <a:avLst/>
            </a:prstGeom>
          </p:spPr>
          <p:txBody>
            <a:bodyPr anchor="ctr" rtlCol="false" tIns="0" lIns="0" bIns="0" rIns="0"/>
            <a:lstStyle/>
            <a:p>
              <a:pPr algn="l">
                <a:lnSpc>
                  <a:spcPts val="1620"/>
                </a:lnSpc>
              </a:pPr>
              <a:r>
                <a:rPr lang="en-US" sz="1350">
                  <a:solidFill>
                    <a:srgbClr val="8699AC"/>
                  </a:solidFill>
                  <a:latin typeface="Aptos"/>
                  <a:ea typeface="Aptos"/>
                  <a:cs typeface="Aptos"/>
                  <a:sym typeface="Aptos"/>
                </a:rPr>
                <a:t>Liu và cộng sự (2025)  |  DOI: 10.1093/cybsec/tyaf020  |  Appendix A · Table A1</a:t>
              </a:r>
            </a:p>
          </p:txBody>
        </p:sp>
      </p:grpSp>
      <p:grpSp>
        <p:nvGrpSpPr>
          <p:cNvPr name="Group 133" id="133"/>
          <p:cNvGrpSpPr/>
          <p:nvPr/>
        </p:nvGrpSpPr>
        <p:grpSpPr>
          <a:xfrm rot="0">
            <a:off x="16459200" y="9779508"/>
            <a:ext cx="781812" cy="246888"/>
            <a:chOff x="0" y="0"/>
            <a:chExt cx="1042416" cy="329184"/>
          </a:xfrm>
        </p:grpSpPr>
        <p:sp>
          <p:nvSpPr>
            <p:cNvPr name="Freeform 134" id="134"/>
            <p:cNvSpPr/>
            <p:nvPr/>
          </p:nvSpPr>
          <p:spPr>
            <a:xfrm flipH="false" flipV="false" rot="0">
              <a:off x="0" y="0"/>
              <a:ext cx="1042416" cy="329184"/>
            </a:xfrm>
            <a:custGeom>
              <a:avLst/>
              <a:gdLst/>
              <a:ahLst/>
              <a:cxnLst/>
              <a:rect r="r" b="b" t="t" l="l"/>
              <a:pathLst>
                <a:path h="329184" w="1042416">
                  <a:moveTo>
                    <a:pt x="0" y="0"/>
                  </a:moveTo>
                  <a:lnTo>
                    <a:pt x="1042416" y="0"/>
                  </a:lnTo>
                  <a:lnTo>
                    <a:pt x="1042416" y="329184"/>
                  </a:lnTo>
                  <a:lnTo>
                    <a:pt x="0" y="329184"/>
                  </a:lnTo>
                  <a:close/>
                </a:path>
              </a:pathLst>
            </a:custGeom>
            <a:blipFill>
              <a:blip r:embed="rId3">
                <a:alphaModFix amt="0"/>
              </a:blip>
              <a:stretch>
                <a:fillRect l="0" t="-11702" r="0" b="-11702"/>
              </a:stretch>
            </a:blipFill>
          </p:spPr>
        </p:sp>
        <p:sp>
          <p:nvSpPr>
            <p:cNvPr name="TextBox 135" id="135"/>
            <p:cNvSpPr txBox="true"/>
            <p:nvPr/>
          </p:nvSpPr>
          <p:spPr>
            <a:xfrm>
              <a:off x="0" y="-9525"/>
              <a:ext cx="1042416" cy="338709"/>
            </a:xfrm>
            <a:prstGeom prst="rect">
              <a:avLst/>
            </a:prstGeom>
          </p:spPr>
          <p:txBody>
            <a:bodyPr anchor="ctr" rtlCol="false" tIns="0" lIns="0" bIns="0" rIns="0"/>
            <a:lstStyle/>
            <a:p>
              <a:pPr algn="r">
                <a:lnSpc>
                  <a:spcPts val="1620"/>
                </a:lnSpc>
              </a:pPr>
              <a:r>
                <a:rPr lang="en-US" sz="1350">
                  <a:solidFill>
                    <a:srgbClr val="8C9EB0"/>
                  </a:solidFill>
                  <a:latin typeface="Aptos"/>
                  <a:ea typeface="Aptos"/>
                  <a:cs typeface="Aptos"/>
                  <a:sym typeface="Aptos"/>
                </a:rPr>
                <a:t>12 / 14</a:t>
              </a:r>
            </a:p>
          </p:txBody>
        </p:sp>
      </p:gr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F5F8FB"/>
        </a:solidFill>
      </p:bgPr>
    </p:bg>
    <p:spTree>
      <p:nvGrpSpPr>
        <p:cNvPr id="1" name=""/>
        <p:cNvGrpSpPr/>
        <p:nvPr/>
      </p:nvGrpSpPr>
      <p:grpSpPr>
        <a:xfrm>
          <a:off x="0" y="0"/>
          <a:ext cx="0" cy="0"/>
          <a:chOff x="0" y="0"/>
          <a:chExt cx="0" cy="0"/>
        </a:xfrm>
      </p:grpSpPr>
      <p:grpSp>
        <p:nvGrpSpPr>
          <p:cNvPr name="Group 2" id="2"/>
          <p:cNvGrpSpPr/>
          <p:nvPr/>
        </p:nvGrpSpPr>
        <p:grpSpPr>
          <a:xfrm rot="0">
            <a:off x="-9525" y="-9525"/>
            <a:ext cx="169926" cy="10306050"/>
            <a:chOff x="0" y="0"/>
            <a:chExt cx="226568" cy="13741400"/>
          </a:xfrm>
        </p:grpSpPr>
        <p:sp>
          <p:nvSpPr>
            <p:cNvPr name="Freeform 3" id="3"/>
            <p:cNvSpPr/>
            <p:nvPr/>
          </p:nvSpPr>
          <p:spPr>
            <a:xfrm flipH="false" flipV="false" rot="0">
              <a:off x="0" y="0"/>
              <a:ext cx="226568" cy="13741400"/>
            </a:xfrm>
            <a:custGeom>
              <a:avLst/>
              <a:gdLst/>
              <a:ahLst/>
              <a:cxnLst/>
              <a:rect r="r" b="b" t="t" l="l"/>
              <a:pathLst>
                <a:path h="13741400" w="226568">
                  <a:moveTo>
                    <a:pt x="0" y="0"/>
                  </a:moveTo>
                  <a:lnTo>
                    <a:pt x="226568" y="0"/>
                  </a:lnTo>
                  <a:lnTo>
                    <a:pt x="226568" y="13741400"/>
                  </a:lnTo>
                  <a:lnTo>
                    <a:pt x="0" y="13741400"/>
                  </a:lnTo>
                  <a:close/>
                </a:path>
              </a:pathLst>
            </a:custGeom>
            <a:solidFill>
              <a:srgbClr val="0D8489"/>
            </a:solidFill>
            <a:ln w="19050" cap="sq">
              <a:solidFill>
                <a:srgbClr val="0D8489"/>
              </a:solidFill>
              <a:prstDash val="solid"/>
              <a:miter/>
            </a:ln>
          </p:spPr>
        </p:sp>
      </p:grpSp>
      <p:grpSp>
        <p:nvGrpSpPr>
          <p:cNvPr name="Group 4" id="4"/>
          <p:cNvGrpSpPr/>
          <p:nvPr/>
        </p:nvGrpSpPr>
        <p:grpSpPr>
          <a:xfrm rot="0">
            <a:off x="1001268" y="1028700"/>
            <a:ext cx="16322040" cy="850392"/>
            <a:chOff x="0" y="0"/>
            <a:chExt cx="21762720" cy="1133856"/>
          </a:xfrm>
        </p:grpSpPr>
        <p:sp>
          <p:nvSpPr>
            <p:cNvPr name="Freeform 5" id="5"/>
            <p:cNvSpPr/>
            <p:nvPr/>
          </p:nvSpPr>
          <p:spPr>
            <a:xfrm flipH="false" flipV="false" rot="0">
              <a:off x="0" y="0"/>
              <a:ext cx="21762720" cy="1133856"/>
            </a:xfrm>
            <a:custGeom>
              <a:avLst/>
              <a:gdLst/>
              <a:ahLst/>
              <a:cxnLst/>
              <a:rect r="r" b="b" t="t" l="l"/>
              <a:pathLst>
                <a:path h="1133856" w="21762720">
                  <a:moveTo>
                    <a:pt x="0" y="0"/>
                  </a:moveTo>
                  <a:lnTo>
                    <a:pt x="21762720" y="0"/>
                  </a:lnTo>
                  <a:lnTo>
                    <a:pt x="21762720" y="1133856"/>
                  </a:lnTo>
                  <a:lnTo>
                    <a:pt x="0" y="1133856"/>
                  </a:lnTo>
                  <a:close/>
                </a:path>
              </a:pathLst>
            </a:custGeom>
            <a:blipFill>
              <a:blip r:embed="rId3">
                <a:alphaModFix amt="0"/>
              </a:blip>
              <a:stretch>
                <a:fillRect l="0" t="-323987" r="0" b="-323987"/>
              </a:stretch>
            </a:blipFill>
          </p:spPr>
        </p:sp>
        <p:sp>
          <p:nvSpPr>
            <p:cNvPr name="TextBox 6" id="6"/>
            <p:cNvSpPr txBox="true"/>
            <p:nvPr/>
          </p:nvSpPr>
          <p:spPr>
            <a:xfrm>
              <a:off x="0" y="-19050"/>
              <a:ext cx="21762720" cy="1152906"/>
            </a:xfrm>
            <a:prstGeom prst="rect">
              <a:avLst/>
            </a:prstGeom>
          </p:spPr>
          <p:txBody>
            <a:bodyPr anchor="ctr" rtlCol="false" tIns="0" lIns="0" bIns="0" rIns="0"/>
            <a:lstStyle/>
            <a:p>
              <a:pPr algn="l">
                <a:lnSpc>
                  <a:spcPts val="5220"/>
                </a:lnSpc>
              </a:pPr>
              <a:r>
                <a:rPr lang="en-US" sz="4350" b="true">
                  <a:solidFill>
                    <a:srgbClr val="143351"/>
                  </a:solidFill>
                  <a:latin typeface="Arial Bold"/>
                  <a:ea typeface="Arial Bold"/>
                  <a:cs typeface="Arial Bold"/>
                  <a:sym typeface="Arial Bold"/>
                </a:rPr>
                <a:t>Minh họa cách tính Delphi từ 10 điểm giả định</a:t>
              </a:r>
            </a:p>
          </p:txBody>
        </p:sp>
      </p:grpSp>
      <p:grpSp>
        <p:nvGrpSpPr>
          <p:cNvPr name="Group 7" id="7"/>
          <p:cNvGrpSpPr/>
          <p:nvPr/>
        </p:nvGrpSpPr>
        <p:grpSpPr>
          <a:xfrm rot="0">
            <a:off x="1042416" y="1961388"/>
            <a:ext cx="16184880" cy="493776"/>
            <a:chOff x="0" y="0"/>
            <a:chExt cx="21579840" cy="658368"/>
          </a:xfrm>
        </p:grpSpPr>
        <p:sp>
          <p:nvSpPr>
            <p:cNvPr name="Freeform 8" id="8"/>
            <p:cNvSpPr/>
            <p:nvPr/>
          </p:nvSpPr>
          <p:spPr>
            <a:xfrm flipH="false" flipV="false" rot="0">
              <a:off x="0" y="0"/>
              <a:ext cx="21579839" cy="658368"/>
            </a:xfrm>
            <a:custGeom>
              <a:avLst/>
              <a:gdLst/>
              <a:ahLst/>
              <a:cxnLst/>
              <a:rect r="r" b="b" t="t" l="l"/>
              <a:pathLst>
                <a:path h="658368" w="21579839">
                  <a:moveTo>
                    <a:pt x="0" y="0"/>
                  </a:moveTo>
                  <a:lnTo>
                    <a:pt x="21579839" y="0"/>
                  </a:lnTo>
                  <a:lnTo>
                    <a:pt x="21579839" y="658368"/>
                  </a:lnTo>
                  <a:lnTo>
                    <a:pt x="0" y="658368"/>
                  </a:lnTo>
                  <a:close/>
                </a:path>
              </a:pathLst>
            </a:custGeom>
            <a:blipFill>
              <a:blip r:embed="rId3">
                <a:alphaModFix amt="0"/>
              </a:blip>
              <a:stretch>
                <a:fillRect l="0" t="-588676" r="0" b="-588676"/>
              </a:stretch>
            </a:blipFill>
          </p:spPr>
        </p:sp>
        <p:sp>
          <p:nvSpPr>
            <p:cNvPr name="TextBox 9" id="9"/>
            <p:cNvSpPr txBox="true"/>
            <p:nvPr/>
          </p:nvSpPr>
          <p:spPr>
            <a:xfrm>
              <a:off x="0" y="-19050"/>
              <a:ext cx="21579840" cy="677418"/>
            </a:xfrm>
            <a:prstGeom prst="rect">
              <a:avLst/>
            </a:prstGeom>
          </p:spPr>
          <p:txBody>
            <a:bodyPr anchor="ctr" rtlCol="false" tIns="0" lIns="0" bIns="0" rIns="0"/>
            <a:lstStyle/>
            <a:p>
              <a:pPr algn="l">
                <a:lnSpc>
                  <a:spcPts val="2610"/>
                </a:lnSpc>
              </a:pPr>
              <a:r>
                <a:rPr lang="en-US" sz="2175">
                  <a:solidFill>
                    <a:srgbClr val="526B85"/>
                  </a:solidFill>
                  <a:latin typeface="Arial"/>
                  <a:ea typeface="Arial"/>
                  <a:cs typeface="Arial"/>
                  <a:sym typeface="Arial"/>
                </a:rPr>
                <a:t>DỮ LIỆU MÔ PHỎNG ĐỂ HỌC PHƯƠNG PHÁP — KHÔNG PHẢI PHIẾU CHẤM GỐC</a:t>
              </a:r>
            </a:p>
          </p:txBody>
        </p:sp>
      </p:grpSp>
      <p:sp>
        <p:nvSpPr>
          <p:cNvPr name="AutoShape 10" id="10"/>
          <p:cNvSpPr/>
          <p:nvPr/>
        </p:nvSpPr>
        <p:spPr>
          <a:xfrm rot="4019">
            <a:off x="991733" y="9665018"/>
            <a:ext cx="16341100" cy="0"/>
          </a:xfrm>
          <a:prstGeom prst="line">
            <a:avLst/>
          </a:prstGeom>
          <a:ln cap="rnd" w="9525">
            <a:solidFill>
              <a:srgbClr val="D8E4EF"/>
            </a:solidFill>
            <a:prstDash val="solid"/>
            <a:headEnd type="none" len="sm" w="sm"/>
            <a:tailEnd type="none" len="sm" w="sm"/>
          </a:ln>
        </p:spPr>
      </p:sp>
      <p:grpSp>
        <p:nvGrpSpPr>
          <p:cNvPr name="Group 11" id="11"/>
          <p:cNvGrpSpPr/>
          <p:nvPr/>
        </p:nvGrpSpPr>
        <p:grpSpPr>
          <a:xfrm rot="0">
            <a:off x="1028700" y="9779508"/>
            <a:ext cx="13716000" cy="246888"/>
            <a:chOff x="0" y="0"/>
            <a:chExt cx="18288000" cy="329184"/>
          </a:xfrm>
        </p:grpSpPr>
        <p:sp>
          <p:nvSpPr>
            <p:cNvPr name="Freeform 12" id="12"/>
            <p:cNvSpPr/>
            <p:nvPr/>
          </p:nvSpPr>
          <p:spPr>
            <a:xfrm flipH="false" flipV="false" rot="0">
              <a:off x="0" y="0"/>
              <a:ext cx="18288000" cy="329184"/>
            </a:xfrm>
            <a:custGeom>
              <a:avLst/>
              <a:gdLst/>
              <a:ahLst/>
              <a:cxnLst/>
              <a:rect r="r" b="b" t="t" l="l"/>
              <a:pathLst>
                <a:path h="329184" w="18288000">
                  <a:moveTo>
                    <a:pt x="0" y="0"/>
                  </a:moveTo>
                  <a:lnTo>
                    <a:pt x="18288000" y="0"/>
                  </a:lnTo>
                  <a:lnTo>
                    <a:pt x="18288000" y="329184"/>
                  </a:lnTo>
                  <a:lnTo>
                    <a:pt x="0" y="329184"/>
                  </a:lnTo>
                  <a:close/>
                </a:path>
              </a:pathLst>
            </a:custGeom>
            <a:blipFill>
              <a:blip r:embed="rId3">
                <a:alphaModFix amt="0"/>
              </a:blip>
              <a:stretch>
                <a:fillRect l="0" t="-1032502" r="0" b="-1032502"/>
              </a:stretch>
            </a:blipFill>
          </p:spPr>
        </p:sp>
        <p:sp>
          <p:nvSpPr>
            <p:cNvPr name="TextBox 13" id="13"/>
            <p:cNvSpPr txBox="true"/>
            <p:nvPr/>
          </p:nvSpPr>
          <p:spPr>
            <a:xfrm>
              <a:off x="0" y="-9525"/>
              <a:ext cx="18288000" cy="338709"/>
            </a:xfrm>
            <a:prstGeom prst="rect">
              <a:avLst/>
            </a:prstGeom>
          </p:spPr>
          <p:txBody>
            <a:bodyPr anchor="ctr" rtlCol="false" tIns="0" lIns="0" bIns="0" rIns="0"/>
            <a:lstStyle/>
            <a:p>
              <a:pPr algn="l">
                <a:lnSpc>
                  <a:spcPts val="1475"/>
                </a:lnSpc>
              </a:pPr>
              <a:r>
                <a:rPr lang="en-US" sz="1230">
                  <a:solidFill>
                    <a:srgbClr val="526B85"/>
                  </a:solidFill>
                  <a:latin typeface="Arial"/>
                  <a:ea typeface="Arial"/>
                  <a:cs typeface="Arial"/>
                  <a:sym typeface="Arial"/>
                </a:rPr>
                <a:t>Liu và cộng sự (2025)  |  doi.org/10.1093/cybsec/tyaf020</a:t>
              </a:r>
            </a:p>
          </p:txBody>
        </p:sp>
      </p:grpSp>
      <p:grpSp>
        <p:nvGrpSpPr>
          <p:cNvPr name="Group 14" id="14"/>
          <p:cNvGrpSpPr/>
          <p:nvPr/>
        </p:nvGrpSpPr>
        <p:grpSpPr>
          <a:xfrm rot="0">
            <a:off x="16472916" y="9779508"/>
            <a:ext cx="685800" cy="274320"/>
            <a:chOff x="0" y="0"/>
            <a:chExt cx="914400" cy="365760"/>
          </a:xfrm>
        </p:grpSpPr>
        <p:sp>
          <p:nvSpPr>
            <p:cNvPr name="Freeform 15" id="15"/>
            <p:cNvSpPr/>
            <p:nvPr/>
          </p:nvSpPr>
          <p:spPr>
            <a:xfrm flipH="false" flipV="false" rot="0">
              <a:off x="0" y="0"/>
              <a:ext cx="914400" cy="365760"/>
            </a:xfrm>
            <a:custGeom>
              <a:avLst/>
              <a:gdLst/>
              <a:ahLst/>
              <a:cxnLst/>
              <a:rect r="r" b="b" t="t" l="l"/>
              <a:pathLst>
                <a:path h="365760" w="914400">
                  <a:moveTo>
                    <a:pt x="0" y="0"/>
                  </a:moveTo>
                  <a:lnTo>
                    <a:pt x="914400" y="0"/>
                  </a:lnTo>
                  <a:lnTo>
                    <a:pt x="914400" y="365760"/>
                  </a:lnTo>
                  <a:lnTo>
                    <a:pt x="0" y="365760"/>
                  </a:lnTo>
                  <a:close/>
                </a:path>
              </a:pathLst>
            </a:custGeom>
            <a:blipFill>
              <a:blip r:embed="rId3">
                <a:alphaModFix amt="0"/>
              </a:blip>
              <a:stretch>
                <a:fillRect l="-1321" t="0" r="-1321" b="0"/>
              </a:stretch>
            </a:blipFill>
          </p:spPr>
        </p:sp>
        <p:sp>
          <p:nvSpPr>
            <p:cNvPr name="TextBox 16" id="16"/>
            <p:cNvSpPr txBox="true"/>
            <p:nvPr/>
          </p:nvSpPr>
          <p:spPr>
            <a:xfrm>
              <a:off x="0" y="-19050"/>
              <a:ext cx="914400" cy="384810"/>
            </a:xfrm>
            <a:prstGeom prst="rect">
              <a:avLst/>
            </a:prstGeom>
          </p:spPr>
          <p:txBody>
            <a:bodyPr anchor="ctr" rtlCol="false" tIns="0" lIns="0" bIns="0" rIns="0"/>
            <a:lstStyle/>
            <a:p>
              <a:pPr algn="r">
                <a:lnSpc>
                  <a:spcPts val="1620"/>
                </a:lnSpc>
              </a:pPr>
              <a:r>
                <a:rPr lang="en-US" sz="1350">
                  <a:solidFill>
                    <a:srgbClr val="526B85"/>
                  </a:solidFill>
                  <a:latin typeface="Arial"/>
                  <a:ea typeface="Arial"/>
                  <a:cs typeface="Arial"/>
                  <a:sym typeface="Arial"/>
                </a:rPr>
                <a:t>13 / 14</a:t>
              </a:r>
            </a:p>
          </p:txBody>
        </p:sp>
      </p:grpSp>
      <p:grpSp>
        <p:nvGrpSpPr>
          <p:cNvPr name="Group 17" id="17"/>
          <p:cNvGrpSpPr/>
          <p:nvPr/>
        </p:nvGrpSpPr>
        <p:grpSpPr>
          <a:xfrm rot="0">
            <a:off x="1060323" y="2747391"/>
            <a:ext cx="16149066" cy="1445514"/>
            <a:chOff x="0" y="0"/>
            <a:chExt cx="21532088" cy="1927352"/>
          </a:xfrm>
        </p:grpSpPr>
        <p:sp>
          <p:nvSpPr>
            <p:cNvPr name="Freeform 18" id="18"/>
            <p:cNvSpPr/>
            <p:nvPr/>
          </p:nvSpPr>
          <p:spPr>
            <a:xfrm flipH="false" flipV="false" rot="0">
              <a:off x="0" y="0"/>
              <a:ext cx="21532089" cy="1927352"/>
            </a:xfrm>
            <a:custGeom>
              <a:avLst/>
              <a:gdLst/>
              <a:ahLst/>
              <a:cxnLst/>
              <a:rect r="r" b="b" t="t" l="l"/>
              <a:pathLst>
                <a:path h="1927352" w="21532089">
                  <a:moveTo>
                    <a:pt x="0" y="222377"/>
                  </a:moveTo>
                  <a:cubicBezTo>
                    <a:pt x="0" y="99568"/>
                    <a:pt x="99568" y="0"/>
                    <a:pt x="222377" y="0"/>
                  </a:cubicBezTo>
                  <a:lnTo>
                    <a:pt x="21309712" y="0"/>
                  </a:lnTo>
                  <a:cubicBezTo>
                    <a:pt x="21432521" y="0"/>
                    <a:pt x="21532089" y="99568"/>
                    <a:pt x="21532089" y="222377"/>
                  </a:cubicBezTo>
                  <a:lnTo>
                    <a:pt x="21532089" y="1704975"/>
                  </a:lnTo>
                  <a:cubicBezTo>
                    <a:pt x="21532089" y="1827784"/>
                    <a:pt x="21432521" y="1927352"/>
                    <a:pt x="21309712" y="1927352"/>
                  </a:cubicBezTo>
                  <a:lnTo>
                    <a:pt x="222377" y="1927352"/>
                  </a:lnTo>
                  <a:cubicBezTo>
                    <a:pt x="99568" y="1927352"/>
                    <a:pt x="0" y="1827784"/>
                    <a:pt x="0" y="1704975"/>
                  </a:cubicBezTo>
                  <a:close/>
                </a:path>
              </a:pathLst>
            </a:custGeom>
            <a:solidFill>
              <a:srgbClr val="143351"/>
            </a:solidFill>
            <a:ln w="19050" cap="sq">
              <a:solidFill>
                <a:srgbClr val="D8E4EF"/>
              </a:solidFill>
              <a:prstDash val="solid"/>
              <a:miter/>
            </a:ln>
          </p:spPr>
        </p:sp>
      </p:grpSp>
      <p:grpSp>
        <p:nvGrpSpPr>
          <p:cNvPr name="Group 19" id="19"/>
          <p:cNvGrpSpPr/>
          <p:nvPr/>
        </p:nvGrpSpPr>
        <p:grpSpPr>
          <a:xfrm rot="0">
            <a:off x="1495044" y="3058668"/>
            <a:ext cx="6035040" cy="384048"/>
            <a:chOff x="0" y="0"/>
            <a:chExt cx="8046720" cy="512064"/>
          </a:xfrm>
        </p:grpSpPr>
        <p:sp>
          <p:nvSpPr>
            <p:cNvPr name="Freeform 20" id="20"/>
            <p:cNvSpPr/>
            <p:nvPr/>
          </p:nvSpPr>
          <p:spPr>
            <a:xfrm flipH="false" flipV="false" rot="0">
              <a:off x="0" y="0"/>
              <a:ext cx="8046720" cy="512064"/>
            </a:xfrm>
            <a:custGeom>
              <a:avLst/>
              <a:gdLst/>
              <a:ahLst/>
              <a:cxnLst/>
              <a:rect r="r" b="b" t="t" l="l"/>
              <a:pathLst>
                <a:path h="512064" w="8046720">
                  <a:moveTo>
                    <a:pt x="0" y="0"/>
                  </a:moveTo>
                  <a:lnTo>
                    <a:pt x="8046720" y="0"/>
                  </a:lnTo>
                  <a:lnTo>
                    <a:pt x="8046720" y="512064"/>
                  </a:lnTo>
                  <a:lnTo>
                    <a:pt x="0" y="512064"/>
                  </a:lnTo>
                  <a:close/>
                </a:path>
              </a:pathLst>
            </a:custGeom>
            <a:blipFill>
              <a:blip r:embed="rId3">
                <a:alphaModFix amt="0"/>
              </a:blip>
              <a:stretch>
                <a:fillRect l="0" t="-256193" r="0" b="-256193"/>
              </a:stretch>
            </a:blipFill>
          </p:spPr>
        </p:sp>
        <p:sp>
          <p:nvSpPr>
            <p:cNvPr name="TextBox 21" id="21"/>
            <p:cNvSpPr txBox="true"/>
            <p:nvPr/>
          </p:nvSpPr>
          <p:spPr>
            <a:xfrm>
              <a:off x="0" y="-19050"/>
              <a:ext cx="8046720" cy="531114"/>
            </a:xfrm>
            <a:prstGeom prst="rect">
              <a:avLst/>
            </a:prstGeom>
          </p:spPr>
          <p:txBody>
            <a:bodyPr anchor="ctr" rtlCol="false" tIns="0" lIns="0" bIns="0" rIns="0"/>
            <a:lstStyle/>
            <a:p>
              <a:pPr algn="l">
                <a:lnSpc>
                  <a:spcPts val="2700"/>
                </a:lnSpc>
              </a:pPr>
              <a:r>
                <a:rPr lang="en-US" sz="2250" b="true">
                  <a:solidFill>
                    <a:srgbClr val="B7E3E2"/>
                  </a:solidFill>
                  <a:latin typeface="Arial Bold"/>
                  <a:ea typeface="Arial Bold"/>
                  <a:cs typeface="Arial Bold"/>
                  <a:sym typeface="Arial Bold"/>
                </a:rPr>
                <a:t>10 điểm minh họa (Likert 1–5)</a:t>
              </a:r>
            </a:p>
          </p:txBody>
        </p:sp>
      </p:grpSp>
      <p:grpSp>
        <p:nvGrpSpPr>
          <p:cNvPr name="Group 22" id="22"/>
          <p:cNvGrpSpPr/>
          <p:nvPr/>
        </p:nvGrpSpPr>
        <p:grpSpPr>
          <a:xfrm rot="0">
            <a:off x="7104888" y="3058668"/>
            <a:ext cx="9546336" cy="397764"/>
            <a:chOff x="0" y="0"/>
            <a:chExt cx="12728448" cy="530352"/>
          </a:xfrm>
        </p:grpSpPr>
        <p:sp>
          <p:nvSpPr>
            <p:cNvPr name="Freeform 23" id="23"/>
            <p:cNvSpPr/>
            <p:nvPr/>
          </p:nvSpPr>
          <p:spPr>
            <a:xfrm flipH="false" flipV="false" rot="0">
              <a:off x="0" y="0"/>
              <a:ext cx="12728448" cy="530352"/>
            </a:xfrm>
            <a:custGeom>
              <a:avLst/>
              <a:gdLst/>
              <a:ahLst/>
              <a:cxnLst/>
              <a:rect r="r" b="b" t="t" l="l"/>
              <a:pathLst>
                <a:path h="530352" w="12728448">
                  <a:moveTo>
                    <a:pt x="0" y="0"/>
                  </a:moveTo>
                  <a:lnTo>
                    <a:pt x="12728448" y="0"/>
                  </a:lnTo>
                  <a:lnTo>
                    <a:pt x="12728448" y="530352"/>
                  </a:lnTo>
                  <a:lnTo>
                    <a:pt x="0" y="530352"/>
                  </a:lnTo>
                  <a:close/>
                </a:path>
              </a:pathLst>
            </a:custGeom>
            <a:blipFill>
              <a:blip r:embed="rId3">
                <a:alphaModFix amt="0"/>
              </a:blip>
              <a:stretch>
                <a:fillRect l="0" t="-417640" r="0" b="-417640"/>
              </a:stretch>
            </a:blipFill>
          </p:spPr>
        </p:sp>
        <p:sp>
          <p:nvSpPr>
            <p:cNvPr name="TextBox 24" id="24"/>
            <p:cNvSpPr txBox="true"/>
            <p:nvPr/>
          </p:nvSpPr>
          <p:spPr>
            <a:xfrm>
              <a:off x="0" y="-19050"/>
              <a:ext cx="12728448" cy="549402"/>
            </a:xfrm>
            <a:prstGeom prst="rect">
              <a:avLst/>
            </a:prstGeom>
          </p:spPr>
          <p:txBody>
            <a:bodyPr anchor="ctr" rtlCol="false" tIns="0" lIns="0" bIns="0" rIns="0"/>
            <a:lstStyle/>
            <a:p>
              <a:pPr algn="l">
                <a:lnSpc>
                  <a:spcPts val="3240"/>
                </a:lnSpc>
              </a:pPr>
              <a:r>
                <a:rPr lang="en-US" sz="2700" b="true">
                  <a:solidFill>
                    <a:srgbClr val="FFFFFF"/>
                  </a:solidFill>
                  <a:latin typeface="Arial Bold"/>
                  <a:ea typeface="Arial Bold"/>
                  <a:cs typeface="Arial Bold"/>
                  <a:sym typeface="Arial Bold"/>
                </a:rPr>
                <a:t>3  ·  3  ·  3  ·  3  ·  4  ·  4  ·  4  ·  4  ·  5  ·  5</a:t>
              </a:r>
            </a:p>
          </p:txBody>
        </p:sp>
      </p:grpSp>
      <p:grpSp>
        <p:nvGrpSpPr>
          <p:cNvPr name="Group 25" id="25"/>
          <p:cNvGrpSpPr/>
          <p:nvPr/>
        </p:nvGrpSpPr>
        <p:grpSpPr>
          <a:xfrm rot="0">
            <a:off x="1060323" y="4640199"/>
            <a:ext cx="7864602" cy="1431798"/>
            <a:chOff x="0" y="0"/>
            <a:chExt cx="10486136" cy="1909064"/>
          </a:xfrm>
        </p:grpSpPr>
        <p:sp>
          <p:nvSpPr>
            <p:cNvPr name="Freeform 26" id="26"/>
            <p:cNvSpPr/>
            <p:nvPr/>
          </p:nvSpPr>
          <p:spPr>
            <a:xfrm flipH="false" flipV="false" rot="0">
              <a:off x="0" y="0"/>
              <a:ext cx="10486136" cy="1909064"/>
            </a:xfrm>
            <a:custGeom>
              <a:avLst/>
              <a:gdLst/>
              <a:ahLst/>
              <a:cxnLst/>
              <a:rect r="r" b="b" t="t" l="l"/>
              <a:pathLst>
                <a:path h="1909064" w="10486136">
                  <a:moveTo>
                    <a:pt x="0" y="222377"/>
                  </a:moveTo>
                  <a:cubicBezTo>
                    <a:pt x="0" y="99568"/>
                    <a:pt x="99568" y="0"/>
                    <a:pt x="222377" y="0"/>
                  </a:cubicBezTo>
                  <a:lnTo>
                    <a:pt x="10263759" y="0"/>
                  </a:lnTo>
                  <a:cubicBezTo>
                    <a:pt x="10386568" y="0"/>
                    <a:pt x="10486136" y="99568"/>
                    <a:pt x="10486136" y="222377"/>
                  </a:cubicBezTo>
                  <a:lnTo>
                    <a:pt x="10486136" y="1686687"/>
                  </a:lnTo>
                  <a:cubicBezTo>
                    <a:pt x="10486136" y="1809496"/>
                    <a:pt x="10386568" y="1909064"/>
                    <a:pt x="10263759" y="1909064"/>
                  </a:cubicBezTo>
                  <a:lnTo>
                    <a:pt x="222377" y="1909064"/>
                  </a:lnTo>
                  <a:cubicBezTo>
                    <a:pt x="99568" y="1909064"/>
                    <a:pt x="0" y="1809496"/>
                    <a:pt x="0" y="1686687"/>
                  </a:cubicBezTo>
                  <a:close/>
                </a:path>
              </a:pathLst>
            </a:custGeom>
            <a:solidFill>
              <a:srgbClr val="FFFFFF"/>
            </a:solidFill>
            <a:ln w="19050" cap="sq">
              <a:solidFill>
                <a:srgbClr val="D8E4EF"/>
              </a:solidFill>
              <a:prstDash val="solid"/>
              <a:miter/>
            </a:ln>
          </p:spPr>
        </p:sp>
      </p:grpSp>
      <p:grpSp>
        <p:nvGrpSpPr>
          <p:cNvPr name="Group 27" id="27"/>
          <p:cNvGrpSpPr/>
          <p:nvPr/>
        </p:nvGrpSpPr>
        <p:grpSpPr>
          <a:xfrm rot="0">
            <a:off x="1385316" y="4828032"/>
            <a:ext cx="2743200" cy="356616"/>
            <a:chOff x="0" y="0"/>
            <a:chExt cx="3657600" cy="475488"/>
          </a:xfrm>
        </p:grpSpPr>
        <p:sp>
          <p:nvSpPr>
            <p:cNvPr name="Freeform 28" id="28"/>
            <p:cNvSpPr/>
            <p:nvPr/>
          </p:nvSpPr>
          <p:spPr>
            <a:xfrm flipH="false" flipV="false" rot="0">
              <a:off x="0" y="0"/>
              <a:ext cx="3657600" cy="475488"/>
            </a:xfrm>
            <a:custGeom>
              <a:avLst/>
              <a:gdLst/>
              <a:ahLst/>
              <a:cxnLst/>
              <a:rect r="r" b="b" t="t" l="l"/>
              <a:pathLst>
                <a:path h="475488" w="3657600">
                  <a:moveTo>
                    <a:pt x="0" y="0"/>
                  </a:moveTo>
                  <a:lnTo>
                    <a:pt x="3657600" y="0"/>
                  </a:lnTo>
                  <a:lnTo>
                    <a:pt x="3657600" y="475488"/>
                  </a:lnTo>
                  <a:lnTo>
                    <a:pt x="0" y="475488"/>
                  </a:lnTo>
                  <a:close/>
                </a:path>
              </a:pathLst>
            </a:custGeom>
            <a:blipFill>
              <a:blip r:embed="rId3">
                <a:alphaModFix amt="0"/>
              </a:blip>
              <a:stretch>
                <a:fillRect l="0" t="-99884" r="0" b="-99884"/>
              </a:stretch>
            </a:blipFill>
          </p:spPr>
        </p:sp>
        <p:sp>
          <p:nvSpPr>
            <p:cNvPr name="TextBox 29" id="29"/>
            <p:cNvSpPr txBox="true"/>
            <p:nvPr/>
          </p:nvSpPr>
          <p:spPr>
            <a:xfrm>
              <a:off x="0" y="-19050"/>
              <a:ext cx="3657600" cy="494538"/>
            </a:xfrm>
            <a:prstGeom prst="rect">
              <a:avLst/>
            </a:prstGeom>
          </p:spPr>
          <p:txBody>
            <a:bodyPr anchor="ctr" rtlCol="false" tIns="0" lIns="0" bIns="0" rIns="0"/>
            <a:lstStyle/>
            <a:p>
              <a:pPr algn="l">
                <a:lnSpc>
                  <a:spcPts val="2160"/>
                </a:lnSpc>
              </a:pPr>
              <a:r>
                <a:rPr lang="en-US" sz="1800" b="true">
                  <a:solidFill>
                    <a:srgbClr val="0D8489"/>
                  </a:solidFill>
                  <a:latin typeface="Arial Bold"/>
                  <a:ea typeface="Arial Bold"/>
                  <a:cs typeface="Arial Bold"/>
                  <a:sym typeface="Arial Bold"/>
                </a:rPr>
                <a:t>MEAN</a:t>
              </a:r>
            </a:p>
          </p:txBody>
        </p:sp>
      </p:grpSp>
      <p:grpSp>
        <p:nvGrpSpPr>
          <p:cNvPr name="Group 30" id="30"/>
          <p:cNvGrpSpPr/>
          <p:nvPr/>
        </p:nvGrpSpPr>
        <p:grpSpPr>
          <a:xfrm rot="0">
            <a:off x="4293108" y="4773168"/>
            <a:ext cx="1508760" cy="576072"/>
            <a:chOff x="0" y="0"/>
            <a:chExt cx="2011680" cy="768096"/>
          </a:xfrm>
        </p:grpSpPr>
        <p:sp>
          <p:nvSpPr>
            <p:cNvPr name="Freeform 31" id="31"/>
            <p:cNvSpPr/>
            <p:nvPr/>
          </p:nvSpPr>
          <p:spPr>
            <a:xfrm flipH="false" flipV="false" rot="0">
              <a:off x="0" y="0"/>
              <a:ext cx="2011680" cy="768096"/>
            </a:xfrm>
            <a:custGeom>
              <a:avLst/>
              <a:gdLst/>
              <a:ahLst/>
              <a:cxnLst/>
              <a:rect r="r" b="b" t="t" l="l"/>
              <a:pathLst>
                <a:path h="768096" w="2011680">
                  <a:moveTo>
                    <a:pt x="0" y="0"/>
                  </a:moveTo>
                  <a:lnTo>
                    <a:pt x="2011680" y="0"/>
                  </a:lnTo>
                  <a:lnTo>
                    <a:pt x="2011680" y="768096"/>
                  </a:lnTo>
                  <a:lnTo>
                    <a:pt x="0" y="768096"/>
                  </a:lnTo>
                  <a:close/>
                </a:path>
              </a:pathLst>
            </a:custGeom>
            <a:blipFill>
              <a:blip r:embed="rId3">
                <a:alphaModFix amt="0"/>
              </a:blip>
              <a:stretch>
                <a:fillRect l="0" t="-1032" r="0" b="-1032"/>
              </a:stretch>
            </a:blipFill>
          </p:spPr>
        </p:sp>
        <p:sp>
          <p:nvSpPr>
            <p:cNvPr name="TextBox 32" id="32"/>
            <p:cNvSpPr txBox="true"/>
            <p:nvPr/>
          </p:nvSpPr>
          <p:spPr>
            <a:xfrm>
              <a:off x="0" y="-28575"/>
              <a:ext cx="2011680" cy="796671"/>
            </a:xfrm>
            <a:prstGeom prst="rect">
              <a:avLst/>
            </a:prstGeom>
          </p:spPr>
          <p:txBody>
            <a:bodyPr anchor="ctr" rtlCol="false" tIns="0" lIns="0" bIns="0" rIns="0"/>
            <a:lstStyle/>
            <a:p>
              <a:pPr algn="l">
                <a:lnSpc>
                  <a:spcPts val="4320"/>
                </a:lnSpc>
              </a:pPr>
              <a:r>
                <a:rPr lang="en-US" sz="3600" b="true">
                  <a:solidFill>
                    <a:srgbClr val="143351"/>
                  </a:solidFill>
                  <a:latin typeface="Arial Bold"/>
                  <a:ea typeface="Arial Bold"/>
                  <a:cs typeface="Arial Bold"/>
                  <a:sym typeface="Arial Bold"/>
                </a:rPr>
                <a:t>3,8</a:t>
              </a:r>
            </a:p>
          </p:txBody>
        </p:sp>
      </p:grpSp>
      <p:grpSp>
        <p:nvGrpSpPr>
          <p:cNvPr name="Group 33" id="33"/>
          <p:cNvGrpSpPr/>
          <p:nvPr/>
        </p:nvGrpSpPr>
        <p:grpSpPr>
          <a:xfrm rot="0">
            <a:off x="1385316" y="5527548"/>
            <a:ext cx="7200900" cy="315468"/>
            <a:chOff x="0" y="0"/>
            <a:chExt cx="9601200" cy="420624"/>
          </a:xfrm>
        </p:grpSpPr>
        <p:sp>
          <p:nvSpPr>
            <p:cNvPr name="Freeform 34" id="34"/>
            <p:cNvSpPr/>
            <p:nvPr/>
          </p:nvSpPr>
          <p:spPr>
            <a:xfrm flipH="false" flipV="false" rot="0">
              <a:off x="0" y="0"/>
              <a:ext cx="9601200" cy="420624"/>
            </a:xfrm>
            <a:custGeom>
              <a:avLst/>
              <a:gdLst/>
              <a:ahLst/>
              <a:cxnLst/>
              <a:rect r="r" b="b" t="t" l="l"/>
              <a:pathLst>
                <a:path h="420624" w="9601200">
                  <a:moveTo>
                    <a:pt x="0" y="0"/>
                  </a:moveTo>
                  <a:lnTo>
                    <a:pt x="9601200" y="0"/>
                  </a:lnTo>
                  <a:lnTo>
                    <a:pt x="9601200" y="420624"/>
                  </a:lnTo>
                  <a:lnTo>
                    <a:pt x="0" y="420624"/>
                  </a:lnTo>
                  <a:close/>
                </a:path>
              </a:pathLst>
            </a:custGeom>
            <a:blipFill>
              <a:blip r:embed="rId3">
                <a:alphaModFix amt="0"/>
              </a:blip>
              <a:stretch>
                <a:fillRect l="0" t="-394767" r="0" b="-394767"/>
              </a:stretch>
            </a:blipFill>
          </p:spPr>
        </p:sp>
        <p:sp>
          <p:nvSpPr>
            <p:cNvPr name="TextBox 35" id="35"/>
            <p:cNvSpPr txBox="true"/>
            <p:nvPr/>
          </p:nvSpPr>
          <p:spPr>
            <a:xfrm>
              <a:off x="0" y="-19050"/>
              <a:ext cx="9601200" cy="439674"/>
            </a:xfrm>
            <a:prstGeom prst="rect">
              <a:avLst/>
            </a:prstGeom>
          </p:spPr>
          <p:txBody>
            <a:bodyPr anchor="ctr" rtlCol="false" tIns="0" lIns="0" bIns="0" rIns="0"/>
            <a:lstStyle/>
            <a:p>
              <a:pPr algn="l">
                <a:lnSpc>
                  <a:spcPts val="2160"/>
                </a:lnSpc>
              </a:pPr>
              <a:r>
                <a:rPr lang="en-US" sz="1800">
                  <a:solidFill>
                    <a:srgbClr val="526B85"/>
                  </a:solidFill>
                  <a:latin typeface="Arial"/>
                  <a:ea typeface="Arial"/>
                  <a:cs typeface="Arial"/>
                  <a:sym typeface="Arial"/>
                </a:rPr>
                <a:t>38 điểm / 10</a:t>
              </a:r>
            </a:p>
          </p:txBody>
        </p:sp>
      </p:grpSp>
      <p:grpSp>
        <p:nvGrpSpPr>
          <p:cNvPr name="Group 36" id="36"/>
          <p:cNvGrpSpPr/>
          <p:nvPr/>
        </p:nvGrpSpPr>
        <p:grpSpPr>
          <a:xfrm rot="0">
            <a:off x="9372219" y="4640199"/>
            <a:ext cx="7864602" cy="1431798"/>
            <a:chOff x="0" y="0"/>
            <a:chExt cx="10486136" cy="1909064"/>
          </a:xfrm>
        </p:grpSpPr>
        <p:sp>
          <p:nvSpPr>
            <p:cNvPr name="Freeform 37" id="37"/>
            <p:cNvSpPr/>
            <p:nvPr/>
          </p:nvSpPr>
          <p:spPr>
            <a:xfrm flipH="false" flipV="false" rot="0">
              <a:off x="0" y="0"/>
              <a:ext cx="10486136" cy="1909064"/>
            </a:xfrm>
            <a:custGeom>
              <a:avLst/>
              <a:gdLst/>
              <a:ahLst/>
              <a:cxnLst/>
              <a:rect r="r" b="b" t="t" l="l"/>
              <a:pathLst>
                <a:path h="1909064" w="10486136">
                  <a:moveTo>
                    <a:pt x="0" y="222377"/>
                  </a:moveTo>
                  <a:cubicBezTo>
                    <a:pt x="0" y="99568"/>
                    <a:pt x="99568" y="0"/>
                    <a:pt x="222377" y="0"/>
                  </a:cubicBezTo>
                  <a:lnTo>
                    <a:pt x="10263759" y="0"/>
                  </a:lnTo>
                  <a:cubicBezTo>
                    <a:pt x="10386568" y="0"/>
                    <a:pt x="10486136" y="99568"/>
                    <a:pt x="10486136" y="222377"/>
                  </a:cubicBezTo>
                  <a:lnTo>
                    <a:pt x="10486136" y="1686687"/>
                  </a:lnTo>
                  <a:cubicBezTo>
                    <a:pt x="10486136" y="1809496"/>
                    <a:pt x="10386568" y="1909064"/>
                    <a:pt x="10263759" y="1909064"/>
                  </a:cubicBezTo>
                  <a:lnTo>
                    <a:pt x="222377" y="1909064"/>
                  </a:lnTo>
                  <a:cubicBezTo>
                    <a:pt x="99568" y="1909064"/>
                    <a:pt x="0" y="1809496"/>
                    <a:pt x="0" y="1686687"/>
                  </a:cubicBezTo>
                  <a:close/>
                </a:path>
              </a:pathLst>
            </a:custGeom>
            <a:solidFill>
              <a:srgbClr val="FFFFFF"/>
            </a:solidFill>
            <a:ln w="19050" cap="sq">
              <a:solidFill>
                <a:srgbClr val="D8E4EF"/>
              </a:solidFill>
              <a:prstDash val="solid"/>
              <a:miter/>
            </a:ln>
          </p:spPr>
        </p:sp>
      </p:grpSp>
      <p:grpSp>
        <p:nvGrpSpPr>
          <p:cNvPr name="Group 38" id="38"/>
          <p:cNvGrpSpPr/>
          <p:nvPr/>
        </p:nvGrpSpPr>
        <p:grpSpPr>
          <a:xfrm rot="0">
            <a:off x="9697212" y="4828032"/>
            <a:ext cx="2743200" cy="356616"/>
            <a:chOff x="0" y="0"/>
            <a:chExt cx="3657600" cy="475488"/>
          </a:xfrm>
        </p:grpSpPr>
        <p:sp>
          <p:nvSpPr>
            <p:cNvPr name="Freeform 39" id="39"/>
            <p:cNvSpPr/>
            <p:nvPr/>
          </p:nvSpPr>
          <p:spPr>
            <a:xfrm flipH="false" flipV="false" rot="0">
              <a:off x="0" y="0"/>
              <a:ext cx="3657600" cy="475488"/>
            </a:xfrm>
            <a:custGeom>
              <a:avLst/>
              <a:gdLst/>
              <a:ahLst/>
              <a:cxnLst/>
              <a:rect r="r" b="b" t="t" l="l"/>
              <a:pathLst>
                <a:path h="475488" w="3657600">
                  <a:moveTo>
                    <a:pt x="0" y="0"/>
                  </a:moveTo>
                  <a:lnTo>
                    <a:pt x="3657600" y="0"/>
                  </a:lnTo>
                  <a:lnTo>
                    <a:pt x="3657600" y="475488"/>
                  </a:lnTo>
                  <a:lnTo>
                    <a:pt x="0" y="475488"/>
                  </a:lnTo>
                  <a:close/>
                </a:path>
              </a:pathLst>
            </a:custGeom>
            <a:blipFill>
              <a:blip r:embed="rId3">
                <a:alphaModFix amt="0"/>
              </a:blip>
              <a:stretch>
                <a:fillRect l="0" t="-99884" r="0" b="-99884"/>
              </a:stretch>
            </a:blipFill>
          </p:spPr>
        </p:sp>
        <p:sp>
          <p:nvSpPr>
            <p:cNvPr name="TextBox 40" id="40"/>
            <p:cNvSpPr txBox="true"/>
            <p:nvPr/>
          </p:nvSpPr>
          <p:spPr>
            <a:xfrm>
              <a:off x="0" y="-19050"/>
              <a:ext cx="3657600" cy="494538"/>
            </a:xfrm>
            <a:prstGeom prst="rect">
              <a:avLst/>
            </a:prstGeom>
          </p:spPr>
          <p:txBody>
            <a:bodyPr anchor="ctr" rtlCol="false" tIns="0" lIns="0" bIns="0" rIns="0"/>
            <a:lstStyle/>
            <a:p>
              <a:pPr algn="l">
                <a:lnSpc>
                  <a:spcPts val="2160"/>
                </a:lnSpc>
              </a:pPr>
              <a:r>
                <a:rPr lang="en-US" sz="1800" b="true">
                  <a:solidFill>
                    <a:srgbClr val="0D8489"/>
                  </a:solidFill>
                  <a:latin typeface="Arial Bold"/>
                  <a:ea typeface="Arial Bold"/>
                  <a:cs typeface="Arial Bold"/>
                  <a:sym typeface="Arial Bold"/>
                </a:rPr>
                <a:t>MEDIAN</a:t>
              </a:r>
            </a:p>
          </p:txBody>
        </p:sp>
      </p:grpSp>
      <p:grpSp>
        <p:nvGrpSpPr>
          <p:cNvPr name="Group 41" id="41"/>
          <p:cNvGrpSpPr/>
          <p:nvPr/>
        </p:nvGrpSpPr>
        <p:grpSpPr>
          <a:xfrm rot="0">
            <a:off x="12605004" y="4773168"/>
            <a:ext cx="1508760" cy="576072"/>
            <a:chOff x="0" y="0"/>
            <a:chExt cx="2011680" cy="768096"/>
          </a:xfrm>
        </p:grpSpPr>
        <p:sp>
          <p:nvSpPr>
            <p:cNvPr name="Freeform 42" id="42"/>
            <p:cNvSpPr/>
            <p:nvPr/>
          </p:nvSpPr>
          <p:spPr>
            <a:xfrm flipH="false" flipV="false" rot="0">
              <a:off x="0" y="0"/>
              <a:ext cx="2011680" cy="768096"/>
            </a:xfrm>
            <a:custGeom>
              <a:avLst/>
              <a:gdLst/>
              <a:ahLst/>
              <a:cxnLst/>
              <a:rect r="r" b="b" t="t" l="l"/>
              <a:pathLst>
                <a:path h="768096" w="2011680">
                  <a:moveTo>
                    <a:pt x="0" y="0"/>
                  </a:moveTo>
                  <a:lnTo>
                    <a:pt x="2011680" y="0"/>
                  </a:lnTo>
                  <a:lnTo>
                    <a:pt x="2011680" y="768096"/>
                  </a:lnTo>
                  <a:lnTo>
                    <a:pt x="0" y="768096"/>
                  </a:lnTo>
                  <a:close/>
                </a:path>
              </a:pathLst>
            </a:custGeom>
            <a:blipFill>
              <a:blip r:embed="rId3">
                <a:alphaModFix amt="0"/>
              </a:blip>
              <a:stretch>
                <a:fillRect l="0" t="-1032" r="0" b="-1032"/>
              </a:stretch>
            </a:blipFill>
          </p:spPr>
        </p:sp>
        <p:sp>
          <p:nvSpPr>
            <p:cNvPr name="TextBox 43" id="43"/>
            <p:cNvSpPr txBox="true"/>
            <p:nvPr/>
          </p:nvSpPr>
          <p:spPr>
            <a:xfrm>
              <a:off x="0" y="-28575"/>
              <a:ext cx="2011680" cy="796671"/>
            </a:xfrm>
            <a:prstGeom prst="rect">
              <a:avLst/>
            </a:prstGeom>
          </p:spPr>
          <p:txBody>
            <a:bodyPr anchor="ctr" rtlCol="false" tIns="0" lIns="0" bIns="0" rIns="0"/>
            <a:lstStyle/>
            <a:p>
              <a:pPr algn="l">
                <a:lnSpc>
                  <a:spcPts val="4320"/>
                </a:lnSpc>
              </a:pPr>
              <a:r>
                <a:rPr lang="en-US" sz="3600" b="true">
                  <a:solidFill>
                    <a:srgbClr val="143351"/>
                  </a:solidFill>
                  <a:latin typeface="Arial Bold"/>
                  <a:ea typeface="Arial Bold"/>
                  <a:cs typeface="Arial Bold"/>
                  <a:sym typeface="Arial Bold"/>
                </a:rPr>
                <a:t>4</a:t>
              </a:r>
            </a:p>
          </p:txBody>
        </p:sp>
      </p:grpSp>
      <p:grpSp>
        <p:nvGrpSpPr>
          <p:cNvPr name="Group 44" id="44"/>
          <p:cNvGrpSpPr/>
          <p:nvPr/>
        </p:nvGrpSpPr>
        <p:grpSpPr>
          <a:xfrm rot="0">
            <a:off x="9697212" y="5527548"/>
            <a:ext cx="7200900" cy="315468"/>
            <a:chOff x="0" y="0"/>
            <a:chExt cx="9601200" cy="420624"/>
          </a:xfrm>
        </p:grpSpPr>
        <p:sp>
          <p:nvSpPr>
            <p:cNvPr name="Freeform 45" id="45"/>
            <p:cNvSpPr/>
            <p:nvPr/>
          </p:nvSpPr>
          <p:spPr>
            <a:xfrm flipH="false" flipV="false" rot="0">
              <a:off x="0" y="0"/>
              <a:ext cx="9601200" cy="420624"/>
            </a:xfrm>
            <a:custGeom>
              <a:avLst/>
              <a:gdLst/>
              <a:ahLst/>
              <a:cxnLst/>
              <a:rect r="r" b="b" t="t" l="l"/>
              <a:pathLst>
                <a:path h="420624" w="9601200">
                  <a:moveTo>
                    <a:pt x="0" y="0"/>
                  </a:moveTo>
                  <a:lnTo>
                    <a:pt x="9601200" y="0"/>
                  </a:lnTo>
                  <a:lnTo>
                    <a:pt x="9601200" y="420624"/>
                  </a:lnTo>
                  <a:lnTo>
                    <a:pt x="0" y="420624"/>
                  </a:lnTo>
                  <a:close/>
                </a:path>
              </a:pathLst>
            </a:custGeom>
            <a:blipFill>
              <a:blip r:embed="rId3">
                <a:alphaModFix amt="0"/>
              </a:blip>
              <a:stretch>
                <a:fillRect l="0" t="-394767" r="0" b="-394767"/>
              </a:stretch>
            </a:blipFill>
          </p:spPr>
        </p:sp>
        <p:sp>
          <p:nvSpPr>
            <p:cNvPr name="TextBox 46" id="46"/>
            <p:cNvSpPr txBox="true"/>
            <p:nvPr/>
          </p:nvSpPr>
          <p:spPr>
            <a:xfrm>
              <a:off x="0" y="-19050"/>
              <a:ext cx="9601200" cy="439674"/>
            </a:xfrm>
            <a:prstGeom prst="rect">
              <a:avLst/>
            </a:prstGeom>
          </p:spPr>
          <p:txBody>
            <a:bodyPr anchor="ctr" rtlCol="false" tIns="0" lIns="0" bIns="0" rIns="0"/>
            <a:lstStyle/>
            <a:p>
              <a:pPr algn="l">
                <a:lnSpc>
                  <a:spcPts val="2160"/>
                </a:lnSpc>
              </a:pPr>
              <a:r>
                <a:rPr lang="en-US" sz="1800">
                  <a:solidFill>
                    <a:srgbClr val="526B85"/>
                  </a:solidFill>
                  <a:latin typeface="Arial"/>
                  <a:ea typeface="Arial"/>
                  <a:cs typeface="Arial"/>
                  <a:sym typeface="Arial"/>
                </a:rPr>
                <a:t>Trung bình điểm thứ 5 và 6</a:t>
              </a:r>
            </a:p>
          </p:txBody>
        </p:sp>
      </p:grpSp>
      <p:grpSp>
        <p:nvGrpSpPr>
          <p:cNvPr name="Group 47" id="47"/>
          <p:cNvGrpSpPr/>
          <p:nvPr/>
        </p:nvGrpSpPr>
        <p:grpSpPr>
          <a:xfrm rot="0">
            <a:off x="1060323" y="6382131"/>
            <a:ext cx="7864602" cy="1431798"/>
            <a:chOff x="0" y="0"/>
            <a:chExt cx="10486136" cy="1909064"/>
          </a:xfrm>
        </p:grpSpPr>
        <p:sp>
          <p:nvSpPr>
            <p:cNvPr name="Freeform 48" id="48"/>
            <p:cNvSpPr/>
            <p:nvPr/>
          </p:nvSpPr>
          <p:spPr>
            <a:xfrm flipH="false" flipV="false" rot="0">
              <a:off x="0" y="0"/>
              <a:ext cx="10486136" cy="1909064"/>
            </a:xfrm>
            <a:custGeom>
              <a:avLst/>
              <a:gdLst/>
              <a:ahLst/>
              <a:cxnLst/>
              <a:rect r="r" b="b" t="t" l="l"/>
              <a:pathLst>
                <a:path h="1909064" w="10486136">
                  <a:moveTo>
                    <a:pt x="0" y="222377"/>
                  </a:moveTo>
                  <a:cubicBezTo>
                    <a:pt x="0" y="99568"/>
                    <a:pt x="99568" y="0"/>
                    <a:pt x="222377" y="0"/>
                  </a:cubicBezTo>
                  <a:lnTo>
                    <a:pt x="10263759" y="0"/>
                  </a:lnTo>
                  <a:cubicBezTo>
                    <a:pt x="10386568" y="0"/>
                    <a:pt x="10486136" y="99568"/>
                    <a:pt x="10486136" y="222377"/>
                  </a:cubicBezTo>
                  <a:lnTo>
                    <a:pt x="10486136" y="1686687"/>
                  </a:lnTo>
                  <a:cubicBezTo>
                    <a:pt x="10486136" y="1809496"/>
                    <a:pt x="10386568" y="1909064"/>
                    <a:pt x="10263759" y="1909064"/>
                  </a:cubicBezTo>
                  <a:lnTo>
                    <a:pt x="222377" y="1909064"/>
                  </a:lnTo>
                  <a:cubicBezTo>
                    <a:pt x="99568" y="1909064"/>
                    <a:pt x="0" y="1809496"/>
                    <a:pt x="0" y="1686687"/>
                  </a:cubicBezTo>
                  <a:close/>
                </a:path>
              </a:pathLst>
            </a:custGeom>
            <a:solidFill>
              <a:srgbClr val="FFFFFF"/>
            </a:solidFill>
            <a:ln w="19050" cap="sq">
              <a:solidFill>
                <a:srgbClr val="D8E4EF"/>
              </a:solidFill>
              <a:prstDash val="solid"/>
              <a:miter/>
            </a:ln>
          </p:spPr>
        </p:sp>
      </p:grpSp>
      <p:grpSp>
        <p:nvGrpSpPr>
          <p:cNvPr name="Group 49" id="49"/>
          <p:cNvGrpSpPr/>
          <p:nvPr/>
        </p:nvGrpSpPr>
        <p:grpSpPr>
          <a:xfrm rot="0">
            <a:off x="1385316" y="6569964"/>
            <a:ext cx="2743200" cy="356616"/>
            <a:chOff x="0" y="0"/>
            <a:chExt cx="3657600" cy="475488"/>
          </a:xfrm>
        </p:grpSpPr>
        <p:sp>
          <p:nvSpPr>
            <p:cNvPr name="Freeform 50" id="50"/>
            <p:cNvSpPr/>
            <p:nvPr/>
          </p:nvSpPr>
          <p:spPr>
            <a:xfrm flipH="false" flipV="false" rot="0">
              <a:off x="0" y="0"/>
              <a:ext cx="3657600" cy="475488"/>
            </a:xfrm>
            <a:custGeom>
              <a:avLst/>
              <a:gdLst/>
              <a:ahLst/>
              <a:cxnLst/>
              <a:rect r="r" b="b" t="t" l="l"/>
              <a:pathLst>
                <a:path h="475488" w="3657600">
                  <a:moveTo>
                    <a:pt x="0" y="0"/>
                  </a:moveTo>
                  <a:lnTo>
                    <a:pt x="3657600" y="0"/>
                  </a:lnTo>
                  <a:lnTo>
                    <a:pt x="3657600" y="475488"/>
                  </a:lnTo>
                  <a:lnTo>
                    <a:pt x="0" y="475488"/>
                  </a:lnTo>
                  <a:close/>
                </a:path>
              </a:pathLst>
            </a:custGeom>
            <a:blipFill>
              <a:blip r:embed="rId3">
                <a:alphaModFix amt="0"/>
              </a:blip>
              <a:stretch>
                <a:fillRect l="0" t="-99884" r="0" b="-99884"/>
              </a:stretch>
            </a:blipFill>
          </p:spPr>
        </p:sp>
        <p:sp>
          <p:nvSpPr>
            <p:cNvPr name="TextBox 51" id="51"/>
            <p:cNvSpPr txBox="true"/>
            <p:nvPr/>
          </p:nvSpPr>
          <p:spPr>
            <a:xfrm>
              <a:off x="0" y="-19050"/>
              <a:ext cx="3657600" cy="494538"/>
            </a:xfrm>
            <a:prstGeom prst="rect">
              <a:avLst/>
            </a:prstGeom>
          </p:spPr>
          <p:txBody>
            <a:bodyPr anchor="ctr" rtlCol="false" tIns="0" lIns="0" bIns="0" rIns="0"/>
            <a:lstStyle/>
            <a:p>
              <a:pPr algn="l">
                <a:lnSpc>
                  <a:spcPts val="2160"/>
                </a:lnSpc>
              </a:pPr>
              <a:r>
                <a:rPr lang="en-US" sz="1800" b="true">
                  <a:solidFill>
                    <a:srgbClr val="0D8489"/>
                  </a:solidFill>
                  <a:latin typeface="Arial Bold"/>
                  <a:ea typeface="Arial Bold"/>
                  <a:cs typeface="Arial Bold"/>
                  <a:sym typeface="Arial Bold"/>
                </a:rPr>
                <a:t>IQR</a:t>
              </a:r>
            </a:p>
          </p:txBody>
        </p:sp>
      </p:grpSp>
      <p:grpSp>
        <p:nvGrpSpPr>
          <p:cNvPr name="Group 52" id="52"/>
          <p:cNvGrpSpPr/>
          <p:nvPr/>
        </p:nvGrpSpPr>
        <p:grpSpPr>
          <a:xfrm rot="0">
            <a:off x="4293108" y="6515100"/>
            <a:ext cx="1508760" cy="576072"/>
            <a:chOff x="0" y="0"/>
            <a:chExt cx="2011680" cy="768096"/>
          </a:xfrm>
        </p:grpSpPr>
        <p:sp>
          <p:nvSpPr>
            <p:cNvPr name="Freeform 53" id="53"/>
            <p:cNvSpPr/>
            <p:nvPr/>
          </p:nvSpPr>
          <p:spPr>
            <a:xfrm flipH="false" flipV="false" rot="0">
              <a:off x="0" y="0"/>
              <a:ext cx="2011680" cy="768096"/>
            </a:xfrm>
            <a:custGeom>
              <a:avLst/>
              <a:gdLst/>
              <a:ahLst/>
              <a:cxnLst/>
              <a:rect r="r" b="b" t="t" l="l"/>
              <a:pathLst>
                <a:path h="768096" w="2011680">
                  <a:moveTo>
                    <a:pt x="0" y="0"/>
                  </a:moveTo>
                  <a:lnTo>
                    <a:pt x="2011680" y="0"/>
                  </a:lnTo>
                  <a:lnTo>
                    <a:pt x="2011680" y="768096"/>
                  </a:lnTo>
                  <a:lnTo>
                    <a:pt x="0" y="768096"/>
                  </a:lnTo>
                  <a:close/>
                </a:path>
              </a:pathLst>
            </a:custGeom>
            <a:blipFill>
              <a:blip r:embed="rId3">
                <a:alphaModFix amt="0"/>
              </a:blip>
              <a:stretch>
                <a:fillRect l="0" t="-1032" r="0" b="-1032"/>
              </a:stretch>
            </a:blipFill>
          </p:spPr>
        </p:sp>
        <p:sp>
          <p:nvSpPr>
            <p:cNvPr name="TextBox 54" id="54"/>
            <p:cNvSpPr txBox="true"/>
            <p:nvPr/>
          </p:nvSpPr>
          <p:spPr>
            <a:xfrm>
              <a:off x="0" y="-28575"/>
              <a:ext cx="2011680" cy="796671"/>
            </a:xfrm>
            <a:prstGeom prst="rect">
              <a:avLst/>
            </a:prstGeom>
          </p:spPr>
          <p:txBody>
            <a:bodyPr anchor="ctr" rtlCol="false" tIns="0" lIns="0" bIns="0" rIns="0"/>
            <a:lstStyle/>
            <a:p>
              <a:pPr algn="l">
                <a:lnSpc>
                  <a:spcPts val="4320"/>
                </a:lnSpc>
              </a:pPr>
              <a:r>
                <a:rPr lang="en-US" sz="3600" b="true">
                  <a:solidFill>
                    <a:srgbClr val="143351"/>
                  </a:solidFill>
                  <a:latin typeface="Arial Bold"/>
                  <a:ea typeface="Arial Bold"/>
                  <a:cs typeface="Arial Bold"/>
                  <a:sym typeface="Arial Bold"/>
                </a:rPr>
                <a:t>1</a:t>
              </a:r>
            </a:p>
          </p:txBody>
        </p:sp>
      </p:grpSp>
      <p:grpSp>
        <p:nvGrpSpPr>
          <p:cNvPr name="Group 55" id="55"/>
          <p:cNvGrpSpPr/>
          <p:nvPr/>
        </p:nvGrpSpPr>
        <p:grpSpPr>
          <a:xfrm rot="0">
            <a:off x="1385316" y="7269480"/>
            <a:ext cx="7200900" cy="315468"/>
            <a:chOff x="0" y="0"/>
            <a:chExt cx="9601200" cy="420624"/>
          </a:xfrm>
        </p:grpSpPr>
        <p:sp>
          <p:nvSpPr>
            <p:cNvPr name="Freeform 56" id="56"/>
            <p:cNvSpPr/>
            <p:nvPr/>
          </p:nvSpPr>
          <p:spPr>
            <a:xfrm flipH="false" flipV="false" rot="0">
              <a:off x="0" y="0"/>
              <a:ext cx="9601200" cy="420624"/>
            </a:xfrm>
            <a:custGeom>
              <a:avLst/>
              <a:gdLst/>
              <a:ahLst/>
              <a:cxnLst/>
              <a:rect r="r" b="b" t="t" l="l"/>
              <a:pathLst>
                <a:path h="420624" w="9601200">
                  <a:moveTo>
                    <a:pt x="0" y="0"/>
                  </a:moveTo>
                  <a:lnTo>
                    <a:pt x="9601200" y="0"/>
                  </a:lnTo>
                  <a:lnTo>
                    <a:pt x="9601200" y="420624"/>
                  </a:lnTo>
                  <a:lnTo>
                    <a:pt x="0" y="420624"/>
                  </a:lnTo>
                  <a:close/>
                </a:path>
              </a:pathLst>
            </a:custGeom>
            <a:blipFill>
              <a:blip r:embed="rId3">
                <a:alphaModFix amt="0"/>
              </a:blip>
              <a:stretch>
                <a:fillRect l="0" t="-394767" r="0" b="-394767"/>
              </a:stretch>
            </a:blipFill>
          </p:spPr>
        </p:sp>
        <p:sp>
          <p:nvSpPr>
            <p:cNvPr name="TextBox 57" id="57"/>
            <p:cNvSpPr txBox="true"/>
            <p:nvPr/>
          </p:nvSpPr>
          <p:spPr>
            <a:xfrm>
              <a:off x="0" y="-19050"/>
              <a:ext cx="9601200" cy="439674"/>
            </a:xfrm>
            <a:prstGeom prst="rect">
              <a:avLst/>
            </a:prstGeom>
          </p:spPr>
          <p:txBody>
            <a:bodyPr anchor="ctr" rtlCol="false" tIns="0" lIns="0" bIns="0" rIns="0"/>
            <a:lstStyle/>
            <a:p>
              <a:pPr algn="l">
                <a:lnSpc>
                  <a:spcPts val="2160"/>
                </a:lnSpc>
              </a:pPr>
              <a:r>
                <a:rPr lang="en-US" sz="1800">
                  <a:solidFill>
                    <a:srgbClr val="526B85"/>
                  </a:solidFill>
                  <a:latin typeface="Arial"/>
                  <a:ea typeface="Arial"/>
                  <a:cs typeface="Arial"/>
                  <a:sym typeface="Arial"/>
                </a:rPr>
                <a:t>Q3 (4) − Q1 (3)</a:t>
              </a:r>
            </a:p>
          </p:txBody>
        </p:sp>
      </p:grpSp>
      <p:grpSp>
        <p:nvGrpSpPr>
          <p:cNvPr name="Group 58" id="58"/>
          <p:cNvGrpSpPr/>
          <p:nvPr/>
        </p:nvGrpSpPr>
        <p:grpSpPr>
          <a:xfrm rot="0">
            <a:off x="9372219" y="6382131"/>
            <a:ext cx="7864602" cy="1431798"/>
            <a:chOff x="0" y="0"/>
            <a:chExt cx="10486136" cy="1909064"/>
          </a:xfrm>
        </p:grpSpPr>
        <p:sp>
          <p:nvSpPr>
            <p:cNvPr name="Freeform 59" id="59"/>
            <p:cNvSpPr/>
            <p:nvPr/>
          </p:nvSpPr>
          <p:spPr>
            <a:xfrm flipH="false" flipV="false" rot="0">
              <a:off x="0" y="0"/>
              <a:ext cx="10486136" cy="1909064"/>
            </a:xfrm>
            <a:custGeom>
              <a:avLst/>
              <a:gdLst/>
              <a:ahLst/>
              <a:cxnLst/>
              <a:rect r="r" b="b" t="t" l="l"/>
              <a:pathLst>
                <a:path h="1909064" w="10486136">
                  <a:moveTo>
                    <a:pt x="0" y="222377"/>
                  </a:moveTo>
                  <a:cubicBezTo>
                    <a:pt x="0" y="99568"/>
                    <a:pt x="99568" y="0"/>
                    <a:pt x="222377" y="0"/>
                  </a:cubicBezTo>
                  <a:lnTo>
                    <a:pt x="10263759" y="0"/>
                  </a:lnTo>
                  <a:cubicBezTo>
                    <a:pt x="10386568" y="0"/>
                    <a:pt x="10486136" y="99568"/>
                    <a:pt x="10486136" y="222377"/>
                  </a:cubicBezTo>
                  <a:lnTo>
                    <a:pt x="10486136" y="1686687"/>
                  </a:lnTo>
                  <a:cubicBezTo>
                    <a:pt x="10486136" y="1809496"/>
                    <a:pt x="10386568" y="1909064"/>
                    <a:pt x="10263759" y="1909064"/>
                  </a:cubicBezTo>
                  <a:lnTo>
                    <a:pt x="222377" y="1909064"/>
                  </a:lnTo>
                  <a:cubicBezTo>
                    <a:pt x="99568" y="1909064"/>
                    <a:pt x="0" y="1809496"/>
                    <a:pt x="0" y="1686687"/>
                  </a:cubicBezTo>
                  <a:close/>
                </a:path>
              </a:pathLst>
            </a:custGeom>
            <a:solidFill>
              <a:srgbClr val="FFFFFF"/>
            </a:solidFill>
            <a:ln w="19050" cap="sq">
              <a:solidFill>
                <a:srgbClr val="D8E4EF"/>
              </a:solidFill>
              <a:prstDash val="solid"/>
              <a:miter/>
            </a:ln>
          </p:spPr>
        </p:sp>
      </p:grpSp>
      <p:grpSp>
        <p:nvGrpSpPr>
          <p:cNvPr name="Group 60" id="60"/>
          <p:cNvGrpSpPr/>
          <p:nvPr/>
        </p:nvGrpSpPr>
        <p:grpSpPr>
          <a:xfrm rot="0">
            <a:off x="9697212" y="6569964"/>
            <a:ext cx="2743200" cy="356616"/>
            <a:chOff x="0" y="0"/>
            <a:chExt cx="3657600" cy="475488"/>
          </a:xfrm>
        </p:grpSpPr>
        <p:sp>
          <p:nvSpPr>
            <p:cNvPr name="Freeform 61" id="61"/>
            <p:cNvSpPr/>
            <p:nvPr/>
          </p:nvSpPr>
          <p:spPr>
            <a:xfrm flipH="false" flipV="false" rot="0">
              <a:off x="0" y="0"/>
              <a:ext cx="3657600" cy="475488"/>
            </a:xfrm>
            <a:custGeom>
              <a:avLst/>
              <a:gdLst/>
              <a:ahLst/>
              <a:cxnLst/>
              <a:rect r="r" b="b" t="t" l="l"/>
              <a:pathLst>
                <a:path h="475488" w="3657600">
                  <a:moveTo>
                    <a:pt x="0" y="0"/>
                  </a:moveTo>
                  <a:lnTo>
                    <a:pt x="3657600" y="0"/>
                  </a:lnTo>
                  <a:lnTo>
                    <a:pt x="3657600" y="475488"/>
                  </a:lnTo>
                  <a:lnTo>
                    <a:pt x="0" y="475488"/>
                  </a:lnTo>
                  <a:close/>
                </a:path>
              </a:pathLst>
            </a:custGeom>
            <a:blipFill>
              <a:blip r:embed="rId3">
                <a:alphaModFix amt="0"/>
              </a:blip>
              <a:stretch>
                <a:fillRect l="0" t="-99884" r="0" b="-99884"/>
              </a:stretch>
            </a:blipFill>
          </p:spPr>
        </p:sp>
        <p:sp>
          <p:nvSpPr>
            <p:cNvPr name="TextBox 62" id="62"/>
            <p:cNvSpPr txBox="true"/>
            <p:nvPr/>
          </p:nvSpPr>
          <p:spPr>
            <a:xfrm>
              <a:off x="0" y="-19050"/>
              <a:ext cx="3657600" cy="494538"/>
            </a:xfrm>
            <a:prstGeom prst="rect">
              <a:avLst/>
            </a:prstGeom>
          </p:spPr>
          <p:txBody>
            <a:bodyPr anchor="ctr" rtlCol="false" tIns="0" lIns="0" bIns="0" rIns="0"/>
            <a:lstStyle/>
            <a:p>
              <a:pPr algn="l">
                <a:lnSpc>
                  <a:spcPts val="2160"/>
                </a:lnSpc>
              </a:pPr>
              <a:r>
                <a:rPr lang="en-US" sz="1800" b="true">
                  <a:solidFill>
                    <a:srgbClr val="0D8489"/>
                  </a:solidFill>
                  <a:latin typeface="Arial Bold"/>
                  <a:ea typeface="Arial Bold"/>
                  <a:cs typeface="Arial Bold"/>
                  <a:sym typeface="Arial Bold"/>
                </a:rPr>
                <a:t>SD MẪU</a:t>
              </a:r>
            </a:p>
          </p:txBody>
        </p:sp>
      </p:grpSp>
      <p:grpSp>
        <p:nvGrpSpPr>
          <p:cNvPr name="Group 63" id="63"/>
          <p:cNvGrpSpPr/>
          <p:nvPr/>
        </p:nvGrpSpPr>
        <p:grpSpPr>
          <a:xfrm rot="0">
            <a:off x="12605004" y="6515100"/>
            <a:ext cx="1508760" cy="576072"/>
            <a:chOff x="0" y="0"/>
            <a:chExt cx="2011680" cy="768096"/>
          </a:xfrm>
        </p:grpSpPr>
        <p:sp>
          <p:nvSpPr>
            <p:cNvPr name="Freeform 64" id="64"/>
            <p:cNvSpPr/>
            <p:nvPr/>
          </p:nvSpPr>
          <p:spPr>
            <a:xfrm flipH="false" flipV="false" rot="0">
              <a:off x="0" y="0"/>
              <a:ext cx="2011680" cy="768096"/>
            </a:xfrm>
            <a:custGeom>
              <a:avLst/>
              <a:gdLst/>
              <a:ahLst/>
              <a:cxnLst/>
              <a:rect r="r" b="b" t="t" l="l"/>
              <a:pathLst>
                <a:path h="768096" w="2011680">
                  <a:moveTo>
                    <a:pt x="0" y="0"/>
                  </a:moveTo>
                  <a:lnTo>
                    <a:pt x="2011680" y="0"/>
                  </a:lnTo>
                  <a:lnTo>
                    <a:pt x="2011680" y="768096"/>
                  </a:lnTo>
                  <a:lnTo>
                    <a:pt x="0" y="768096"/>
                  </a:lnTo>
                  <a:close/>
                </a:path>
              </a:pathLst>
            </a:custGeom>
            <a:blipFill>
              <a:blip r:embed="rId3">
                <a:alphaModFix amt="0"/>
              </a:blip>
              <a:stretch>
                <a:fillRect l="0" t="-1032" r="0" b="-1032"/>
              </a:stretch>
            </a:blipFill>
          </p:spPr>
        </p:sp>
        <p:sp>
          <p:nvSpPr>
            <p:cNvPr name="TextBox 65" id="65"/>
            <p:cNvSpPr txBox="true"/>
            <p:nvPr/>
          </p:nvSpPr>
          <p:spPr>
            <a:xfrm>
              <a:off x="0" y="-28575"/>
              <a:ext cx="2011680" cy="796671"/>
            </a:xfrm>
            <a:prstGeom prst="rect">
              <a:avLst/>
            </a:prstGeom>
          </p:spPr>
          <p:txBody>
            <a:bodyPr anchor="ctr" rtlCol="false" tIns="0" lIns="0" bIns="0" rIns="0"/>
            <a:lstStyle/>
            <a:p>
              <a:pPr algn="l">
                <a:lnSpc>
                  <a:spcPts val="4320"/>
                </a:lnSpc>
              </a:pPr>
              <a:r>
                <a:rPr lang="en-US" sz="3600" b="true">
                  <a:solidFill>
                    <a:srgbClr val="143351"/>
                  </a:solidFill>
                  <a:latin typeface="Arial Bold"/>
                  <a:ea typeface="Arial Bold"/>
                  <a:cs typeface="Arial Bold"/>
                  <a:sym typeface="Arial Bold"/>
                </a:rPr>
                <a:t>≈ 0,79</a:t>
              </a:r>
            </a:p>
          </p:txBody>
        </p:sp>
      </p:grpSp>
      <p:grpSp>
        <p:nvGrpSpPr>
          <p:cNvPr name="Group 66" id="66"/>
          <p:cNvGrpSpPr/>
          <p:nvPr/>
        </p:nvGrpSpPr>
        <p:grpSpPr>
          <a:xfrm rot="0">
            <a:off x="9697212" y="7269480"/>
            <a:ext cx="7200900" cy="315468"/>
            <a:chOff x="0" y="0"/>
            <a:chExt cx="9601200" cy="420624"/>
          </a:xfrm>
        </p:grpSpPr>
        <p:sp>
          <p:nvSpPr>
            <p:cNvPr name="Freeform 67" id="67"/>
            <p:cNvSpPr/>
            <p:nvPr/>
          </p:nvSpPr>
          <p:spPr>
            <a:xfrm flipH="false" flipV="false" rot="0">
              <a:off x="0" y="0"/>
              <a:ext cx="9601200" cy="420624"/>
            </a:xfrm>
            <a:custGeom>
              <a:avLst/>
              <a:gdLst/>
              <a:ahLst/>
              <a:cxnLst/>
              <a:rect r="r" b="b" t="t" l="l"/>
              <a:pathLst>
                <a:path h="420624" w="9601200">
                  <a:moveTo>
                    <a:pt x="0" y="0"/>
                  </a:moveTo>
                  <a:lnTo>
                    <a:pt x="9601200" y="0"/>
                  </a:lnTo>
                  <a:lnTo>
                    <a:pt x="9601200" y="420624"/>
                  </a:lnTo>
                  <a:lnTo>
                    <a:pt x="0" y="420624"/>
                  </a:lnTo>
                  <a:close/>
                </a:path>
              </a:pathLst>
            </a:custGeom>
            <a:blipFill>
              <a:blip r:embed="rId3">
                <a:alphaModFix amt="0"/>
              </a:blip>
              <a:stretch>
                <a:fillRect l="0" t="-394767" r="0" b="-394767"/>
              </a:stretch>
            </a:blipFill>
          </p:spPr>
        </p:sp>
        <p:sp>
          <p:nvSpPr>
            <p:cNvPr name="TextBox 68" id="68"/>
            <p:cNvSpPr txBox="true"/>
            <p:nvPr/>
          </p:nvSpPr>
          <p:spPr>
            <a:xfrm>
              <a:off x="0" y="-19050"/>
              <a:ext cx="9601200" cy="439674"/>
            </a:xfrm>
            <a:prstGeom prst="rect">
              <a:avLst/>
            </a:prstGeom>
          </p:spPr>
          <p:txBody>
            <a:bodyPr anchor="ctr" rtlCol="false" tIns="0" lIns="0" bIns="0" rIns="0"/>
            <a:lstStyle/>
            <a:p>
              <a:pPr algn="l">
                <a:lnSpc>
                  <a:spcPts val="2160"/>
                </a:lnSpc>
              </a:pPr>
              <a:r>
                <a:rPr lang="en-US" sz="1800">
                  <a:solidFill>
                    <a:srgbClr val="526B85"/>
                  </a:solidFill>
                  <a:latin typeface="Arial"/>
                  <a:ea typeface="Arial"/>
                  <a:cs typeface="Arial"/>
                  <a:sym typeface="Arial"/>
                </a:rPr>
                <a:t>Chia cho n − 1</a:t>
              </a:r>
            </a:p>
          </p:txBody>
        </p:sp>
      </p:grpSp>
      <p:grpSp>
        <p:nvGrpSpPr>
          <p:cNvPr name="Group 69" id="69"/>
          <p:cNvGrpSpPr/>
          <p:nvPr/>
        </p:nvGrpSpPr>
        <p:grpSpPr>
          <a:xfrm rot="0">
            <a:off x="1087755" y="8302371"/>
            <a:ext cx="16066770" cy="814578"/>
            <a:chOff x="0" y="0"/>
            <a:chExt cx="21422360" cy="1086104"/>
          </a:xfrm>
        </p:grpSpPr>
        <p:sp>
          <p:nvSpPr>
            <p:cNvPr name="Freeform 70" id="70"/>
            <p:cNvSpPr/>
            <p:nvPr/>
          </p:nvSpPr>
          <p:spPr>
            <a:xfrm flipH="false" flipV="false" rot="0">
              <a:off x="0" y="0"/>
              <a:ext cx="21422361" cy="1086104"/>
            </a:xfrm>
            <a:custGeom>
              <a:avLst/>
              <a:gdLst/>
              <a:ahLst/>
              <a:cxnLst/>
              <a:rect r="r" b="b" t="t" l="l"/>
              <a:pathLst>
                <a:path h="1086104" w="21422361">
                  <a:moveTo>
                    <a:pt x="0" y="224663"/>
                  </a:moveTo>
                  <a:cubicBezTo>
                    <a:pt x="0" y="100584"/>
                    <a:pt x="100584" y="0"/>
                    <a:pt x="224663" y="0"/>
                  </a:cubicBezTo>
                  <a:lnTo>
                    <a:pt x="21197697" y="0"/>
                  </a:lnTo>
                  <a:cubicBezTo>
                    <a:pt x="21321776" y="0"/>
                    <a:pt x="21422361" y="100584"/>
                    <a:pt x="21422361" y="224663"/>
                  </a:cubicBezTo>
                  <a:lnTo>
                    <a:pt x="21422361" y="861441"/>
                  </a:lnTo>
                  <a:cubicBezTo>
                    <a:pt x="21422361" y="985520"/>
                    <a:pt x="21321776" y="1086104"/>
                    <a:pt x="21197697" y="1086104"/>
                  </a:cubicBezTo>
                  <a:lnTo>
                    <a:pt x="224663" y="1086104"/>
                  </a:lnTo>
                  <a:cubicBezTo>
                    <a:pt x="100584" y="1086104"/>
                    <a:pt x="0" y="985520"/>
                    <a:pt x="0" y="861441"/>
                  </a:cubicBezTo>
                  <a:close/>
                </a:path>
              </a:pathLst>
            </a:custGeom>
            <a:solidFill>
              <a:srgbClr val="E6F4F2"/>
            </a:solidFill>
            <a:ln w="19050" cap="sq">
              <a:solidFill>
                <a:srgbClr val="D8E4EF"/>
              </a:solidFill>
              <a:prstDash val="solid"/>
              <a:miter/>
            </a:ln>
          </p:spPr>
        </p:sp>
      </p:grpSp>
      <p:grpSp>
        <p:nvGrpSpPr>
          <p:cNvPr name="Group 71" id="71"/>
          <p:cNvGrpSpPr/>
          <p:nvPr/>
        </p:nvGrpSpPr>
        <p:grpSpPr>
          <a:xfrm rot="0">
            <a:off x="1426464" y="8490204"/>
            <a:ext cx="15087600" cy="370332"/>
            <a:chOff x="0" y="0"/>
            <a:chExt cx="20116800" cy="493776"/>
          </a:xfrm>
        </p:grpSpPr>
        <p:sp>
          <p:nvSpPr>
            <p:cNvPr name="Freeform 72" id="72"/>
            <p:cNvSpPr/>
            <p:nvPr/>
          </p:nvSpPr>
          <p:spPr>
            <a:xfrm flipH="false" flipV="false" rot="0">
              <a:off x="0" y="0"/>
              <a:ext cx="20116800" cy="493776"/>
            </a:xfrm>
            <a:custGeom>
              <a:avLst/>
              <a:gdLst/>
              <a:ahLst/>
              <a:cxnLst/>
              <a:rect r="r" b="b" t="t" l="l"/>
              <a:pathLst>
                <a:path h="493776" w="20116800">
                  <a:moveTo>
                    <a:pt x="0" y="0"/>
                  </a:moveTo>
                  <a:lnTo>
                    <a:pt x="20116800" y="0"/>
                  </a:lnTo>
                  <a:lnTo>
                    <a:pt x="20116800" y="493776"/>
                  </a:lnTo>
                  <a:lnTo>
                    <a:pt x="0" y="493776"/>
                  </a:lnTo>
                  <a:close/>
                </a:path>
              </a:pathLst>
            </a:custGeom>
            <a:blipFill>
              <a:blip r:embed="rId3">
                <a:alphaModFix amt="0"/>
              </a:blip>
              <a:stretch>
                <a:fillRect l="0" t="-743834" r="0" b="-743834"/>
              </a:stretch>
            </a:blipFill>
          </p:spPr>
        </p:sp>
        <p:sp>
          <p:nvSpPr>
            <p:cNvPr name="TextBox 73" id="73"/>
            <p:cNvSpPr txBox="true"/>
            <p:nvPr/>
          </p:nvSpPr>
          <p:spPr>
            <a:xfrm>
              <a:off x="0" y="-9525"/>
              <a:ext cx="20116800" cy="503301"/>
            </a:xfrm>
            <a:prstGeom prst="rect">
              <a:avLst/>
            </a:prstGeom>
          </p:spPr>
          <p:txBody>
            <a:bodyPr anchor="ctr" rtlCol="false" tIns="0" lIns="0" bIns="0" rIns="0"/>
            <a:lstStyle/>
            <a:p>
              <a:pPr algn="l">
                <a:lnSpc>
                  <a:spcPts val="2520"/>
                </a:lnSpc>
              </a:pPr>
              <a:r>
                <a:rPr lang="en-US" sz="2100" b="true">
                  <a:solidFill>
                    <a:srgbClr val="143351"/>
                  </a:solidFill>
                  <a:latin typeface="Arial Bold"/>
                  <a:ea typeface="Arial Bold"/>
                  <a:cs typeface="Arial Bold"/>
                  <a:sym typeface="Arial Bold"/>
                </a:rPr>
                <a:t>Kiểm tra: Median ≥ 4 VÀ IQR ≤ 1   →   ĐẠT. Có thể tạo nhiều bộ điểm khác cùng thống kê.</a:t>
              </a:r>
            </a:p>
          </p:txBody>
        </p:sp>
      </p:gr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F4F8FC"/>
        </a:solidFill>
      </p:bgPr>
    </p:bg>
    <p:spTree>
      <p:nvGrpSpPr>
        <p:cNvPr id="1" name=""/>
        <p:cNvGrpSpPr/>
        <p:nvPr/>
      </p:nvGrpSpPr>
      <p:grpSpPr>
        <a:xfrm>
          <a:off x="0" y="0"/>
          <a:ext cx="0" cy="0"/>
          <a:chOff x="0" y="0"/>
          <a:chExt cx="0" cy="0"/>
        </a:xfrm>
      </p:grpSpPr>
      <p:grpSp>
        <p:nvGrpSpPr>
          <p:cNvPr name="Group 2" id="2"/>
          <p:cNvGrpSpPr/>
          <p:nvPr/>
        </p:nvGrpSpPr>
        <p:grpSpPr>
          <a:xfrm rot="0">
            <a:off x="-9525" y="-9525"/>
            <a:ext cx="169926" cy="10306050"/>
            <a:chOff x="0" y="0"/>
            <a:chExt cx="226568" cy="13741400"/>
          </a:xfrm>
        </p:grpSpPr>
        <p:sp>
          <p:nvSpPr>
            <p:cNvPr name="Freeform 3" id="3"/>
            <p:cNvSpPr/>
            <p:nvPr/>
          </p:nvSpPr>
          <p:spPr>
            <a:xfrm flipH="false" flipV="false" rot="0">
              <a:off x="0" y="0"/>
              <a:ext cx="226568" cy="13741400"/>
            </a:xfrm>
            <a:custGeom>
              <a:avLst/>
              <a:gdLst/>
              <a:ahLst/>
              <a:cxnLst/>
              <a:rect r="r" b="b" t="t" l="l"/>
              <a:pathLst>
                <a:path h="13741400" w="226568">
                  <a:moveTo>
                    <a:pt x="0" y="0"/>
                  </a:moveTo>
                  <a:lnTo>
                    <a:pt x="226568" y="0"/>
                  </a:lnTo>
                  <a:lnTo>
                    <a:pt x="226568" y="13741400"/>
                  </a:lnTo>
                  <a:lnTo>
                    <a:pt x="0" y="13741400"/>
                  </a:lnTo>
                  <a:close/>
                </a:path>
              </a:pathLst>
            </a:custGeom>
            <a:solidFill>
              <a:srgbClr val="0D8489"/>
            </a:solidFill>
            <a:ln w="19050" cap="sq">
              <a:solidFill>
                <a:srgbClr val="0D8489"/>
              </a:solidFill>
              <a:prstDash val="solid"/>
              <a:miter/>
            </a:ln>
          </p:spPr>
        </p:sp>
      </p:grpSp>
      <p:grpSp>
        <p:nvGrpSpPr>
          <p:cNvPr name="Group 4" id="4"/>
          <p:cNvGrpSpPr/>
          <p:nvPr/>
        </p:nvGrpSpPr>
        <p:grpSpPr>
          <a:xfrm rot="0">
            <a:off x="991739" y="489966"/>
            <a:ext cx="15087600" cy="405384"/>
            <a:chOff x="0" y="0"/>
            <a:chExt cx="20116800" cy="540512"/>
          </a:xfrm>
        </p:grpSpPr>
        <p:sp>
          <p:nvSpPr>
            <p:cNvPr name="Freeform 5" id="5"/>
            <p:cNvSpPr/>
            <p:nvPr/>
          </p:nvSpPr>
          <p:spPr>
            <a:xfrm flipH="false" flipV="false" rot="0">
              <a:off x="0" y="0"/>
              <a:ext cx="20116800" cy="540512"/>
            </a:xfrm>
            <a:custGeom>
              <a:avLst/>
              <a:gdLst/>
              <a:ahLst/>
              <a:cxnLst/>
              <a:rect r="r" b="b" t="t" l="l"/>
              <a:pathLst>
                <a:path h="540512" w="20116800">
                  <a:moveTo>
                    <a:pt x="0" y="0"/>
                  </a:moveTo>
                  <a:lnTo>
                    <a:pt x="20116800" y="0"/>
                  </a:lnTo>
                  <a:lnTo>
                    <a:pt x="20116800" y="540512"/>
                  </a:lnTo>
                  <a:lnTo>
                    <a:pt x="0" y="540512"/>
                  </a:lnTo>
                  <a:close/>
                </a:path>
              </a:pathLst>
            </a:custGeom>
            <a:blipFill>
              <a:blip r:embed="rId3">
                <a:alphaModFix amt="0"/>
              </a:blip>
              <a:stretch>
                <a:fillRect l="0" t="-684593" r="0" b="-665796"/>
              </a:stretch>
            </a:blipFill>
          </p:spPr>
        </p:sp>
        <p:sp>
          <p:nvSpPr>
            <p:cNvPr name="TextBox 6" id="6"/>
            <p:cNvSpPr txBox="true"/>
            <p:nvPr/>
          </p:nvSpPr>
          <p:spPr>
            <a:xfrm>
              <a:off x="0" y="-19050"/>
              <a:ext cx="20116800" cy="559562"/>
            </a:xfrm>
            <a:prstGeom prst="rect">
              <a:avLst/>
            </a:prstGeom>
          </p:spPr>
          <p:txBody>
            <a:bodyPr anchor="ctr" rtlCol="false" tIns="0" lIns="0" bIns="0" rIns="0"/>
            <a:lstStyle/>
            <a:p>
              <a:pPr algn="l">
                <a:lnSpc>
                  <a:spcPts val="1980"/>
                </a:lnSpc>
              </a:pPr>
              <a:r>
                <a:rPr lang="en-US" b="true" sz="1650" spc="284">
                  <a:solidFill>
                    <a:srgbClr val="0D8489"/>
                  </a:solidFill>
                  <a:latin typeface="Arial Bold"/>
                  <a:ea typeface="Arial Bold"/>
                  <a:cs typeface="Arial Bold"/>
                  <a:sym typeface="Arial Bold"/>
                </a:rPr>
                <a:t>THỰC NGHIỆM — KIỂM CHỨNG KẾT QUẢ BÀI BÁO</a:t>
              </a:r>
            </a:p>
          </p:txBody>
        </p:sp>
      </p:grpSp>
      <p:grpSp>
        <p:nvGrpSpPr>
          <p:cNvPr name="Group 7" id="7"/>
          <p:cNvGrpSpPr/>
          <p:nvPr/>
        </p:nvGrpSpPr>
        <p:grpSpPr>
          <a:xfrm rot="0">
            <a:off x="1001268" y="1028700"/>
            <a:ext cx="16322040" cy="850392"/>
            <a:chOff x="0" y="0"/>
            <a:chExt cx="21762720" cy="1133856"/>
          </a:xfrm>
        </p:grpSpPr>
        <p:sp>
          <p:nvSpPr>
            <p:cNvPr name="Freeform 8" id="8"/>
            <p:cNvSpPr/>
            <p:nvPr/>
          </p:nvSpPr>
          <p:spPr>
            <a:xfrm flipH="false" flipV="false" rot="0">
              <a:off x="0" y="0"/>
              <a:ext cx="21762720" cy="1133856"/>
            </a:xfrm>
            <a:custGeom>
              <a:avLst/>
              <a:gdLst/>
              <a:ahLst/>
              <a:cxnLst/>
              <a:rect r="r" b="b" t="t" l="l"/>
              <a:pathLst>
                <a:path h="1133856" w="21762720">
                  <a:moveTo>
                    <a:pt x="0" y="0"/>
                  </a:moveTo>
                  <a:lnTo>
                    <a:pt x="21762720" y="0"/>
                  </a:lnTo>
                  <a:lnTo>
                    <a:pt x="21762720" y="1133856"/>
                  </a:lnTo>
                  <a:lnTo>
                    <a:pt x="0" y="1133856"/>
                  </a:lnTo>
                  <a:close/>
                </a:path>
              </a:pathLst>
            </a:custGeom>
            <a:blipFill>
              <a:blip r:embed="rId3">
                <a:alphaModFix amt="0"/>
              </a:blip>
              <a:stretch>
                <a:fillRect l="0" t="-323987" r="0" b="-323987"/>
              </a:stretch>
            </a:blipFill>
          </p:spPr>
        </p:sp>
        <p:sp>
          <p:nvSpPr>
            <p:cNvPr name="TextBox 9" id="9"/>
            <p:cNvSpPr txBox="true"/>
            <p:nvPr/>
          </p:nvSpPr>
          <p:spPr>
            <a:xfrm>
              <a:off x="0" y="-19050"/>
              <a:ext cx="21762720" cy="1152906"/>
            </a:xfrm>
            <a:prstGeom prst="rect">
              <a:avLst/>
            </a:prstGeom>
          </p:spPr>
          <p:txBody>
            <a:bodyPr anchor="ctr" rtlCol="false" tIns="0" lIns="0" bIns="0" rIns="0"/>
            <a:lstStyle/>
            <a:p>
              <a:pPr algn="l">
                <a:lnSpc>
                  <a:spcPts val="5220"/>
                </a:lnSpc>
              </a:pPr>
              <a:r>
                <a:rPr lang="en-US" sz="4350" b="true">
                  <a:solidFill>
                    <a:srgbClr val="143351"/>
                  </a:solidFill>
                  <a:latin typeface="Arial Bold"/>
                  <a:ea typeface="Arial Bold"/>
                  <a:cs typeface="Arial Bold"/>
                  <a:sym typeface="Arial Bold"/>
                </a:rPr>
                <a:t>Demo cuối: kiểm chứng Appendix A và đối chiếu</a:t>
              </a:r>
            </a:p>
          </p:txBody>
        </p:sp>
      </p:grpSp>
      <p:grpSp>
        <p:nvGrpSpPr>
          <p:cNvPr name="Group 10" id="10"/>
          <p:cNvGrpSpPr/>
          <p:nvPr/>
        </p:nvGrpSpPr>
        <p:grpSpPr>
          <a:xfrm rot="0">
            <a:off x="1042416" y="1961388"/>
            <a:ext cx="16184880" cy="493776"/>
            <a:chOff x="0" y="0"/>
            <a:chExt cx="21579840" cy="658368"/>
          </a:xfrm>
        </p:grpSpPr>
        <p:sp>
          <p:nvSpPr>
            <p:cNvPr name="Freeform 11" id="11"/>
            <p:cNvSpPr/>
            <p:nvPr/>
          </p:nvSpPr>
          <p:spPr>
            <a:xfrm flipH="false" flipV="false" rot="0">
              <a:off x="0" y="0"/>
              <a:ext cx="21579839" cy="658368"/>
            </a:xfrm>
            <a:custGeom>
              <a:avLst/>
              <a:gdLst/>
              <a:ahLst/>
              <a:cxnLst/>
              <a:rect r="r" b="b" t="t" l="l"/>
              <a:pathLst>
                <a:path h="658368" w="21579839">
                  <a:moveTo>
                    <a:pt x="0" y="0"/>
                  </a:moveTo>
                  <a:lnTo>
                    <a:pt x="21579839" y="0"/>
                  </a:lnTo>
                  <a:lnTo>
                    <a:pt x="21579839" y="658368"/>
                  </a:lnTo>
                  <a:lnTo>
                    <a:pt x="0" y="658368"/>
                  </a:lnTo>
                  <a:close/>
                </a:path>
              </a:pathLst>
            </a:custGeom>
            <a:blipFill>
              <a:blip r:embed="rId3">
                <a:alphaModFix amt="0"/>
              </a:blip>
              <a:stretch>
                <a:fillRect l="0" t="-588676" r="0" b="-588676"/>
              </a:stretch>
            </a:blipFill>
          </p:spPr>
        </p:sp>
        <p:sp>
          <p:nvSpPr>
            <p:cNvPr name="TextBox 12" id="12"/>
            <p:cNvSpPr txBox="true"/>
            <p:nvPr/>
          </p:nvSpPr>
          <p:spPr>
            <a:xfrm>
              <a:off x="0" y="-19050"/>
              <a:ext cx="21579840" cy="677418"/>
            </a:xfrm>
            <a:prstGeom prst="rect">
              <a:avLst/>
            </a:prstGeom>
          </p:spPr>
          <p:txBody>
            <a:bodyPr anchor="ctr" rtlCol="false" tIns="0" lIns="0" bIns="0" rIns="0"/>
            <a:lstStyle/>
            <a:p>
              <a:pPr algn="l">
                <a:lnSpc>
                  <a:spcPts val="2610"/>
                </a:lnSpc>
              </a:pPr>
              <a:r>
                <a:rPr lang="en-US" sz="2175">
                  <a:solidFill>
                    <a:srgbClr val="526B85"/>
                  </a:solidFill>
                  <a:latin typeface="Arial"/>
                  <a:ea typeface="Arial"/>
                  <a:cs typeface="Arial"/>
                  <a:sym typeface="Arial"/>
                </a:rPr>
                <a:t>Hai nguồn dữ liệu tách biệt: mô phỏng phép tính ≠ bảng thống kê chính thức</a:t>
              </a:r>
            </a:p>
          </p:txBody>
        </p:sp>
      </p:grpSp>
      <p:sp>
        <p:nvSpPr>
          <p:cNvPr name="AutoShape 13" id="13"/>
          <p:cNvSpPr/>
          <p:nvPr/>
        </p:nvSpPr>
        <p:spPr>
          <a:xfrm rot="4020">
            <a:off x="991733" y="9665018"/>
            <a:ext cx="16341100" cy="0"/>
          </a:xfrm>
          <a:prstGeom prst="line">
            <a:avLst/>
          </a:prstGeom>
          <a:ln cap="rnd" w="9525">
            <a:solidFill>
              <a:srgbClr val="D8E4EF"/>
            </a:solidFill>
            <a:prstDash val="solid"/>
            <a:headEnd type="none" len="sm" w="sm"/>
            <a:tailEnd type="none" len="sm" w="sm"/>
          </a:ln>
        </p:spPr>
      </p:sp>
      <p:grpSp>
        <p:nvGrpSpPr>
          <p:cNvPr name="Group 14" id="14"/>
          <p:cNvGrpSpPr/>
          <p:nvPr/>
        </p:nvGrpSpPr>
        <p:grpSpPr>
          <a:xfrm rot="0">
            <a:off x="1028700" y="9779508"/>
            <a:ext cx="13716000" cy="246888"/>
            <a:chOff x="0" y="0"/>
            <a:chExt cx="18288000" cy="329184"/>
          </a:xfrm>
        </p:grpSpPr>
        <p:sp>
          <p:nvSpPr>
            <p:cNvPr name="Freeform 15" id="15"/>
            <p:cNvSpPr/>
            <p:nvPr/>
          </p:nvSpPr>
          <p:spPr>
            <a:xfrm flipH="false" flipV="false" rot="0">
              <a:off x="0" y="0"/>
              <a:ext cx="18288000" cy="329184"/>
            </a:xfrm>
            <a:custGeom>
              <a:avLst/>
              <a:gdLst/>
              <a:ahLst/>
              <a:cxnLst/>
              <a:rect r="r" b="b" t="t" l="l"/>
              <a:pathLst>
                <a:path h="329184" w="18288000">
                  <a:moveTo>
                    <a:pt x="0" y="0"/>
                  </a:moveTo>
                  <a:lnTo>
                    <a:pt x="18288000" y="0"/>
                  </a:lnTo>
                  <a:lnTo>
                    <a:pt x="18288000" y="329184"/>
                  </a:lnTo>
                  <a:lnTo>
                    <a:pt x="0" y="329184"/>
                  </a:lnTo>
                  <a:close/>
                </a:path>
              </a:pathLst>
            </a:custGeom>
            <a:blipFill>
              <a:blip r:embed="rId3">
                <a:alphaModFix amt="0"/>
              </a:blip>
              <a:stretch>
                <a:fillRect l="0" t="-1032502" r="0" b="-1032502"/>
              </a:stretch>
            </a:blipFill>
          </p:spPr>
        </p:sp>
        <p:sp>
          <p:nvSpPr>
            <p:cNvPr name="TextBox 16" id="16"/>
            <p:cNvSpPr txBox="true"/>
            <p:nvPr/>
          </p:nvSpPr>
          <p:spPr>
            <a:xfrm>
              <a:off x="0" y="-9525"/>
              <a:ext cx="18288000" cy="338709"/>
            </a:xfrm>
            <a:prstGeom prst="rect">
              <a:avLst/>
            </a:prstGeom>
          </p:spPr>
          <p:txBody>
            <a:bodyPr anchor="ctr" rtlCol="false" tIns="0" lIns="0" bIns="0" rIns="0"/>
            <a:lstStyle/>
            <a:p>
              <a:pPr algn="l">
                <a:lnSpc>
                  <a:spcPts val="1475"/>
                </a:lnSpc>
              </a:pPr>
              <a:r>
                <a:rPr lang="en-US" sz="1230">
                  <a:solidFill>
                    <a:srgbClr val="526B85"/>
                  </a:solidFill>
                  <a:latin typeface="Arial"/>
                  <a:ea typeface="Arial"/>
                  <a:cs typeface="Arial"/>
                  <a:sym typeface="Arial"/>
                </a:rPr>
                <a:t>Liu và cộng sự (2025)  |  doi.org/10.1093/cybsec/tyaf020</a:t>
              </a:r>
            </a:p>
          </p:txBody>
        </p:sp>
      </p:grpSp>
      <p:grpSp>
        <p:nvGrpSpPr>
          <p:cNvPr name="Group 17" id="17"/>
          <p:cNvGrpSpPr/>
          <p:nvPr/>
        </p:nvGrpSpPr>
        <p:grpSpPr>
          <a:xfrm rot="0">
            <a:off x="16472916" y="9779508"/>
            <a:ext cx="685800" cy="274320"/>
            <a:chOff x="0" y="0"/>
            <a:chExt cx="914400" cy="365760"/>
          </a:xfrm>
        </p:grpSpPr>
        <p:sp>
          <p:nvSpPr>
            <p:cNvPr name="Freeform 18" id="18"/>
            <p:cNvSpPr/>
            <p:nvPr/>
          </p:nvSpPr>
          <p:spPr>
            <a:xfrm flipH="false" flipV="false" rot="0">
              <a:off x="0" y="0"/>
              <a:ext cx="914400" cy="365760"/>
            </a:xfrm>
            <a:custGeom>
              <a:avLst/>
              <a:gdLst/>
              <a:ahLst/>
              <a:cxnLst/>
              <a:rect r="r" b="b" t="t" l="l"/>
              <a:pathLst>
                <a:path h="365760" w="914400">
                  <a:moveTo>
                    <a:pt x="0" y="0"/>
                  </a:moveTo>
                  <a:lnTo>
                    <a:pt x="914400" y="0"/>
                  </a:lnTo>
                  <a:lnTo>
                    <a:pt x="914400" y="365760"/>
                  </a:lnTo>
                  <a:lnTo>
                    <a:pt x="0" y="365760"/>
                  </a:lnTo>
                  <a:close/>
                </a:path>
              </a:pathLst>
            </a:custGeom>
            <a:blipFill>
              <a:blip r:embed="rId3">
                <a:alphaModFix amt="0"/>
              </a:blip>
              <a:stretch>
                <a:fillRect l="-1321" t="0" r="-1321" b="0"/>
              </a:stretch>
            </a:blipFill>
          </p:spPr>
        </p:sp>
        <p:sp>
          <p:nvSpPr>
            <p:cNvPr name="TextBox 19" id="19"/>
            <p:cNvSpPr txBox="true"/>
            <p:nvPr/>
          </p:nvSpPr>
          <p:spPr>
            <a:xfrm>
              <a:off x="0" y="-19050"/>
              <a:ext cx="914400" cy="384810"/>
            </a:xfrm>
            <a:prstGeom prst="rect">
              <a:avLst/>
            </a:prstGeom>
          </p:spPr>
          <p:txBody>
            <a:bodyPr anchor="ctr" rtlCol="false" tIns="0" lIns="0" bIns="0" rIns="0"/>
            <a:lstStyle/>
            <a:p>
              <a:pPr algn="r">
                <a:lnSpc>
                  <a:spcPts val="1620"/>
                </a:lnSpc>
              </a:pPr>
              <a:r>
                <a:rPr lang="en-US" sz="1350">
                  <a:solidFill>
                    <a:srgbClr val="526B85"/>
                  </a:solidFill>
                  <a:latin typeface="Arial"/>
                  <a:ea typeface="Arial"/>
                  <a:cs typeface="Arial"/>
                  <a:sym typeface="Arial"/>
                </a:rPr>
                <a:t>14 / 14</a:t>
              </a:r>
            </a:p>
          </p:txBody>
        </p:sp>
      </p:grpSp>
      <p:grpSp>
        <p:nvGrpSpPr>
          <p:cNvPr name="Group 20" id="20"/>
          <p:cNvGrpSpPr/>
          <p:nvPr/>
        </p:nvGrpSpPr>
        <p:grpSpPr>
          <a:xfrm rot="0">
            <a:off x="1060323" y="2706243"/>
            <a:ext cx="16094202" cy="1637538"/>
            <a:chOff x="0" y="0"/>
            <a:chExt cx="21458936" cy="2183384"/>
          </a:xfrm>
        </p:grpSpPr>
        <p:sp>
          <p:nvSpPr>
            <p:cNvPr name="Freeform 21" id="21"/>
            <p:cNvSpPr/>
            <p:nvPr/>
          </p:nvSpPr>
          <p:spPr>
            <a:xfrm flipH="false" flipV="false" rot="0">
              <a:off x="0" y="0"/>
              <a:ext cx="21458935" cy="2183384"/>
            </a:xfrm>
            <a:custGeom>
              <a:avLst/>
              <a:gdLst/>
              <a:ahLst/>
              <a:cxnLst/>
              <a:rect r="r" b="b" t="t" l="l"/>
              <a:pathLst>
                <a:path h="2183384" w="21458935">
                  <a:moveTo>
                    <a:pt x="0" y="221996"/>
                  </a:moveTo>
                  <a:cubicBezTo>
                    <a:pt x="0" y="99441"/>
                    <a:pt x="99441" y="0"/>
                    <a:pt x="221996" y="0"/>
                  </a:cubicBezTo>
                  <a:lnTo>
                    <a:pt x="21236939" y="0"/>
                  </a:lnTo>
                  <a:cubicBezTo>
                    <a:pt x="21359622" y="0"/>
                    <a:pt x="21458935" y="99441"/>
                    <a:pt x="21458935" y="221996"/>
                  </a:cubicBezTo>
                  <a:lnTo>
                    <a:pt x="21458935" y="1961388"/>
                  </a:lnTo>
                  <a:cubicBezTo>
                    <a:pt x="21458935" y="2084070"/>
                    <a:pt x="21359495" y="2183384"/>
                    <a:pt x="21236939" y="2183384"/>
                  </a:cubicBezTo>
                  <a:lnTo>
                    <a:pt x="221996" y="2183384"/>
                  </a:lnTo>
                  <a:cubicBezTo>
                    <a:pt x="99441" y="2183384"/>
                    <a:pt x="0" y="2083943"/>
                    <a:pt x="0" y="1961388"/>
                  </a:cubicBezTo>
                  <a:close/>
                </a:path>
              </a:pathLst>
            </a:custGeom>
            <a:solidFill>
              <a:srgbClr val="143351"/>
            </a:solidFill>
            <a:ln w="19050" cap="sq">
              <a:solidFill>
                <a:srgbClr val="D8E4EF"/>
              </a:solidFill>
              <a:prstDash val="solid"/>
              <a:miter/>
            </a:ln>
          </p:spPr>
        </p:sp>
      </p:grpSp>
      <p:grpSp>
        <p:nvGrpSpPr>
          <p:cNvPr name="Group 22" id="22"/>
          <p:cNvGrpSpPr/>
          <p:nvPr/>
        </p:nvGrpSpPr>
        <p:grpSpPr>
          <a:xfrm rot="0">
            <a:off x="1412748" y="2921508"/>
            <a:ext cx="14813280" cy="342900"/>
            <a:chOff x="0" y="0"/>
            <a:chExt cx="19751040" cy="457200"/>
          </a:xfrm>
        </p:grpSpPr>
        <p:sp>
          <p:nvSpPr>
            <p:cNvPr name="Freeform 23" id="23"/>
            <p:cNvSpPr/>
            <p:nvPr/>
          </p:nvSpPr>
          <p:spPr>
            <a:xfrm flipH="false" flipV="false" rot="0">
              <a:off x="0" y="0"/>
              <a:ext cx="19751039" cy="457200"/>
            </a:xfrm>
            <a:custGeom>
              <a:avLst/>
              <a:gdLst/>
              <a:ahLst/>
              <a:cxnLst/>
              <a:rect r="r" b="b" t="t" l="l"/>
              <a:pathLst>
                <a:path h="457200" w="19751039">
                  <a:moveTo>
                    <a:pt x="0" y="0"/>
                  </a:moveTo>
                  <a:lnTo>
                    <a:pt x="19751039" y="0"/>
                  </a:lnTo>
                  <a:lnTo>
                    <a:pt x="19751039" y="457200"/>
                  </a:lnTo>
                  <a:lnTo>
                    <a:pt x="0" y="457200"/>
                  </a:lnTo>
                  <a:close/>
                </a:path>
              </a:pathLst>
            </a:custGeom>
            <a:blipFill>
              <a:blip r:embed="rId3">
                <a:alphaModFix amt="0"/>
              </a:blip>
              <a:stretch>
                <a:fillRect l="0" t="-791753" r="0" b="-791753"/>
              </a:stretch>
            </a:blipFill>
          </p:spPr>
        </p:sp>
        <p:sp>
          <p:nvSpPr>
            <p:cNvPr name="TextBox 24" id="24"/>
            <p:cNvSpPr txBox="true"/>
            <p:nvPr/>
          </p:nvSpPr>
          <p:spPr>
            <a:xfrm>
              <a:off x="0" y="-19050"/>
              <a:ext cx="19751040" cy="476250"/>
            </a:xfrm>
            <a:prstGeom prst="rect">
              <a:avLst/>
            </a:prstGeom>
          </p:spPr>
          <p:txBody>
            <a:bodyPr anchor="ctr" rtlCol="false" tIns="0" lIns="0" bIns="0" rIns="0"/>
            <a:lstStyle/>
            <a:p>
              <a:pPr algn="l">
                <a:lnSpc>
                  <a:spcPts val="2340"/>
                </a:lnSpc>
              </a:pPr>
              <a:r>
                <a:rPr lang="en-US" sz="1950" b="true">
                  <a:solidFill>
                    <a:srgbClr val="B7E3E2"/>
                  </a:solidFill>
                  <a:latin typeface="Arial Bold"/>
                  <a:ea typeface="Arial Bold"/>
                  <a:cs typeface="Arial Bold"/>
                  <a:sym typeface="Arial Bold"/>
                </a:rPr>
                <a:t>Lệnh đang chạy được • PowerShell / Ubuntu WSL2</a:t>
              </a:r>
            </a:p>
          </p:txBody>
        </p:sp>
      </p:grpSp>
      <p:grpSp>
        <p:nvGrpSpPr>
          <p:cNvPr name="Group 25" id="25"/>
          <p:cNvGrpSpPr/>
          <p:nvPr/>
        </p:nvGrpSpPr>
        <p:grpSpPr>
          <a:xfrm rot="0">
            <a:off x="1399032" y="3401568"/>
            <a:ext cx="14991588" cy="672084"/>
            <a:chOff x="0" y="0"/>
            <a:chExt cx="19988784" cy="896112"/>
          </a:xfrm>
        </p:grpSpPr>
        <p:sp>
          <p:nvSpPr>
            <p:cNvPr name="Freeform 26" id="26"/>
            <p:cNvSpPr/>
            <p:nvPr/>
          </p:nvSpPr>
          <p:spPr>
            <a:xfrm flipH="false" flipV="false" rot="0">
              <a:off x="0" y="0"/>
              <a:ext cx="19988785" cy="896112"/>
            </a:xfrm>
            <a:custGeom>
              <a:avLst/>
              <a:gdLst/>
              <a:ahLst/>
              <a:cxnLst/>
              <a:rect r="r" b="b" t="t" l="l"/>
              <a:pathLst>
                <a:path h="896112" w="19988785">
                  <a:moveTo>
                    <a:pt x="0" y="0"/>
                  </a:moveTo>
                  <a:lnTo>
                    <a:pt x="19988785" y="0"/>
                  </a:lnTo>
                  <a:lnTo>
                    <a:pt x="19988785" y="896112"/>
                  </a:lnTo>
                  <a:lnTo>
                    <a:pt x="0" y="896112"/>
                  </a:lnTo>
                  <a:close/>
                </a:path>
              </a:pathLst>
            </a:custGeom>
            <a:blipFill>
              <a:blip r:embed="rId3">
                <a:alphaModFix amt="0"/>
              </a:blip>
              <a:stretch>
                <a:fillRect l="0" t="-384635" r="0" b="-384635"/>
              </a:stretch>
            </a:blipFill>
          </p:spPr>
        </p:sp>
        <p:sp>
          <p:nvSpPr>
            <p:cNvPr name="TextBox 27" id="27"/>
            <p:cNvSpPr txBox="true"/>
            <p:nvPr/>
          </p:nvSpPr>
          <p:spPr>
            <a:xfrm>
              <a:off x="0" y="-19050"/>
              <a:ext cx="19988784" cy="915162"/>
            </a:xfrm>
            <a:prstGeom prst="rect">
              <a:avLst/>
            </a:prstGeom>
          </p:spPr>
          <p:txBody>
            <a:bodyPr anchor="ctr" rtlCol="false" tIns="0" lIns="0" bIns="0" rIns="0"/>
            <a:lstStyle/>
            <a:p>
              <a:pPr algn="l">
                <a:lnSpc>
                  <a:spcPts val="2340"/>
                </a:lnSpc>
              </a:pPr>
              <a:r>
                <a:rPr lang="en-US" sz="1950" b="true">
                  <a:solidFill>
                    <a:srgbClr val="FFFFFF"/>
                  </a:solidFill>
                  <a:latin typeface="Arial Bold"/>
                  <a:ea typeface="Arial Bold"/>
                  <a:cs typeface="Arial Bold"/>
                  <a:sym typeface="Arial Bold"/>
                </a:rPr>
                <a:t>wsl bash -c "cd /mnt/d/A.monhoc/BC_AT_BMHTTT/DT015_Bo_chuan_bi/DT015_Bo_chuan_bi &amp;&amp; python3 demo/check_published_table.py"</a:t>
              </a:r>
            </a:p>
          </p:txBody>
        </p:sp>
      </p:grpSp>
      <p:grpSp>
        <p:nvGrpSpPr>
          <p:cNvPr name="Group 28" id="28"/>
          <p:cNvGrpSpPr/>
          <p:nvPr/>
        </p:nvGrpSpPr>
        <p:grpSpPr>
          <a:xfrm rot="0">
            <a:off x="1074039" y="4763643"/>
            <a:ext cx="5189982" cy="2364486"/>
            <a:chOff x="0" y="0"/>
            <a:chExt cx="6919976" cy="3152648"/>
          </a:xfrm>
        </p:grpSpPr>
        <p:sp>
          <p:nvSpPr>
            <p:cNvPr name="Freeform 29" id="29"/>
            <p:cNvSpPr/>
            <p:nvPr/>
          </p:nvSpPr>
          <p:spPr>
            <a:xfrm flipH="false" flipV="false" rot="0">
              <a:off x="0" y="0"/>
              <a:ext cx="6919976" cy="3152648"/>
            </a:xfrm>
            <a:custGeom>
              <a:avLst/>
              <a:gdLst/>
              <a:ahLst/>
              <a:cxnLst/>
              <a:rect r="r" b="b" t="t" l="l"/>
              <a:pathLst>
                <a:path h="3152648" w="6919976">
                  <a:moveTo>
                    <a:pt x="0" y="221234"/>
                  </a:moveTo>
                  <a:cubicBezTo>
                    <a:pt x="0" y="99060"/>
                    <a:pt x="99060" y="0"/>
                    <a:pt x="221234" y="0"/>
                  </a:cubicBezTo>
                  <a:lnTo>
                    <a:pt x="6698742" y="0"/>
                  </a:lnTo>
                  <a:cubicBezTo>
                    <a:pt x="6820916" y="0"/>
                    <a:pt x="6919976" y="99060"/>
                    <a:pt x="6919976" y="221234"/>
                  </a:cubicBezTo>
                  <a:lnTo>
                    <a:pt x="6919976" y="2931414"/>
                  </a:lnTo>
                  <a:cubicBezTo>
                    <a:pt x="6919976" y="3053588"/>
                    <a:pt x="6820916" y="3152648"/>
                    <a:pt x="6698742" y="3152648"/>
                  </a:cubicBezTo>
                  <a:lnTo>
                    <a:pt x="221234" y="3152648"/>
                  </a:lnTo>
                  <a:cubicBezTo>
                    <a:pt x="99060" y="3152648"/>
                    <a:pt x="0" y="3053588"/>
                    <a:pt x="0" y="2931414"/>
                  </a:cubicBezTo>
                  <a:close/>
                </a:path>
              </a:pathLst>
            </a:custGeom>
            <a:solidFill>
              <a:srgbClr val="FFFFFF"/>
            </a:solidFill>
            <a:ln w="19050" cap="sq">
              <a:solidFill>
                <a:srgbClr val="D8E4EF"/>
              </a:solidFill>
              <a:prstDash val="solid"/>
              <a:miter/>
            </a:ln>
          </p:spPr>
        </p:sp>
      </p:grpSp>
      <p:grpSp>
        <p:nvGrpSpPr>
          <p:cNvPr name="Group 30" id="30"/>
          <p:cNvGrpSpPr/>
          <p:nvPr/>
        </p:nvGrpSpPr>
        <p:grpSpPr>
          <a:xfrm rot="0">
            <a:off x="1357884" y="5102352"/>
            <a:ext cx="4553712" cy="411480"/>
            <a:chOff x="0" y="0"/>
            <a:chExt cx="6071616" cy="548640"/>
          </a:xfrm>
        </p:grpSpPr>
        <p:sp>
          <p:nvSpPr>
            <p:cNvPr name="Freeform 31" id="31"/>
            <p:cNvSpPr/>
            <p:nvPr/>
          </p:nvSpPr>
          <p:spPr>
            <a:xfrm flipH="false" flipV="false" rot="0">
              <a:off x="0" y="0"/>
              <a:ext cx="6071616" cy="548640"/>
            </a:xfrm>
            <a:custGeom>
              <a:avLst/>
              <a:gdLst/>
              <a:ahLst/>
              <a:cxnLst/>
              <a:rect r="r" b="b" t="t" l="l"/>
              <a:pathLst>
                <a:path h="548640" w="6071616">
                  <a:moveTo>
                    <a:pt x="0" y="0"/>
                  </a:moveTo>
                  <a:lnTo>
                    <a:pt x="6071616" y="0"/>
                  </a:lnTo>
                  <a:lnTo>
                    <a:pt x="6071616" y="548640"/>
                  </a:lnTo>
                  <a:lnTo>
                    <a:pt x="0" y="548640"/>
                  </a:lnTo>
                  <a:close/>
                </a:path>
              </a:pathLst>
            </a:custGeom>
            <a:blipFill>
              <a:blip r:embed="rId3">
                <a:alphaModFix amt="0"/>
              </a:blip>
              <a:stretch>
                <a:fillRect l="0" t="-165634" r="0" b="-165634"/>
              </a:stretch>
            </a:blipFill>
          </p:spPr>
        </p:sp>
        <p:sp>
          <p:nvSpPr>
            <p:cNvPr name="TextBox 32" id="32"/>
            <p:cNvSpPr txBox="true"/>
            <p:nvPr/>
          </p:nvSpPr>
          <p:spPr>
            <a:xfrm>
              <a:off x="0" y="-9525"/>
              <a:ext cx="6071616" cy="558165"/>
            </a:xfrm>
            <a:prstGeom prst="rect">
              <a:avLst/>
            </a:prstGeom>
          </p:spPr>
          <p:txBody>
            <a:bodyPr anchor="ctr" rtlCol="false" tIns="0" lIns="0" bIns="0" rIns="0"/>
            <a:lstStyle/>
            <a:p>
              <a:pPr algn="l">
                <a:lnSpc>
                  <a:spcPts val="2520"/>
                </a:lnSpc>
              </a:pPr>
              <a:r>
                <a:rPr lang="en-US" sz="2100" b="true">
                  <a:solidFill>
                    <a:srgbClr val="0D8489"/>
                  </a:solidFill>
                  <a:latin typeface="Arial Bold"/>
                  <a:ea typeface="Arial Bold"/>
                  <a:cs typeface="Arial Bold"/>
                  <a:sym typeface="Arial Bold"/>
                </a:rPr>
                <a:t>1 • ĐẦU VÀO</a:t>
              </a:r>
            </a:p>
          </p:txBody>
        </p:sp>
      </p:grpSp>
      <p:grpSp>
        <p:nvGrpSpPr>
          <p:cNvPr name="Group 33" id="33"/>
          <p:cNvGrpSpPr/>
          <p:nvPr/>
        </p:nvGrpSpPr>
        <p:grpSpPr>
          <a:xfrm rot="0">
            <a:off x="1357884" y="5719572"/>
            <a:ext cx="4581144" cy="480060"/>
            <a:chOff x="0" y="0"/>
            <a:chExt cx="6108192" cy="640080"/>
          </a:xfrm>
        </p:grpSpPr>
        <p:sp>
          <p:nvSpPr>
            <p:cNvPr name="Freeform 34" id="34"/>
            <p:cNvSpPr/>
            <p:nvPr/>
          </p:nvSpPr>
          <p:spPr>
            <a:xfrm flipH="false" flipV="false" rot="0">
              <a:off x="0" y="0"/>
              <a:ext cx="6108192" cy="640080"/>
            </a:xfrm>
            <a:custGeom>
              <a:avLst/>
              <a:gdLst/>
              <a:ahLst/>
              <a:cxnLst/>
              <a:rect r="r" b="b" t="t" l="l"/>
              <a:pathLst>
                <a:path h="640080" w="6108192">
                  <a:moveTo>
                    <a:pt x="0" y="0"/>
                  </a:moveTo>
                  <a:lnTo>
                    <a:pt x="6108192" y="0"/>
                  </a:lnTo>
                  <a:lnTo>
                    <a:pt x="6108192" y="640080"/>
                  </a:lnTo>
                  <a:lnTo>
                    <a:pt x="0" y="640080"/>
                  </a:lnTo>
                  <a:close/>
                </a:path>
              </a:pathLst>
            </a:custGeom>
            <a:blipFill>
              <a:blip r:embed="rId3">
                <a:alphaModFix amt="0"/>
              </a:blip>
              <a:stretch>
                <a:fillRect l="0" t="-135942" r="0" b="-135942"/>
              </a:stretch>
            </a:blipFill>
          </p:spPr>
        </p:sp>
        <p:sp>
          <p:nvSpPr>
            <p:cNvPr name="TextBox 35" id="35"/>
            <p:cNvSpPr txBox="true"/>
            <p:nvPr/>
          </p:nvSpPr>
          <p:spPr>
            <a:xfrm>
              <a:off x="0" y="-19050"/>
              <a:ext cx="6108192" cy="659130"/>
            </a:xfrm>
            <a:prstGeom prst="rect">
              <a:avLst/>
            </a:prstGeom>
          </p:spPr>
          <p:txBody>
            <a:bodyPr anchor="ctr" rtlCol="false" tIns="0" lIns="0" bIns="0" rIns="0"/>
            <a:lstStyle/>
            <a:p>
              <a:pPr algn="l">
                <a:lnSpc>
                  <a:spcPts val="2340"/>
                </a:lnSpc>
              </a:pPr>
              <a:r>
                <a:rPr lang="en-US" sz="1950" b="true">
                  <a:solidFill>
                    <a:srgbClr val="143351"/>
                  </a:solidFill>
                  <a:latin typeface="Arial Bold"/>
                  <a:ea typeface="Arial Bold"/>
                  <a:cs typeface="Arial Bold"/>
                  <a:sym typeface="Arial Bold"/>
                </a:rPr>
                <a:t>Appendix_A_D_original.docx</a:t>
              </a:r>
            </a:p>
          </p:txBody>
        </p:sp>
      </p:grpSp>
      <p:grpSp>
        <p:nvGrpSpPr>
          <p:cNvPr name="Group 36" id="36"/>
          <p:cNvGrpSpPr/>
          <p:nvPr/>
        </p:nvGrpSpPr>
        <p:grpSpPr>
          <a:xfrm rot="0">
            <a:off x="1357884" y="6336792"/>
            <a:ext cx="4581144" cy="480060"/>
            <a:chOff x="0" y="0"/>
            <a:chExt cx="6108192" cy="640080"/>
          </a:xfrm>
        </p:grpSpPr>
        <p:sp>
          <p:nvSpPr>
            <p:cNvPr name="Freeform 37" id="37"/>
            <p:cNvSpPr/>
            <p:nvPr/>
          </p:nvSpPr>
          <p:spPr>
            <a:xfrm flipH="false" flipV="false" rot="0">
              <a:off x="0" y="0"/>
              <a:ext cx="6108192" cy="640080"/>
            </a:xfrm>
            <a:custGeom>
              <a:avLst/>
              <a:gdLst/>
              <a:ahLst/>
              <a:cxnLst/>
              <a:rect r="r" b="b" t="t" l="l"/>
              <a:pathLst>
                <a:path h="640080" w="6108192">
                  <a:moveTo>
                    <a:pt x="0" y="0"/>
                  </a:moveTo>
                  <a:lnTo>
                    <a:pt x="6108192" y="0"/>
                  </a:lnTo>
                  <a:lnTo>
                    <a:pt x="6108192" y="640080"/>
                  </a:lnTo>
                  <a:lnTo>
                    <a:pt x="0" y="640080"/>
                  </a:lnTo>
                  <a:close/>
                </a:path>
              </a:pathLst>
            </a:custGeom>
            <a:blipFill>
              <a:blip r:embed="rId3">
                <a:alphaModFix amt="0"/>
              </a:blip>
              <a:stretch>
                <a:fillRect l="0" t="-135942" r="0" b="-135942"/>
              </a:stretch>
            </a:blipFill>
          </p:spPr>
        </p:sp>
        <p:sp>
          <p:nvSpPr>
            <p:cNvPr name="TextBox 38" id="38"/>
            <p:cNvSpPr txBox="true"/>
            <p:nvPr/>
          </p:nvSpPr>
          <p:spPr>
            <a:xfrm>
              <a:off x="0" y="-19050"/>
              <a:ext cx="6108192" cy="659130"/>
            </a:xfrm>
            <a:prstGeom prst="rect">
              <a:avLst/>
            </a:prstGeom>
          </p:spPr>
          <p:txBody>
            <a:bodyPr anchor="ctr" rtlCol="false" tIns="0" lIns="0" bIns="0" rIns="0"/>
            <a:lstStyle/>
            <a:p>
              <a:pPr algn="l">
                <a:lnSpc>
                  <a:spcPts val="2160"/>
                </a:lnSpc>
              </a:pPr>
              <a:r>
                <a:rPr lang="en-US" sz="1800">
                  <a:solidFill>
                    <a:srgbClr val="526B85"/>
                  </a:solidFill>
                  <a:latin typeface="Arial"/>
                  <a:ea typeface="Arial"/>
                  <a:cs typeface="Arial"/>
                  <a:sym typeface="Arial"/>
                </a:rPr>
                <a:t>Table A1 của tác giả</a:t>
              </a:r>
            </a:p>
          </p:txBody>
        </p:sp>
      </p:grpSp>
      <p:grpSp>
        <p:nvGrpSpPr>
          <p:cNvPr name="Group 39" id="39"/>
          <p:cNvGrpSpPr/>
          <p:nvPr/>
        </p:nvGrpSpPr>
        <p:grpSpPr>
          <a:xfrm rot="0">
            <a:off x="6587871" y="4763643"/>
            <a:ext cx="5189982" cy="2364486"/>
            <a:chOff x="0" y="0"/>
            <a:chExt cx="6919976" cy="3152648"/>
          </a:xfrm>
        </p:grpSpPr>
        <p:sp>
          <p:nvSpPr>
            <p:cNvPr name="Freeform 40" id="40"/>
            <p:cNvSpPr/>
            <p:nvPr/>
          </p:nvSpPr>
          <p:spPr>
            <a:xfrm flipH="false" flipV="false" rot="0">
              <a:off x="0" y="0"/>
              <a:ext cx="6919976" cy="3152648"/>
            </a:xfrm>
            <a:custGeom>
              <a:avLst/>
              <a:gdLst/>
              <a:ahLst/>
              <a:cxnLst/>
              <a:rect r="r" b="b" t="t" l="l"/>
              <a:pathLst>
                <a:path h="3152648" w="6919976">
                  <a:moveTo>
                    <a:pt x="0" y="221234"/>
                  </a:moveTo>
                  <a:cubicBezTo>
                    <a:pt x="0" y="99060"/>
                    <a:pt x="99060" y="0"/>
                    <a:pt x="221234" y="0"/>
                  </a:cubicBezTo>
                  <a:lnTo>
                    <a:pt x="6698742" y="0"/>
                  </a:lnTo>
                  <a:cubicBezTo>
                    <a:pt x="6820916" y="0"/>
                    <a:pt x="6919976" y="99060"/>
                    <a:pt x="6919976" y="221234"/>
                  </a:cubicBezTo>
                  <a:lnTo>
                    <a:pt x="6919976" y="2931414"/>
                  </a:lnTo>
                  <a:cubicBezTo>
                    <a:pt x="6919976" y="3053588"/>
                    <a:pt x="6820916" y="3152648"/>
                    <a:pt x="6698742" y="3152648"/>
                  </a:cubicBezTo>
                  <a:lnTo>
                    <a:pt x="221234" y="3152648"/>
                  </a:lnTo>
                  <a:cubicBezTo>
                    <a:pt x="99060" y="3152648"/>
                    <a:pt x="0" y="3053588"/>
                    <a:pt x="0" y="2931414"/>
                  </a:cubicBezTo>
                  <a:close/>
                </a:path>
              </a:pathLst>
            </a:custGeom>
            <a:solidFill>
              <a:srgbClr val="FFFFFF"/>
            </a:solidFill>
            <a:ln w="19050" cap="sq">
              <a:solidFill>
                <a:srgbClr val="D8E4EF"/>
              </a:solidFill>
              <a:prstDash val="solid"/>
              <a:miter/>
            </a:ln>
          </p:spPr>
        </p:sp>
      </p:grpSp>
      <p:grpSp>
        <p:nvGrpSpPr>
          <p:cNvPr name="Group 41" id="41"/>
          <p:cNvGrpSpPr/>
          <p:nvPr/>
        </p:nvGrpSpPr>
        <p:grpSpPr>
          <a:xfrm rot="0">
            <a:off x="6871716" y="5102352"/>
            <a:ext cx="4553712" cy="411480"/>
            <a:chOff x="0" y="0"/>
            <a:chExt cx="6071616" cy="548640"/>
          </a:xfrm>
        </p:grpSpPr>
        <p:sp>
          <p:nvSpPr>
            <p:cNvPr name="Freeform 42" id="42"/>
            <p:cNvSpPr/>
            <p:nvPr/>
          </p:nvSpPr>
          <p:spPr>
            <a:xfrm flipH="false" flipV="false" rot="0">
              <a:off x="0" y="0"/>
              <a:ext cx="6071616" cy="548640"/>
            </a:xfrm>
            <a:custGeom>
              <a:avLst/>
              <a:gdLst/>
              <a:ahLst/>
              <a:cxnLst/>
              <a:rect r="r" b="b" t="t" l="l"/>
              <a:pathLst>
                <a:path h="548640" w="6071616">
                  <a:moveTo>
                    <a:pt x="0" y="0"/>
                  </a:moveTo>
                  <a:lnTo>
                    <a:pt x="6071616" y="0"/>
                  </a:lnTo>
                  <a:lnTo>
                    <a:pt x="6071616" y="548640"/>
                  </a:lnTo>
                  <a:lnTo>
                    <a:pt x="0" y="548640"/>
                  </a:lnTo>
                  <a:close/>
                </a:path>
              </a:pathLst>
            </a:custGeom>
            <a:blipFill>
              <a:blip r:embed="rId3">
                <a:alphaModFix amt="0"/>
              </a:blip>
              <a:stretch>
                <a:fillRect l="0" t="-165634" r="0" b="-165634"/>
              </a:stretch>
            </a:blipFill>
          </p:spPr>
        </p:sp>
        <p:sp>
          <p:nvSpPr>
            <p:cNvPr name="TextBox 43" id="43"/>
            <p:cNvSpPr txBox="true"/>
            <p:nvPr/>
          </p:nvSpPr>
          <p:spPr>
            <a:xfrm>
              <a:off x="0" y="-9525"/>
              <a:ext cx="6071616" cy="558165"/>
            </a:xfrm>
            <a:prstGeom prst="rect">
              <a:avLst/>
            </a:prstGeom>
          </p:spPr>
          <p:txBody>
            <a:bodyPr anchor="ctr" rtlCol="false" tIns="0" lIns="0" bIns="0" rIns="0"/>
            <a:lstStyle/>
            <a:p>
              <a:pPr algn="l">
                <a:lnSpc>
                  <a:spcPts val="2520"/>
                </a:lnSpc>
              </a:pPr>
              <a:r>
                <a:rPr lang="en-US" sz="2100" b="true">
                  <a:solidFill>
                    <a:srgbClr val="0D8489"/>
                  </a:solidFill>
                  <a:latin typeface="Arial Bold"/>
                  <a:ea typeface="Arial Bold"/>
                  <a:cs typeface="Arial Bold"/>
                  <a:sym typeface="Arial Bold"/>
                </a:rPr>
                <a:t>2 • PHÉP KIỂM TRA</a:t>
              </a:r>
            </a:p>
          </p:txBody>
        </p:sp>
      </p:grpSp>
      <p:grpSp>
        <p:nvGrpSpPr>
          <p:cNvPr name="Group 44" id="44"/>
          <p:cNvGrpSpPr/>
          <p:nvPr/>
        </p:nvGrpSpPr>
        <p:grpSpPr>
          <a:xfrm rot="0">
            <a:off x="6871716" y="5719572"/>
            <a:ext cx="4581144" cy="480060"/>
            <a:chOff x="0" y="0"/>
            <a:chExt cx="6108192" cy="640080"/>
          </a:xfrm>
        </p:grpSpPr>
        <p:sp>
          <p:nvSpPr>
            <p:cNvPr name="Freeform 45" id="45"/>
            <p:cNvSpPr/>
            <p:nvPr/>
          </p:nvSpPr>
          <p:spPr>
            <a:xfrm flipH="false" flipV="false" rot="0">
              <a:off x="0" y="0"/>
              <a:ext cx="6108192" cy="640080"/>
            </a:xfrm>
            <a:custGeom>
              <a:avLst/>
              <a:gdLst/>
              <a:ahLst/>
              <a:cxnLst/>
              <a:rect r="r" b="b" t="t" l="l"/>
              <a:pathLst>
                <a:path h="640080" w="6108192">
                  <a:moveTo>
                    <a:pt x="0" y="0"/>
                  </a:moveTo>
                  <a:lnTo>
                    <a:pt x="6108192" y="0"/>
                  </a:lnTo>
                  <a:lnTo>
                    <a:pt x="6108192" y="640080"/>
                  </a:lnTo>
                  <a:lnTo>
                    <a:pt x="0" y="640080"/>
                  </a:lnTo>
                  <a:close/>
                </a:path>
              </a:pathLst>
            </a:custGeom>
            <a:blipFill>
              <a:blip r:embed="rId3">
                <a:alphaModFix amt="0"/>
              </a:blip>
              <a:stretch>
                <a:fillRect l="0" t="-135942" r="0" b="-135942"/>
              </a:stretch>
            </a:blipFill>
          </p:spPr>
        </p:sp>
        <p:sp>
          <p:nvSpPr>
            <p:cNvPr name="TextBox 46" id="46"/>
            <p:cNvSpPr txBox="true"/>
            <p:nvPr/>
          </p:nvSpPr>
          <p:spPr>
            <a:xfrm>
              <a:off x="0" y="-19050"/>
              <a:ext cx="6108192" cy="659130"/>
            </a:xfrm>
            <a:prstGeom prst="rect">
              <a:avLst/>
            </a:prstGeom>
          </p:spPr>
          <p:txBody>
            <a:bodyPr anchor="ctr" rtlCol="false" tIns="0" lIns="0" bIns="0" rIns="0"/>
            <a:lstStyle/>
            <a:p>
              <a:pPr algn="l">
                <a:lnSpc>
                  <a:spcPts val="2340"/>
                </a:lnSpc>
              </a:pPr>
              <a:r>
                <a:rPr lang="en-US" sz="1950" b="true">
                  <a:solidFill>
                    <a:srgbClr val="143351"/>
                  </a:solidFill>
                  <a:latin typeface="Arial Bold"/>
                  <a:ea typeface="Arial Bold"/>
                  <a:cs typeface="Arial Bold"/>
                  <a:sym typeface="Arial Bold"/>
                </a:rPr>
                <a:t>36 quy trình / cơ cấu 6–11–19</a:t>
              </a:r>
            </a:p>
          </p:txBody>
        </p:sp>
      </p:grpSp>
      <p:grpSp>
        <p:nvGrpSpPr>
          <p:cNvPr name="Group 47" id="47"/>
          <p:cNvGrpSpPr/>
          <p:nvPr/>
        </p:nvGrpSpPr>
        <p:grpSpPr>
          <a:xfrm rot="0">
            <a:off x="6871716" y="6336792"/>
            <a:ext cx="4581144" cy="480060"/>
            <a:chOff x="0" y="0"/>
            <a:chExt cx="6108192" cy="640080"/>
          </a:xfrm>
        </p:grpSpPr>
        <p:sp>
          <p:nvSpPr>
            <p:cNvPr name="Freeform 48" id="48"/>
            <p:cNvSpPr/>
            <p:nvPr/>
          </p:nvSpPr>
          <p:spPr>
            <a:xfrm flipH="false" flipV="false" rot="0">
              <a:off x="0" y="0"/>
              <a:ext cx="6108192" cy="640080"/>
            </a:xfrm>
            <a:custGeom>
              <a:avLst/>
              <a:gdLst/>
              <a:ahLst/>
              <a:cxnLst/>
              <a:rect r="r" b="b" t="t" l="l"/>
              <a:pathLst>
                <a:path h="640080" w="6108192">
                  <a:moveTo>
                    <a:pt x="0" y="0"/>
                  </a:moveTo>
                  <a:lnTo>
                    <a:pt x="6108192" y="0"/>
                  </a:lnTo>
                  <a:lnTo>
                    <a:pt x="6108192" y="640080"/>
                  </a:lnTo>
                  <a:lnTo>
                    <a:pt x="0" y="640080"/>
                  </a:lnTo>
                  <a:close/>
                </a:path>
              </a:pathLst>
            </a:custGeom>
            <a:blipFill>
              <a:blip r:embed="rId3">
                <a:alphaModFix amt="0"/>
              </a:blip>
              <a:stretch>
                <a:fillRect l="0" t="-135942" r="0" b="-135942"/>
              </a:stretch>
            </a:blipFill>
          </p:spPr>
        </p:sp>
        <p:sp>
          <p:nvSpPr>
            <p:cNvPr name="TextBox 49" id="49"/>
            <p:cNvSpPr txBox="true"/>
            <p:nvPr/>
          </p:nvSpPr>
          <p:spPr>
            <a:xfrm>
              <a:off x="0" y="-19050"/>
              <a:ext cx="6108192" cy="659130"/>
            </a:xfrm>
            <a:prstGeom prst="rect">
              <a:avLst/>
            </a:prstGeom>
          </p:spPr>
          <p:txBody>
            <a:bodyPr anchor="ctr" rtlCol="false" tIns="0" lIns="0" bIns="0" rIns="0"/>
            <a:lstStyle/>
            <a:p>
              <a:pPr algn="l">
                <a:lnSpc>
                  <a:spcPts val="2160"/>
                </a:lnSpc>
              </a:pPr>
              <a:r>
                <a:rPr lang="en-US" sz="1800">
                  <a:solidFill>
                    <a:srgbClr val="526B85"/>
                  </a:solidFill>
                  <a:latin typeface="Arial"/>
                  <a:ea typeface="Arial"/>
                  <a:cs typeface="Arial"/>
                  <a:sym typeface="Arial"/>
                </a:rPr>
                <a:t>36/36 đạt Median và IQR</a:t>
              </a:r>
            </a:p>
          </p:txBody>
        </p:sp>
      </p:grpSp>
      <p:grpSp>
        <p:nvGrpSpPr>
          <p:cNvPr name="Group 50" id="50"/>
          <p:cNvGrpSpPr/>
          <p:nvPr/>
        </p:nvGrpSpPr>
        <p:grpSpPr>
          <a:xfrm rot="0">
            <a:off x="12101703" y="4763643"/>
            <a:ext cx="5189982" cy="2364486"/>
            <a:chOff x="0" y="0"/>
            <a:chExt cx="6919976" cy="3152648"/>
          </a:xfrm>
        </p:grpSpPr>
        <p:sp>
          <p:nvSpPr>
            <p:cNvPr name="Freeform 51" id="51"/>
            <p:cNvSpPr/>
            <p:nvPr/>
          </p:nvSpPr>
          <p:spPr>
            <a:xfrm flipH="false" flipV="false" rot="0">
              <a:off x="0" y="0"/>
              <a:ext cx="6919976" cy="3152648"/>
            </a:xfrm>
            <a:custGeom>
              <a:avLst/>
              <a:gdLst/>
              <a:ahLst/>
              <a:cxnLst/>
              <a:rect r="r" b="b" t="t" l="l"/>
              <a:pathLst>
                <a:path h="3152648" w="6919976">
                  <a:moveTo>
                    <a:pt x="0" y="221234"/>
                  </a:moveTo>
                  <a:cubicBezTo>
                    <a:pt x="0" y="99060"/>
                    <a:pt x="99060" y="0"/>
                    <a:pt x="221234" y="0"/>
                  </a:cubicBezTo>
                  <a:lnTo>
                    <a:pt x="6698742" y="0"/>
                  </a:lnTo>
                  <a:cubicBezTo>
                    <a:pt x="6820916" y="0"/>
                    <a:pt x="6919976" y="99060"/>
                    <a:pt x="6919976" y="221234"/>
                  </a:cubicBezTo>
                  <a:lnTo>
                    <a:pt x="6919976" y="2931414"/>
                  </a:lnTo>
                  <a:cubicBezTo>
                    <a:pt x="6919976" y="3053588"/>
                    <a:pt x="6820916" y="3152648"/>
                    <a:pt x="6698742" y="3152648"/>
                  </a:cubicBezTo>
                  <a:lnTo>
                    <a:pt x="221234" y="3152648"/>
                  </a:lnTo>
                  <a:cubicBezTo>
                    <a:pt x="99060" y="3152648"/>
                    <a:pt x="0" y="3053588"/>
                    <a:pt x="0" y="2931414"/>
                  </a:cubicBezTo>
                  <a:close/>
                </a:path>
              </a:pathLst>
            </a:custGeom>
            <a:solidFill>
              <a:srgbClr val="FFFFFF"/>
            </a:solidFill>
            <a:ln w="19050" cap="sq">
              <a:solidFill>
                <a:srgbClr val="D8E4EF"/>
              </a:solidFill>
              <a:prstDash val="solid"/>
              <a:miter/>
            </a:ln>
          </p:spPr>
        </p:sp>
      </p:grpSp>
      <p:grpSp>
        <p:nvGrpSpPr>
          <p:cNvPr name="Group 52" id="52"/>
          <p:cNvGrpSpPr/>
          <p:nvPr/>
        </p:nvGrpSpPr>
        <p:grpSpPr>
          <a:xfrm rot="0">
            <a:off x="12385548" y="5102352"/>
            <a:ext cx="4553712" cy="411480"/>
            <a:chOff x="0" y="0"/>
            <a:chExt cx="6071616" cy="548640"/>
          </a:xfrm>
        </p:grpSpPr>
        <p:sp>
          <p:nvSpPr>
            <p:cNvPr name="Freeform 53" id="53"/>
            <p:cNvSpPr/>
            <p:nvPr/>
          </p:nvSpPr>
          <p:spPr>
            <a:xfrm flipH="false" flipV="false" rot="0">
              <a:off x="0" y="0"/>
              <a:ext cx="6071616" cy="548640"/>
            </a:xfrm>
            <a:custGeom>
              <a:avLst/>
              <a:gdLst/>
              <a:ahLst/>
              <a:cxnLst/>
              <a:rect r="r" b="b" t="t" l="l"/>
              <a:pathLst>
                <a:path h="548640" w="6071616">
                  <a:moveTo>
                    <a:pt x="0" y="0"/>
                  </a:moveTo>
                  <a:lnTo>
                    <a:pt x="6071616" y="0"/>
                  </a:lnTo>
                  <a:lnTo>
                    <a:pt x="6071616" y="548640"/>
                  </a:lnTo>
                  <a:lnTo>
                    <a:pt x="0" y="548640"/>
                  </a:lnTo>
                  <a:close/>
                </a:path>
              </a:pathLst>
            </a:custGeom>
            <a:blipFill>
              <a:blip r:embed="rId3">
                <a:alphaModFix amt="0"/>
              </a:blip>
              <a:stretch>
                <a:fillRect l="0" t="-165634" r="0" b="-165634"/>
              </a:stretch>
            </a:blipFill>
          </p:spPr>
        </p:sp>
        <p:sp>
          <p:nvSpPr>
            <p:cNvPr name="TextBox 54" id="54"/>
            <p:cNvSpPr txBox="true"/>
            <p:nvPr/>
          </p:nvSpPr>
          <p:spPr>
            <a:xfrm>
              <a:off x="0" y="-9525"/>
              <a:ext cx="6071616" cy="558165"/>
            </a:xfrm>
            <a:prstGeom prst="rect">
              <a:avLst/>
            </a:prstGeom>
          </p:spPr>
          <p:txBody>
            <a:bodyPr anchor="ctr" rtlCol="false" tIns="0" lIns="0" bIns="0" rIns="0"/>
            <a:lstStyle/>
            <a:p>
              <a:pPr algn="l">
                <a:lnSpc>
                  <a:spcPts val="2520"/>
                </a:lnSpc>
              </a:pPr>
              <a:r>
                <a:rPr lang="en-US" sz="2100" b="true">
                  <a:solidFill>
                    <a:srgbClr val="0D8489"/>
                  </a:solidFill>
                  <a:latin typeface="Arial Bold"/>
                  <a:ea typeface="Arial Bold"/>
                  <a:cs typeface="Arial Bold"/>
                  <a:sym typeface="Arial Bold"/>
                </a:rPr>
                <a:t>3 • ĐỐI CHIẾU</a:t>
              </a:r>
            </a:p>
          </p:txBody>
        </p:sp>
      </p:grpSp>
      <p:grpSp>
        <p:nvGrpSpPr>
          <p:cNvPr name="Group 55" id="55"/>
          <p:cNvGrpSpPr/>
          <p:nvPr/>
        </p:nvGrpSpPr>
        <p:grpSpPr>
          <a:xfrm rot="0">
            <a:off x="12385548" y="5719572"/>
            <a:ext cx="4581144" cy="480060"/>
            <a:chOff x="0" y="0"/>
            <a:chExt cx="6108192" cy="640080"/>
          </a:xfrm>
        </p:grpSpPr>
        <p:sp>
          <p:nvSpPr>
            <p:cNvPr name="Freeform 56" id="56"/>
            <p:cNvSpPr/>
            <p:nvPr/>
          </p:nvSpPr>
          <p:spPr>
            <a:xfrm flipH="false" flipV="false" rot="0">
              <a:off x="0" y="0"/>
              <a:ext cx="6108192" cy="640080"/>
            </a:xfrm>
            <a:custGeom>
              <a:avLst/>
              <a:gdLst/>
              <a:ahLst/>
              <a:cxnLst/>
              <a:rect r="r" b="b" t="t" l="l"/>
              <a:pathLst>
                <a:path h="640080" w="6108192">
                  <a:moveTo>
                    <a:pt x="0" y="0"/>
                  </a:moveTo>
                  <a:lnTo>
                    <a:pt x="6108192" y="0"/>
                  </a:lnTo>
                  <a:lnTo>
                    <a:pt x="6108192" y="640080"/>
                  </a:lnTo>
                  <a:lnTo>
                    <a:pt x="0" y="640080"/>
                  </a:lnTo>
                  <a:close/>
                </a:path>
              </a:pathLst>
            </a:custGeom>
            <a:blipFill>
              <a:blip r:embed="rId3">
                <a:alphaModFix amt="0"/>
              </a:blip>
              <a:stretch>
                <a:fillRect l="0" t="-135942" r="0" b="-135942"/>
              </a:stretch>
            </a:blipFill>
          </p:spPr>
        </p:sp>
        <p:sp>
          <p:nvSpPr>
            <p:cNvPr name="TextBox 57" id="57"/>
            <p:cNvSpPr txBox="true"/>
            <p:nvPr/>
          </p:nvSpPr>
          <p:spPr>
            <a:xfrm>
              <a:off x="0" y="-19050"/>
              <a:ext cx="6108192" cy="659130"/>
            </a:xfrm>
            <a:prstGeom prst="rect">
              <a:avLst/>
            </a:prstGeom>
          </p:spPr>
          <p:txBody>
            <a:bodyPr anchor="ctr" rtlCol="false" tIns="0" lIns="0" bIns="0" rIns="0"/>
            <a:lstStyle/>
            <a:p>
              <a:pPr algn="l">
                <a:lnSpc>
                  <a:spcPts val="2340"/>
                </a:lnSpc>
              </a:pPr>
              <a:r>
                <a:rPr lang="en-US" sz="1950" b="true">
                  <a:solidFill>
                    <a:srgbClr val="143351"/>
                  </a:solidFill>
                  <a:latin typeface="Arial Bold"/>
                  <a:ea typeface="Arial Bold"/>
                  <a:cs typeface="Arial Bold"/>
                  <a:sym typeface="Arial Bold"/>
                </a:rPr>
                <a:t>published_round3.csv</a:t>
              </a:r>
            </a:p>
          </p:txBody>
        </p:sp>
      </p:grpSp>
      <p:grpSp>
        <p:nvGrpSpPr>
          <p:cNvPr name="Group 58" id="58"/>
          <p:cNvGrpSpPr/>
          <p:nvPr/>
        </p:nvGrpSpPr>
        <p:grpSpPr>
          <a:xfrm rot="0">
            <a:off x="12385548" y="6336792"/>
            <a:ext cx="4581144" cy="480060"/>
            <a:chOff x="0" y="0"/>
            <a:chExt cx="6108192" cy="640080"/>
          </a:xfrm>
        </p:grpSpPr>
        <p:sp>
          <p:nvSpPr>
            <p:cNvPr name="Freeform 59" id="59"/>
            <p:cNvSpPr/>
            <p:nvPr/>
          </p:nvSpPr>
          <p:spPr>
            <a:xfrm flipH="false" flipV="false" rot="0">
              <a:off x="0" y="0"/>
              <a:ext cx="6108192" cy="640080"/>
            </a:xfrm>
            <a:custGeom>
              <a:avLst/>
              <a:gdLst/>
              <a:ahLst/>
              <a:cxnLst/>
              <a:rect r="r" b="b" t="t" l="l"/>
              <a:pathLst>
                <a:path h="640080" w="6108192">
                  <a:moveTo>
                    <a:pt x="0" y="0"/>
                  </a:moveTo>
                  <a:lnTo>
                    <a:pt x="6108192" y="0"/>
                  </a:lnTo>
                  <a:lnTo>
                    <a:pt x="6108192" y="640080"/>
                  </a:lnTo>
                  <a:lnTo>
                    <a:pt x="0" y="640080"/>
                  </a:lnTo>
                  <a:close/>
                </a:path>
              </a:pathLst>
            </a:custGeom>
            <a:blipFill>
              <a:blip r:embed="rId3">
                <a:alphaModFix amt="0"/>
              </a:blip>
              <a:stretch>
                <a:fillRect l="0" t="-135942" r="0" b="-135942"/>
              </a:stretch>
            </a:blipFill>
          </p:spPr>
        </p:sp>
        <p:sp>
          <p:nvSpPr>
            <p:cNvPr name="TextBox 60" id="60"/>
            <p:cNvSpPr txBox="true"/>
            <p:nvPr/>
          </p:nvSpPr>
          <p:spPr>
            <a:xfrm>
              <a:off x="0" y="-19050"/>
              <a:ext cx="6108192" cy="659130"/>
            </a:xfrm>
            <a:prstGeom prst="rect">
              <a:avLst/>
            </a:prstGeom>
          </p:spPr>
          <p:txBody>
            <a:bodyPr anchor="ctr" rtlCol="false" tIns="0" lIns="0" bIns="0" rIns="0"/>
            <a:lstStyle/>
            <a:p>
              <a:pPr algn="l">
                <a:lnSpc>
                  <a:spcPts val="2160"/>
                </a:lnSpc>
              </a:pPr>
              <a:r>
                <a:rPr lang="en-US" sz="1800">
                  <a:solidFill>
                    <a:srgbClr val="526B85"/>
                  </a:solidFill>
                  <a:latin typeface="Arial"/>
                  <a:ea typeface="Arial"/>
                  <a:cs typeface="Arial"/>
                  <a:sym typeface="Arial"/>
                </a:rPr>
                <a:t>So SP.5 với Table A1</a:t>
              </a:r>
            </a:p>
          </p:txBody>
        </p:sp>
      </p:grpSp>
      <p:grpSp>
        <p:nvGrpSpPr>
          <p:cNvPr name="Group 61" id="61"/>
          <p:cNvGrpSpPr/>
          <p:nvPr/>
        </p:nvGrpSpPr>
        <p:grpSpPr>
          <a:xfrm rot="0">
            <a:off x="1074039" y="7493127"/>
            <a:ext cx="16094202" cy="1568958"/>
            <a:chOff x="0" y="0"/>
            <a:chExt cx="21458936" cy="2091944"/>
          </a:xfrm>
        </p:grpSpPr>
        <p:sp>
          <p:nvSpPr>
            <p:cNvPr name="Freeform 62" id="62"/>
            <p:cNvSpPr/>
            <p:nvPr/>
          </p:nvSpPr>
          <p:spPr>
            <a:xfrm flipH="false" flipV="false" rot="0">
              <a:off x="0" y="0"/>
              <a:ext cx="21458935" cy="2091944"/>
            </a:xfrm>
            <a:custGeom>
              <a:avLst/>
              <a:gdLst/>
              <a:ahLst/>
              <a:cxnLst/>
              <a:rect r="r" b="b" t="t" l="l"/>
              <a:pathLst>
                <a:path h="2091944" w="21458935">
                  <a:moveTo>
                    <a:pt x="0" y="222123"/>
                  </a:moveTo>
                  <a:cubicBezTo>
                    <a:pt x="0" y="99441"/>
                    <a:pt x="99441" y="0"/>
                    <a:pt x="222123" y="0"/>
                  </a:cubicBezTo>
                  <a:lnTo>
                    <a:pt x="21236812" y="0"/>
                  </a:lnTo>
                  <a:cubicBezTo>
                    <a:pt x="21359495" y="0"/>
                    <a:pt x="21458935" y="99441"/>
                    <a:pt x="21458935" y="222123"/>
                  </a:cubicBezTo>
                  <a:lnTo>
                    <a:pt x="21458935" y="1869821"/>
                  </a:lnTo>
                  <a:cubicBezTo>
                    <a:pt x="21458935" y="1992503"/>
                    <a:pt x="21359495" y="2091944"/>
                    <a:pt x="21236812" y="2091944"/>
                  </a:cubicBezTo>
                  <a:lnTo>
                    <a:pt x="222123" y="2091944"/>
                  </a:lnTo>
                  <a:cubicBezTo>
                    <a:pt x="99441" y="2091944"/>
                    <a:pt x="0" y="1992503"/>
                    <a:pt x="0" y="1869821"/>
                  </a:cubicBezTo>
                  <a:close/>
                </a:path>
              </a:pathLst>
            </a:custGeom>
            <a:solidFill>
              <a:srgbClr val="E6F4F2"/>
            </a:solidFill>
            <a:ln w="19050" cap="sq">
              <a:solidFill>
                <a:srgbClr val="D8E4EF"/>
              </a:solidFill>
              <a:prstDash val="solid"/>
              <a:miter/>
            </a:ln>
          </p:spPr>
        </p:sp>
      </p:grpSp>
      <p:grpSp>
        <p:nvGrpSpPr>
          <p:cNvPr name="Group 63" id="63"/>
          <p:cNvGrpSpPr/>
          <p:nvPr/>
        </p:nvGrpSpPr>
        <p:grpSpPr>
          <a:xfrm rot="0">
            <a:off x="1426464" y="7790688"/>
            <a:ext cx="4622292" cy="370332"/>
            <a:chOff x="0" y="0"/>
            <a:chExt cx="6163056" cy="493776"/>
          </a:xfrm>
        </p:grpSpPr>
        <p:sp>
          <p:nvSpPr>
            <p:cNvPr name="Freeform 64" id="64"/>
            <p:cNvSpPr/>
            <p:nvPr/>
          </p:nvSpPr>
          <p:spPr>
            <a:xfrm flipH="false" flipV="false" rot="0">
              <a:off x="0" y="0"/>
              <a:ext cx="6163056" cy="493776"/>
            </a:xfrm>
            <a:custGeom>
              <a:avLst/>
              <a:gdLst/>
              <a:ahLst/>
              <a:cxnLst/>
              <a:rect r="r" b="b" t="t" l="l"/>
              <a:pathLst>
                <a:path h="493776" w="6163056">
                  <a:moveTo>
                    <a:pt x="0" y="0"/>
                  </a:moveTo>
                  <a:lnTo>
                    <a:pt x="6163056" y="0"/>
                  </a:lnTo>
                  <a:lnTo>
                    <a:pt x="6163056" y="493776"/>
                  </a:lnTo>
                  <a:lnTo>
                    <a:pt x="0" y="493776"/>
                  </a:lnTo>
                  <a:close/>
                </a:path>
              </a:pathLst>
            </a:custGeom>
            <a:blipFill>
              <a:blip r:embed="rId3">
                <a:alphaModFix amt="0"/>
              </a:blip>
              <a:stretch>
                <a:fillRect l="0" t="-193202" r="0" b="-193202"/>
              </a:stretch>
            </a:blipFill>
          </p:spPr>
        </p:sp>
        <p:sp>
          <p:nvSpPr>
            <p:cNvPr name="TextBox 65" id="65"/>
            <p:cNvSpPr txBox="true"/>
            <p:nvPr/>
          </p:nvSpPr>
          <p:spPr>
            <a:xfrm>
              <a:off x="0" y="-19050"/>
              <a:ext cx="6163056" cy="512826"/>
            </a:xfrm>
            <a:prstGeom prst="rect">
              <a:avLst/>
            </a:prstGeom>
          </p:spPr>
          <p:txBody>
            <a:bodyPr anchor="ctr" rtlCol="false" tIns="0" lIns="0" bIns="0" rIns="0"/>
            <a:lstStyle/>
            <a:p>
              <a:pPr algn="l">
                <a:lnSpc>
                  <a:spcPts val="2700"/>
                </a:lnSpc>
              </a:pPr>
              <a:r>
                <a:rPr lang="en-US" sz="2250" b="true">
                  <a:solidFill>
                    <a:srgbClr val="0D8489"/>
                  </a:solidFill>
                  <a:latin typeface="Arial Bold"/>
                  <a:ea typeface="Arial Bold"/>
                  <a:cs typeface="Arial Bold"/>
                  <a:sym typeface="Arial Bold"/>
                </a:rPr>
                <a:t>PHÁT BIỂU TRUNG THỰC</a:t>
              </a:r>
            </a:p>
          </p:txBody>
        </p:sp>
      </p:grpSp>
      <p:grpSp>
        <p:nvGrpSpPr>
          <p:cNvPr name="Group 66" id="66"/>
          <p:cNvGrpSpPr/>
          <p:nvPr/>
        </p:nvGrpSpPr>
        <p:grpSpPr>
          <a:xfrm rot="0">
            <a:off x="5925312" y="7708392"/>
            <a:ext cx="10506456" cy="822960"/>
            <a:chOff x="0" y="0"/>
            <a:chExt cx="14008608" cy="1097280"/>
          </a:xfrm>
        </p:grpSpPr>
        <p:sp>
          <p:nvSpPr>
            <p:cNvPr name="Freeform 67" id="67"/>
            <p:cNvSpPr/>
            <p:nvPr/>
          </p:nvSpPr>
          <p:spPr>
            <a:xfrm flipH="false" flipV="false" rot="0">
              <a:off x="0" y="0"/>
              <a:ext cx="14008608" cy="1097280"/>
            </a:xfrm>
            <a:custGeom>
              <a:avLst/>
              <a:gdLst/>
              <a:ahLst/>
              <a:cxnLst/>
              <a:rect r="r" b="b" t="t" l="l"/>
              <a:pathLst>
                <a:path h="1097280" w="14008608">
                  <a:moveTo>
                    <a:pt x="0" y="0"/>
                  </a:moveTo>
                  <a:lnTo>
                    <a:pt x="14008608" y="0"/>
                  </a:lnTo>
                  <a:lnTo>
                    <a:pt x="14008608" y="1097280"/>
                  </a:lnTo>
                  <a:lnTo>
                    <a:pt x="0" y="1097280"/>
                  </a:lnTo>
                  <a:close/>
                </a:path>
              </a:pathLst>
            </a:custGeom>
            <a:blipFill>
              <a:blip r:embed="rId3">
                <a:alphaModFix amt="0"/>
              </a:blip>
              <a:stretch>
                <a:fillRect l="0" t="-198758" r="0" b="-198758"/>
              </a:stretch>
            </a:blipFill>
          </p:spPr>
        </p:sp>
        <p:sp>
          <p:nvSpPr>
            <p:cNvPr name="TextBox 68" id="68"/>
            <p:cNvSpPr txBox="true"/>
            <p:nvPr/>
          </p:nvSpPr>
          <p:spPr>
            <a:xfrm>
              <a:off x="0" y="-9525"/>
              <a:ext cx="14008608" cy="1106805"/>
            </a:xfrm>
            <a:prstGeom prst="rect">
              <a:avLst/>
            </a:prstGeom>
          </p:spPr>
          <p:txBody>
            <a:bodyPr anchor="ctr" rtlCol="false" tIns="0" lIns="0" bIns="0" rIns="0"/>
            <a:lstStyle/>
            <a:p>
              <a:pPr algn="l">
                <a:lnSpc>
                  <a:spcPts val="2520"/>
                </a:lnSpc>
              </a:pPr>
              <a:r>
                <a:rPr lang="en-US" sz="2100" b="true">
                  <a:solidFill>
                    <a:srgbClr val="143351"/>
                  </a:solidFill>
                  <a:latin typeface="Arial Bold"/>
                  <a:ea typeface="Arial Bold"/>
                  <a:cs typeface="Arial Bold"/>
                  <a:sym typeface="Arial Bold"/>
                </a:rPr>
                <a:t>Kiểm chứng bảng công bố, chưa tái tính dữ liệu khảo sát thô và chưa chạy CSMPA.</a:t>
              </a: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DAHYgnWjdps</dc:identifier>
  <dcterms:modified xsi:type="dcterms:W3CDTF">2011-08-01T06:04:30Z</dcterms:modified>
  <cp:revision>1</cp:revision>
  <dc:title>DT015_PPT_NEW_FIX</dc:title>
</cp:coreProperties>
</file>